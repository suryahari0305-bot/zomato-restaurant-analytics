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1"/>
  </p:sldMasterIdLst>
  <p:sldIdLst>
    <p:sldId id="256" r:id="rId2"/>
    <p:sldId id="257" r:id="rId3"/>
    <p:sldId id="271" r:id="rId4"/>
    <p:sldId id="258" r:id="rId5"/>
    <p:sldId id="259" r:id="rId6"/>
    <p:sldId id="260" r:id="rId7"/>
    <p:sldId id="261" r:id="rId8"/>
    <p:sldId id="262" r:id="rId9"/>
    <p:sldId id="263" r:id="rId10"/>
    <p:sldId id="268" r:id="rId11"/>
    <p:sldId id="269" r:id="rId12"/>
    <p:sldId id="264" r:id="rId13"/>
    <p:sldId id="265" r:id="rId14"/>
    <p:sldId id="270" r:id="rId15"/>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725"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10233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13335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87135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060128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1/9/2026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1309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4000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10164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27104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66203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928288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31885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6254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13163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390313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943715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445867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23690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D8BD707-D9CF-40AE-B4C6-C98DA3205C09}" type="datetimeFigureOut">
              <a:rPr lang="en-US" smtClean="0"/>
              <a:t>1/9/2026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988783869"/>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7DB194-A503-ED7E-3523-D3AD21FD8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19" name="Rectangle 18">
            <a:extLst>
              <a:ext uri="{FF2B5EF4-FFF2-40B4-BE49-F238E27FC236}">
                <a16:creationId xmlns:a16="http://schemas.microsoft.com/office/drawing/2014/main" id="{6E359B37-8EC0-A5D5-05B9-CABBF52C3514}"/>
              </a:ext>
            </a:extLst>
          </p:cNvPr>
          <p:cNvSpPr/>
          <p:nvPr/>
        </p:nvSpPr>
        <p:spPr>
          <a:xfrm>
            <a:off x="685800" y="3124200"/>
            <a:ext cx="7086600" cy="13716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0" name="TextBox 19">
            <a:extLst>
              <a:ext uri="{FF2B5EF4-FFF2-40B4-BE49-F238E27FC236}">
                <a16:creationId xmlns:a16="http://schemas.microsoft.com/office/drawing/2014/main" id="{A2A71A02-5BF9-9382-C8C6-2A4418C0925F}"/>
              </a:ext>
            </a:extLst>
          </p:cNvPr>
          <p:cNvSpPr txBox="1"/>
          <p:nvPr/>
        </p:nvSpPr>
        <p:spPr>
          <a:xfrm>
            <a:off x="838200" y="3352800"/>
            <a:ext cx="6858000" cy="923330"/>
          </a:xfrm>
          <a:prstGeom prst="rect">
            <a:avLst/>
          </a:prstGeom>
          <a:noFill/>
        </p:spPr>
        <p:txBody>
          <a:bodyPr wrap="square" rtlCol="0">
            <a:spAutoFit/>
          </a:bodyPr>
          <a:lstStyle/>
          <a:p>
            <a:r>
              <a:rPr lang="en-US" sz="3600" b="1" i="1" dirty="0">
                <a:ln w="12700">
                  <a:solidFill>
                    <a:srgbClr val="FF0000"/>
                  </a:solidFill>
                  <a:prstDash val="solid"/>
                </a:ln>
                <a:solidFill>
                  <a:srgbClr val="FF0000"/>
                </a:solidFill>
                <a:latin typeface="Segoe UI Black" panose="020B0A02040204020203" pitchFamily="34" charset="0"/>
                <a:ea typeface="Segoe UI Black" panose="020B0A02040204020203" pitchFamily="34" charset="0"/>
              </a:rPr>
              <a:t>Restaurant Analytics Project</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6111" y="452718"/>
            <a:ext cx="9404723" cy="1349113"/>
          </a:xfrm>
          <a:prstGeom prst="rect">
            <a:avLst/>
          </a:prstGeom>
        </p:spPr>
        <p:txBody>
          <a:bodyPr vert="horz" wrap="square" lIns="0" tIns="513105" rIns="0" bIns="0" rtlCol="0">
            <a:spAutoFit/>
          </a:bodyPr>
          <a:lstStyle/>
          <a:p>
            <a:pPr marL="450215">
              <a:lnSpc>
                <a:spcPct val="100000"/>
              </a:lnSpc>
              <a:spcBef>
                <a:spcPts val="100"/>
              </a:spcBef>
            </a:pPr>
            <a:r>
              <a:rPr lang="en-IN" sz="5400" b="1" spc="-10" dirty="0">
                <a:solidFill>
                  <a:srgbClr val="FF0000"/>
                </a:solidFill>
                <a:latin typeface="Segoe UI Black" panose="020B0A02040204020203" pitchFamily="34" charset="0"/>
                <a:ea typeface="Segoe UI Black" panose="020B0A02040204020203" pitchFamily="34" charset="0"/>
                <a:cs typeface="Calibri Light"/>
              </a:rPr>
              <a:t>Agenda:</a:t>
            </a:r>
            <a:endParaRPr sz="5400" b="1" dirty="0">
              <a:solidFill>
                <a:srgbClr val="FF0000"/>
              </a:solidFill>
              <a:latin typeface="Segoe UI Black" panose="020B0A02040204020203" pitchFamily="34" charset="0"/>
              <a:ea typeface="Segoe UI Black" panose="020B0A02040204020203" pitchFamily="34" charset="0"/>
              <a:cs typeface="Calibri Light"/>
            </a:endParaRPr>
          </a:p>
        </p:txBody>
      </p:sp>
      <p:sp>
        <p:nvSpPr>
          <p:cNvPr id="4" name="TextBox 3">
            <a:extLst>
              <a:ext uri="{FF2B5EF4-FFF2-40B4-BE49-F238E27FC236}">
                <a16:creationId xmlns:a16="http://schemas.microsoft.com/office/drawing/2014/main" id="{6FCBA47A-80F8-8976-703F-A178D030EA42}"/>
              </a:ext>
            </a:extLst>
          </p:cNvPr>
          <p:cNvSpPr txBox="1"/>
          <p:nvPr/>
        </p:nvSpPr>
        <p:spPr>
          <a:xfrm>
            <a:off x="914400" y="1752600"/>
            <a:ext cx="9906000" cy="3447098"/>
          </a:xfrm>
          <a:prstGeom prst="rect">
            <a:avLst/>
          </a:prstGeom>
          <a:noFill/>
        </p:spPr>
        <p:txBody>
          <a:bodyPr wrap="square" rtlCol="0">
            <a:spAutoFit/>
          </a:bodyPr>
          <a:lstStyle/>
          <a:p>
            <a:pPr marL="571500" indent="-571500">
              <a:buFont typeface="Arial" panose="020B0604020202020204" pitchFamily="34" charset="0"/>
              <a:buChar char="•"/>
            </a:pPr>
            <a:r>
              <a:rPr lang="en-IN" sz="4000" b="1" dirty="0">
                <a:solidFill>
                  <a:schemeClr val="bg1"/>
                </a:solidFill>
                <a:latin typeface="Segoe UI Black" panose="020B0A02040204020203" pitchFamily="34" charset="0"/>
                <a:ea typeface="Segoe UI Black" panose="020B0A02040204020203" pitchFamily="34" charset="0"/>
              </a:rPr>
              <a:t>Introduction</a:t>
            </a:r>
          </a:p>
          <a:p>
            <a:pPr marL="571500" indent="-571500">
              <a:buFont typeface="Arial" panose="020B0604020202020204" pitchFamily="34" charset="0"/>
              <a:buChar char="•"/>
            </a:pPr>
            <a:r>
              <a:rPr lang="en-IN" sz="4000" b="1" dirty="0">
                <a:solidFill>
                  <a:schemeClr val="bg1"/>
                </a:solidFill>
                <a:latin typeface="Segoe UI Black" panose="020B0A02040204020203" pitchFamily="34" charset="0"/>
                <a:ea typeface="Segoe UI Black" panose="020B0A02040204020203" pitchFamily="34" charset="0"/>
              </a:rPr>
              <a:t>Data Cleaning and Preprocessing</a:t>
            </a:r>
          </a:p>
          <a:p>
            <a:pPr marL="571500" indent="-571500">
              <a:buFont typeface="Arial" panose="020B0604020202020204" pitchFamily="34" charset="0"/>
              <a:buChar char="•"/>
            </a:pPr>
            <a:r>
              <a:rPr lang="en-IN" sz="4000" b="1" dirty="0">
                <a:solidFill>
                  <a:schemeClr val="bg1"/>
                </a:solidFill>
                <a:latin typeface="Segoe UI Black" panose="020B0A02040204020203" pitchFamily="34" charset="0"/>
                <a:ea typeface="Segoe UI Black" panose="020B0A02040204020203" pitchFamily="34" charset="0"/>
              </a:rPr>
              <a:t>Overview &amp; Analysis</a:t>
            </a:r>
          </a:p>
          <a:p>
            <a:pPr marL="571500" indent="-571500">
              <a:buFont typeface="Arial" panose="020B0604020202020204" pitchFamily="34" charset="0"/>
              <a:buChar char="•"/>
            </a:pPr>
            <a:r>
              <a:rPr lang="en-IN" sz="4000" b="1" dirty="0">
                <a:solidFill>
                  <a:schemeClr val="bg1"/>
                </a:solidFill>
                <a:latin typeface="Segoe UI Black" panose="020B0A02040204020203" pitchFamily="34" charset="0"/>
                <a:ea typeface="Segoe UI Black" panose="020B0A02040204020203" pitchFamily="34" charset="0"/>
              </a:rPr>
              <a:t>Dashboard</a:t>
            </a:r>
          </a:p>
          <a:p>
            <a:pPr marL="571500" indent="-571500">
              <a:buFont typeface="Arial" panose="020B0604020202020204" pitchFamily="34" charset="0"/>
              <a:buChar char="•"/>
            </a:pPr>
            <a:r>
              <a:rPr lang="en-IN" sz="4000" b="1" dirty="0">
                <a:solidFill>
                  <a:schemeClr val="bg1"/>
                </a:solidFill>
                <a:latin typeface="Segoe UI Black" panose="020B0A02040204020203" pitchFamily="34" charset="0"/>
                <a:ea typeface="Segoe UI Black" panose="020B0A02040204020203" pitchFamily="34" charset="0"/>
              </a:rPr>
              <a:t>Conclusion</a:t>
            </a:r>
          </a:p>
          <a:p>
            <a:endParaRPr lang="en-IN"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486D-441D-F8C4-8924-C353FA3486C4}"/>
              </a:ext>
            </a:extLst>
          </p:cNvPr>
          <p:cNvSpPr>
            <a:spLocks noGrp="1"/>
          </p:cNvSpPr>
          <p:nvPr>
            <p:ph type="title"/>
          </p:nvPr>
        </p:nvSpPr>
        <p:spPr/>
        <p:txBody>
          <a:bodyPr/>
          <a:lstStyle/>
          <a:p>
            <a:r>
              <a:rPr lang="en-IN" dirty="0">
                <a:solidFill>
                  <a:srgbClr val="FF0000"/>
                </a:solidFill>
                <a:latin typeface="Segoe UI Black" panose="020B0A02040204020203" pitchFamily="34" charset="0"/>
                <a:ea typeface="Segoe UI Black" panose="020B0A02040204020203" pitchFamily="34" charset="0"/>
              </a:rPr>
              <a:t>Introduction</a:t>
            </a:r>
          </a:p>
        </p:txBody>
      </p:sp>
      <p:sp>
        <p:nvSpPr>
          <p:cNvPr id="3" name="Content Placeholder 2">
            <a:extLst>
              <a:ext uri="{FF2B5EF4-FFF2-40B4-BE49-F238E27FC236}">
                <a16:creationId xmlns:a16="http://schemas.microsoft.com/office/drawing/2014/main" id="{F2E8E231-66D0-B7D3-370C-8005A640C988}"/>
              </a:ext>
            </a:extLst>
          </p:cNvPr>
          <p:cNvSpPr>
            <a:spLocks noGrp="1"/>
          </p:cNvSpPr>
          <p:nvPr>
            <p:ph idx="1"/>
          </p:nvPr>
        </p:nvSpPr>
        <p:spPr>
          <a:xfrm>
            <a:off x="533400" y="1524000"/>
            <a:ext cx="9516453" cy="4724399"/>
          </a:xfrm>
        </p:spPr>
        <p:txBody>
          <a:bodyPr/>
          <a:lstStyle/>
          <a:p>
            <a:pPr>
              <a:buClrTx/>
              <a:buFont typeface="Wingdings" panose="05000000000000000000" pitchFamily="2" charset="2"/>
              <a:buChar char="Ø"/>
            </a:pPr>
            <a:r>
              <a:rPr lang="en-US" b="1" dirty="0">
                <a:solidFill>
                  <a:schemeClr val="bg1"/>
                </a:solidFill>
                <a:latin typeface="Segoe UI Black" panose="020B0A02040204020203" pitchFamily="34" charset="0"/>
                <a:ea typeface="Segoe UI Black" panose="020B0A02040204020203" pitchFamily="34" charset="0"/>
              </a:rPr>
              <a:t>Zomato is a popular global platform that helps users discover restaurants based on cuisine, pricing, ratings, reviews, and customer votes. With millions of restaurants listed worldwide, it plays a key role in shaping dining decisions.</a:t>
            </a:r>
          </a:p>
          <a:p>
            <a:pPr>
              <a:buClrTx/>
              <a:buFont typeface="Wingdings" panose="05000000000000000000" pitchFamily="2" charset="2"/>
              <a:buChar char="Ø"/>
            </a:pPr>
            <a:r>
              <a:rPr lang="en-US" b="1" dirty="0">
                <a:solidFill>
                  <a:schemeClr val="bg1"/>
                </a:solidFill>
                <a:latin typeface="Segoe UI Black" panose="020B0A02040204020203" pitchFamily="34" charset="0"/>
                <a:ea typeface="Segoe UI Black" panose="020B0A02040204020203" pitchFamily="34" charset="0"/>
              </a:rPr>
              <a:t>This project analyzes the Zomato Restaurants Dataset to uncover meaningful insights into restaurant performance and customer preferences. The dataset includes important metrics such as aggregate ratings, number of votes, and average cost for two.</a:t>
            </a:r>
          </a:p>
          <a:p>
            <a:pPr>
              <a:buClrTx/>
              <a:buFont typeface="Wingdings" panose="05000000000000000000" pitchFamily="2" charset="2"/>
              <a:buChar char="Ø"/>
            </a:pPr>
            <a:r>
              <a:rPr lang="en-US" b="1" dirty="0">
                <a:solidFill>
                  <a:schemeClr val="bg1"/>
                </a:solidFill>
                <a:latin typeface="Segoe UI Black" panose="020B0A02040204020203" pitchFamily="34" charset="0"/>
                <a:ea typeface="Segoe UI Black" panose="020B0A02040204020203" pitchFamily="34" charset="0"/>
              </a:rPr>
              <a:t>By exploring these attributes, the study aims to identify trends in restaurant popularity, understand the relationship between cost and ratings, and highlight factors that influence user choices.</a:t>
            </a:r>
            <a:endParaRPr lang="en-IN" b="1" dirty="0">
              <a:solidFill>
                <a:schemeClr val="bg1"/>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150475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6111" y="452718"/>
            <a:ext cx="9404723" cy="1087733"/>
          </a:xfrm>
          <a:prstGeom prst="rect">
            <a:avLst/>
          </a:prstGeom>
        </p:spPr>
        <p:txBody>
          <a:bodyPr vert="horz" wrap="square" lIns="0" tIns="528573" rIns="0" bIns="0" rtlCol="0">
            <a:spAutoFit/>
          </a:bodyPr>
          <a:lstStyle/>
          <a:p>
            <a:pPr marL="450215">
              <a:lnSpc>
                <a:spcPct val="100000"/>
              </a:lnSpc>
              <a:spcBef>
                <a:spcPts val="100"/>
              </a:spcBef>
            </a:pPr>
            <a:r>
              <a:rPr sz="3600" b="1" spc="-145" dirty="0">
                <a:solidFill>
                  <a:srgbClr val="FF0000"/>
                </a:solidFill>
                <a:latin typeface="Segoe UI Black" panose="020B0A02040204020203" pitchFamily="34" charset="0"/>
                <a:ea typeface="Segoe UI Black" panose="020B0A02040204020203" pitchFamily="34" charset="0"/>
                <a:cs typeface="Calibri Light"/>
              </a:rPr>
              <a:t>DATA</a:t>
            </a:r>
            <a:r>
              <a:rPr sz="3600" b="1" spc="-60" dirty="0">
                <a:solidFill>
                  <a:srgbClr val="FF0000"/>
                </a:solidFill>
                <a:latin typeface="Segoe UI Black" panose="020B0A02040204020203" pitchFamily="34" charset="0"/>
                <a:ea typeface="Segoe UI Black" panose="020B0A02040204020203" pitchFamily="34" charset="0"/>
                <a:cs typeface="Calibri Light"/>
              </a:rPr>
              <a:t> </a:t>
            </a:r>
            <a:r>
              <a:rPr sz="3600" b="1" dirty="0">
                <a:solidFill>
                  <a:srgbClr val="FF0000"/>
                </a:solidFill>
                <a:latin typeface="Segoe UI Black" panose="020B0A02040204020203" pitchFamily="34" charset="0"/>
                <a:ea typeface="Segoe UI Black" panose="020B0A02040204020203" pitchFamily="34" charset="0"/>
                <a:cs typeface="Calibri Light"/>
              </a:rPr>
              <a:t>CLEANING</a:t>
            </a:r>
            <a:r>
              <a:rPr sz="3600" b="1" spc="-110" dirty="0">
                <a:solidFill>
                  <a:srgbClr val="FF0000"/>
                </a:solidFill>
                <a:latin typeface="Segoe UI Black" panose="020B0A02040204020203" pitchFamily="34" charset="0"/>
                <a:ea typeface="Segoe UI Black" panose="020B0A02040204020203" pitchFamily="34" charset="0"/>
                <a:cs typeface="Calibri Light"/>
              </a:rPr>
              <a:t> </a:t>
            </a:r>
            <a:r>
              <a:rPr sz="3600" b="1" dirty="0">
                <a:solidFill>
                  <a:srgbClr val="FF0000"/>
                </a:solidFill>
                <a:latin typeface="Segoe UI Black" panose="020B0A02040204020203" pitchFamily="34" charset="0"/>
                <a:ea typeface="Segoe UI Black" panose="020B0A02040204020203" pitchFamily="34" charset="0"/>
                <a:cs typeface="Calibri Light"/>
              </a:rPr>
              <a:t>&amp;</a:t>
            </a:r>
            <a:r>
              <a:rPr sz="3600" b="1" spc="-85" dirty="0">
                <a:solidFill>
                  <a:srgbClr val="FF0000"/>
                </a:solidFill>
                <a:latin typeface="Segoe UI Black" panose="020B0A02040204020203" pitchFamily="34" charset="0"/>
                <a:ea typeface="Segoe UI Black" panose="020B0A02040204020203" pitchFamily="34" charset="0"/>
                <a:cs typeface="Calibri Light"/>
              </a:rPr>
              <a:t> </a:t>
            </a:r>
            <a:r>
              <a:rPr sz="3600" b="1" spc="-10" dirty="0">
                <a:solidFill>
                  <a:srgbClr val="FF0000"/>
                </a:solidFill>
                <a:latin typeface="Segoe UI Black" panose="020B0A02040204020203" pitchFamily="34" charset="0"/>
                <a:ea typeface="Segoe UI Black" panose="020B0A02040204020203" pitchFamily="34" charset="0"/>
                <a:cs typeface="Calibri Light"/>
              </a:rPr>
              <a:t>PREPROCESSING</a:t>
            </a:r>
            <a:endParaRPr sz="3600" b="1" dirty="0">
              <a:solidFill>
                <a:srgbClr val="FF0000"/>
              </a:solidFill>
              <a:latin typeface="Segoe UI Black" panose="020B0A02040204020203" pitchFamily="34" charset="0"/>
              <a:ea typeface="Segoe UI Black" panose="020B0A02040204020203" pitchFamily="34" charset="0"/>
              <a:cs typeface="Calibri Light"/>
            </a:endParaRPr>
          </a:p>
        </p:txBody>
      </p:sp>
      <p:sp>
        <p:nvSpPr>
          <p:cNvPr id="3" name="object 3"/>
          <p:cNvSpPr txBox="1"/>
          <p:nvPr/>
        </p:nvSpPr>
        <p:spPr>
          <a:xfrm>
            <a:off x="763104" y="1631784"/>
            <a:ext cx="9619615" cy="148907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0000"/>
                </a:solidFill>
                <a:latin typeface="Segoe UI Black" panose="020B0A02040204020203" pitchFamily="34" charset="0"/>
                <a:ea typeface="Segoe UI Black" panose="020B0A02040204020203" pitchFamily="34" charset="0"/>
                <a:cs typeface="Calibri"/>
              </a:rPr>
              <a:t>Challenges:</a:t>
            </a:r>
            <a:endParaRPr sz="2400" b="1" dirty="0">
              <a:solidFill>
                <a:srgbClr val="FF0000"/>
              </a:solidFill>
              <a:latin typeface="Segoe UI Black" panose="020B0A02040204020203" pitchFamily="34" charset="0"/>
              <a:ea typeface="Segoe UI Black" panose="020B0A02040204020203" pitchFamily="34" charset="0"/>
              <a:cs typeface="Calibri"/>
            </a:endParaRPr>
          </a:p>
          <a:p>
            <a:pPr marL="355600" marR="5080" indent="-343535">
              <a:lnSpc>
                <a:spcPct val="100000"/>
              </a:lnSpc>
              <a:buFont typeface="Arial MT"/>
              <a:buChar char="•"/>
              <a:tabLst>
                <a:tab pos="355600" algn="l"/>
              </a:tabLst>
            </a:pPr>
            <a:r>
              <a:rPr sz="2400" b="1" dirty="0">
                <a:solidFill>
                  <a:schemeClr val="bg1"/>
                </a:solidFill>
                <a:latin typeface="Calibri"/>
                <a:cs typeface="Calibri"/>
              </a:rPr>
              <a:t>Data</a:t>
            </a:r>
            <a:r>
              <a:rPr sz="2400" b="1" spc="-70" dirty="0">
                <a:solidFill>
                  <a:schemeClr val="bg1"/>
                </a:solidFill>
                <a:latin typeface="Calibri"/>
                <a:cs typeface="Calibri"/>
              </a:rPr>
              <a:t> </a:t>
            </a:r>
            <a:r>
              <a:rPr sz="2400" b="1" spc="-10" dirty="0">
                <a:solidFill>
                  <a:schemeClr val="bg1"/>
                </a:solidFill>
                <a:latin typeface="Calibri"/>
                <a:cs typeface="Calibri"/>
              </a:rPr>
              <a:t>contained</a:t>
            </a:r>
            <a:r>
              <a:rPr sz="2400" b="1" spc="-70" dirty="0">
                <a:solidFill>
                  <a:schemeClr val="bg1"/>
                </a:solidFill>
                <a:latin typeface="Calibri"/>
                <a:cs typeface="Calibri"/>
              </a:rPr>
              <a:t> </a:t>
            </a:r>
            <a:r>
              <a:rPr sz="2400" b="1" dirty="0">
                <a:solidFill>
                  <a:schemeClr val="bg1"/>
                </a:solidFill>
                <a:latin typeface="Calibri"/>
                <a:cs typeface="Calibri"/>
              </a:rPr>
              <a:t>null</a:t>
            </a:r>
            <a:r>
              <a:rPr sz="2400" b="1" spc="-65" dirty="0">
                <a:solidFill>
                  <a:schemeClr val="bg1"/>
                </a:solidFill>
                <a:latin typeface="Calibri"/>
                <a:cs typeface="Calibri"/>
              </a:rPr>
              <a:t> </a:t>
            </a:r>
            <a:r>
              <a:rPr sz="2400" b="1" dirty="0">
                <a:solidFill>
                  <a:schemeClr val="bg1"/>
                </a:solidFill>
                <a:latin typeface="Calibri"/>
                <a:cs typeface="Calibri"/>
              </a:rPr>
              <a:t>values,</a:t>
            </a:r>
            <a:r>
              <a:rPr sz="2400" b="1" spc="-70" dirty="0">
                <a:solidFill>
                  <a:schemeClr val="bg1"/>
                </a:solidFill>
                <a:latin typeface="Calibri"/>
                <a:cs typeface="Calibri"/>
              </a:rPr>
              <a:t> </a:t>
            </a:r>
            <a:r>
              <a:rPr sz="2400" b="1" dirty="0">
                <a:solidFill>
                  <a:schemeClr val="bg1"/>
                </a:solidFill>
                <a:latin typeface="Calibri"/>
                <a:cs typeface="Calibri"/>
              </a:rPr>
              <a:t>special</a:t>
            </a:r>
            <a:r>
              <a:rPr sz="2400" b="1" spc="-70" dirty="0">
                <a:solidFill>
                  <a:schemeClr val="bg1"/>
                </a:solidFill>
                <a:latin typeface="Calibri"/>
                <a:cs typeface="Calibri"/>
              </a:rPr>
              <a:t> </a:t>
            </a:r>
            <a:r>
              <a:rPr sz="2400" b="1" spc="-10" dirty="0">
                <a:solidFill>
                  <a:schemeClr val="bg1"/>
                </a:solidFill>
                <a:latin typeface="Calibri"/>
                <a:cs typeface="Calibri"/>
              </a:rPr>
              <a:t>characters</a:t>
            </a:r>
            <a:r>
              <a:rPr sz="2400" b="1" spc="-70" dirty="0">
                <a:solidFill>
                  <a:schemeClr val="bg1"/>
                </a:solidFill>
                <a:latin typeface="Calibri"/>
                <a:cs typeface="Calibri"/>
              </a:rPr>
              <a:t> </a:t>
            </a:r>
            <a:r>
              <a:rPr sz="2400" b="1" dirty="0">
                <a:solidFill>
                  <a:schemeClr val="bg1"/>
                </a:solidFill>
                <a:latin typeface="Calibri"/>
                <a:cs typeface="Calibri"/>
              </a:rPr>
              <a:t>in</a:t>
            </a:r>
            <a:r>
              <a:rPr sz="2400" b="1" spc="-75" dirty="0">
                <a:solidFill>
                  <a:schemeClr val="bg1"/>
                </a:solidFill>
                <a:latin typeface="Calibri"/>
                <a:cs typeface="Calibri"/>
              </a:rPr>
              <a:t> </a:t>
            </a:r>
            <a:r>
              <a:rPr sz="2400" b="1" dirty="0">
                <a:solidFill>
                  <a:schemeClr val="bg1"/>
                </a:solidFill>
                <a:latin typeface="Calibri"/>
                <a:cs typeface="Calibri"/>
              </a:rPr>
              <a:t>the</a:t>
            </a:r>
            <a:r>
              <a:rPr sz="2400" b="1" spc="-60" dirty="0">
                <a:solidFill>
                  <a:schemeClr val="bg1"/>
                </a:solidFill>
                <a:latin typeface="Calibri"/>
                <a:cs typeface="Calibri"/>
              </a:rPr>
              <a:t> </a:t>
            </a:r>
            <a:r>
              <a:rPr sz="2400" b="1" dirty="0">
                <a:solidFill>
                  <a:schemeClr val="bg1"/>
                </a:solidFill>
                <a:latin typeface="Calibri"/>
                <a:cs typeface="Calibri"/>
              </a:rPr>
              <a:t>field,</a:t>
            </a:r>
            <a:r>
              <a:rPr sz="2400" b="1" spc="-70" dirty="0">
                <a:solidFill>
                  <a:schemeClr val="bg1"/>
                </a:solidFill>
                <a:latin typeface="Calibri"/>
                <a:cs typeface="Calibri"/>
              </a:rPr>
              <a:t> </a:t>
            </a:r>
            <a:r>
              <a:rPr sz="2400" b="1" dirty="0">
                <a:solidFill>
                  <a:schemeClr val="bg1"/>
                </a:solidFill>
                <a:latin typeface="Calibri"/>
                <a:cs typeface="Calibri"/>
              </a:rPr>
              <a:t>currency</a:t>
            </a:r>
            <a:r>
              <a:rPr sz="2400" b="1" spc="-70" dirty="0">
                <a:solidFill>
                  <a:schemeClr val="bg1"/>
                </a:solidFill>
                <a:latin typeface="Calibri"/>
                <a:cs typeface="Calibri"/>
              </a:rPr>
              <a:t> </a:t>
            </a:r>
            <a:r>
              <a:rPr sz="2400" b="1" dirty="0">
                <a:solidFill>
                  <a:schemeClr val="bg1"/>
                </a:solidFill>
                <a:latin typeface="Calibri"/>
                <a:cs typeface="Calibri"/>
              </a:rPr>
              <a:t>was</a:t>
            </a:r>
            <a:r>
              <a:rPr sz="2400" b="1" spc="-65" dirty="0">
                <a:solidFill>
                  <a:schemeClr val="bg1"/>
                </a:solidFill>
                <a:latin typeface="Calibri"/>
                <a:cs typeface="Calibri"/>
              </a:rPr>
              <a:t> </a:t>
            </a:r>
            <a:r>
              <a:rPr sz="2400" b="1" spc="-25" dirty="0">
                <a:solidFill>
                  <a:schemeClr val="bg1"/>
                </a:solidFill>
                <a:latin typeface="Calibri"/>
                <a:cs typeface="Calibri"/>
              </a:rPr>
              <a:t>not </a:t>
            </a:r>
            <a:r>
              <a:rPr sz="2400" b="1" dirty="0">
                <a:solidFill>
                  <a:schemeClr val="bg1"/>
                </a:solidFill>
                <a:latin typeface="Calibri"/>
                <a:cs typeface="Calibri"/>
              </a:rPr>
              <a:t>distributed</a:t>
            </a:r>
            <a:r>
              <a:rPr sz="2400" b="1" spc="-55" dirty="0">
                <a:solidFill>
                  <a:schemeClr val="bg1"/>
                </a:solidFill>
                <a:latin typeface="Calibri"/>
                <a:cs typeface="Calibri"/>
              </a:rPr>
              <a:t> </a:t>
            </a:r>
            <a:r>
              <a:rPr sz="2400" b="1" dirty="0">
                <a:solidFill>
                  <a:schemeClr val="bg1"/>
                </a:solidFill>
                <a:latin typeface="Calibri"/>
                <a:cs typeface="Calibri"/>
              </a:rPr>
              <a:t>as</a:t>
            </a:r>
            <a:r>
              <a:rPr sz="2400" b="1" spc="-55" dirty="0">
                <a:solidFill>
                  <a:schemeClr val="bg1"/>
                </a:solidFill>
                <a:latin typeface="Calibri"/>
                <a:cs typeface="Calibri"/>
              </a:rPr>
              <a:t> </a:t>
            </a:r>
            <a:r>
              <a:rPr sz="2400" b="1" dirty="0">
                <a:solidFill>
                  <a:schemeClr val="bg1"/>
                </a:solidFill>
                <a:latin typeface="Calibri"/>
                <a:cs typeface="Calibri"/>
              </a:rPr>
              <a:t>per</a:t>
            </a:r>
            <a:r>
              <a:rPr sz="2400" b="1" spc="-50" dirty="0">
                <a:solidFill>
                  <a:schemeClr val="bg1"/>
                </a:solidFill>
                <a:latin typeface="Calibri"/>
                <a:cs typeface="Calibri"/>
              </a:rPr>
              <a:t> </a:t>
            </a:r>
            <a:r>
              <a:rPr sz="2400" b="1" dirty="0">
                <a:solidFill>
                  <a:schemeClr val="bg1"/>
                </a:solidFill>
                <a:latin typeface="Calibri"/>
                <a:cs typeface="Calibri"/>
              </a:rPr>
              <a:t>the</a:t>
            </a:r>
            <a:r>
              <a:rPr sz="2400" b="1" spc="-50" dirty="0">
                <a:solidFill>
                  <a:schemeClr val="bg1"/>
                </a:solidFill>
                <a:latin typeface="Calibri"/>
                <a:cs typeface="Calibri"/>
              </a:rPr>
              <a:t> </a:t>
            </a:r>
            <a:r>
              <a:rPr sz="2400" b="1" spc="-10" dirty="0">
                <a:solidFill>
                  <a:schemeClr val="bg1"/>
                </a:solidFill>
                <a:latin typeface="Calibri"/>
                <a:cs typeface="Calibri"/>
              </a:rPr>
              <a:t>countries.</a:t>
            </a:r>
            <a:endParaRPr sz="2400" b="1" dirty="0">
              <a:solidFill>
                <a:schemeClr val="bg1"/>
              </a:solidFill>
              <a:latin typeface="Calibri"/>
              <a:cs typeface="Calibri"/>
            </a:endParaRPr>
          </a:p>
          <a:p>
            <a:pPr marL="12700">
              <a:lnSpc>
                <a:spcPct val="100000"/>
              </a:lnSpc>
            </a:pPr>
            <a:r>
              <a:rPr sz="2400" b="1" dirty="0">
                <a:solidFill>
                  <a:srgbClr val="FF0000"/>
                </a:solidFill>
                <a:latin typeface="Segoe UI Black" panose="020B0A02040204020203" pitchFamily="34" charset="0"/>
                <a:ea typeface="Segoe UI Black" panose="020B0A02040204020203" pitchFamily="34" charset="0"/>
                <a:cs typeface="Calibri"/>
              </a:rPr>
              <a:t>Steps</a:t>
            </a:r>
            <a:r>
              <a:rPr sz="2400" b="1" spc="-80" dirty="0">
                <a:solidFill>
                  <a:srgbClr val="FF0000"/>
                </a:solidFill>
                <a:latin typeface="Segoe UI Black" panose="020B0A02040204020203" pitchFamily="34" charset="0"/>
                <a:ea typeface="Segoe UI Black" panose="020B0A02040204020203" pitchFamily="34" charset="0"/>
                <a:cs typeface="Calibri"/>
              </a:rPr>
              <a:t> </a:t>
            </a:r>
            <a:r>
              <a:rPr sz="2400" b="1" spc="-10" dirty="0">
                <a:solidFill>
                  <a:srgbClr val="FF0000"/>
                </a:solidFill>
                <a:latin typeface="Segoe UI Black" panose="020B0A02040204020203" pitchFamily="34" charset="0"/>
                <a:ea typeface="Segoe UI Black" panose="020B0A02040204020203" pitchFamily="34" charset="0"/>
                <a:cs typeface="Calibri"/>
              </a:rPr>
              <a:t>Taken</a:t>
            </a:r>
            <a:r>
              <a:rPr lang="en-IN" sz="2400" b="1" spc="-10" dirty="0">
                <a:solidFill>
                  <a:srgbClr val="FF0000"/>
                </a:solidFill>
                <a:latin typeface="Segoe UI Black" panose="020B0A02040204020203" pitchFamily="34" charset="0"/>
                <a:ea typeface="Segoe UI Black" panose="020B0A02040204020203" pitchFamily="34" charset="0"/>
                <a:cs typeface="Calibri"/>
              </a:rPr>
              <a:t>:</a:t>
            </a:r>
            <a:endParaRPr sz="2400" b="1" dirty="0">
              <a:solidFill>
                <a:srgbClr val="FF0000"/>
              </a:solidFill>
              <a:latin typeface="Segoe UI Black" panose="020B0A02040204020203" pitchFamily="34" charset="0"/>
              <a:ea typeface="Segoe UI Black" panose="020B0A02040204020203" pitchFamily="34" charset="0"/>
              <a:cs typeface="Calibri"/>
            </a:endParaRPr>
          </a:p>
        </p:txBody>
      </p:sp>
      <p:sp>
        <p:nvSpPr>
          <p:cNvPr id="5" name="object 5"/>
          <p:cNvSpPr txBox="1"/>
          <p:nvPr/>
        </p:nvSpPr>
        <p:spPr>
          <a:xfrm>
            <a:off x="1106182" y="3094825"/>
            <a:ext cx="9714218" cy="1120820"/>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pitchFamily="34" charset="0"/>
              <a:buChar char="•"/>
            </a:pPr>
            <a:r>
              <a:rPr sz="2400" spc="-10" dirty="0">
                <a:solidFill>
                  <a:schemeClr val="bg1"/>
                </a:solidFill>
                <a:latin typeface="Calibri"/>
                <a:cs typeface="Calibri"/>
              </a:rPr>
              <a:t>Removed</a:t>
            </a:r>
            <a:r>
              <a:rPr sz="2400" spc="-65" dirty="0">
                <a:solidFill>
                  <a:schemeClr val="bg1"/>
                </a:solidFill>
                <a:latin typeface="Calibri"/>
                <a:cs typeface="Calibri"/>
              </a:rPr>
              <a:t> </a:t>
            </a:r>
            <a:r>
              <a:rPr sz="2400" dirty="0">
                <a:solidFill>
                  <a:schemeClr val="bg1"/>
                </a:solidFill>
                <a:latin typeface="Calibri"/>
                <a:cs typeface="Calibri"/>
              </a:rPr>
              <a:t>null</a:t>
            </a:r>
            <a:r>
              <a:rPr sz="2400" spc="-60" dirty="0">
                <a:solidFill>
                  <a:schemeClr val="bg1"/>
                </a:solidFill>
                <a:latin typeface="Calibri"/>
                <a:cs typeface="Calibri"/>
              </a:rPr>
              <a:t> </a:t>
            </a:r>
            <a:r>
              <a:rPr sz="2400" spc="-10" dirty="0">
                <a:solidFill>
                  <a:schemeClr val="bg1"/>
                </a:solidFill>
                <a:latin typeface="Calibri"/>
                <a:cs typeface="Calibri"/>
              </a:rPr>
              <a:t>values</a:t>
            </a:r>
            <a:endParaRPr sz="2400" dirty="0">
              <a:solidFill>
                <a:schemeClr val="bg1"/>
              </a:solidFill>
              <a:latin typeface="Calibri"/>
              <a:cs typeface="Calibri"/>
            </a:endParaRPr>
          </a:p>
          <a:p>
            <a:pPr marL="355600" marR="172720" indent="-342900">
              <a:lnSpc>
                <a:spcPct val="100000"/>
              </a:lnSpc>
              <a:buFont typeface="Arial" panose="020B0604020202020204" pitchFamily="34" charset="0"/>
              <a:buChar char="•"/>
            </a:pPr>
            <a:r>
              <a:rPr sz="2400" spc="-10" dirty="0">
                <a:solidFill>
                  <a:schemeClr val="bg1"/>
                </a:solidFill>
                <a:latin typeface="Calibri"/>
                <a:cs typeface="Calibri"/>
              </a:rPr>
              <a:t>Standardized</a:t>
            </a:r>
            <a:r>
              <a:rPr sz="2400" spc="-95" dirty="0">
                <a:solidFill>
                  <a:schemeClr val="bg1"/>
                </a:solidFill>
                <a:latin typeface="Calibri"/>
                <a:cs typeface="Calibri"/>
              </a:rPr>
              <a:t> </a:t>
            </a:r>
            <a:r>
              <a:rPr sz="2400" dirty="0">
                <a:solidFill>
                  <a:schemeClr val="bg1"/>
                </a:solidFill>
                <a:latin typeface="Calibri"/>
                <a:cs typeface="Calibri"/>
              </a:rPr>
              <a:t>currency</a:t>
            </a:r>
            <a:r>
              <a:rPr sz="2400" spc="-90" dirty="0">
                <a:solidFill>
                  <a:schemeClr val="bg1"/>
                </a:solidFill>
                <a:latin typeface="Calibri"/>
                <a:cs typeface="Calibri"/>
              </a:rPr>
              <a:t> </a:t>
            </a:r>
            <a:r>
              <a:rPr sz="2400" dirty="0">
                <a:solidFill>
                  <a:schemeClr val="bg1"/>
                </a:solidFill>
                <a:latin typeface="Calibri"/>
                <a:cs typeface="Calibri"/>
              </a:rPr>
              <a:t>&amp;</a:t>
            </a:r>
            <a:r>
              <a:rPr sz="2400" spc="-100" dirty="0">
                <a:solidFill>
                  <a:schemeClr val="bg1"/>
                </a:solidFill>
                <a:latin typeface="Calibri"/>
                <a:cs typeface="Calibri"/>
              </a:rPr>
              <a:t> </a:t>
            </a:r>
            <a:r>
              <a:rPr sz="2400" dirty="0">
                <a:solidFill>
                  <a:schemeClr val="bg1"/>
                </a:solidFill>
                <a:latin typeface="Calibri"/>
                <a:cs typeface="Calibri"/>
              </a:rPr>
              <a:t>location</a:t>
            </a:r>
            <a:r>
              <a:rPr sz="2400" spc="-90" dirty="0">
                <a:solidFill>
                  <a:schemeClr val="bg1"/>
                </a:solidFill>
                <a:latin typeface="Calibri"/>
                <a:cs typeface="Calibri"/>
              </a:rPr>
              <a:t> </a:t>
            </a:r>
            <a:r>
              <a:rPr sz="2400" spc="-20" dirty="0">
                <a:solidFill>
                  <a:schemeClr val="bg1"/>
                </a:solidFill>
                <a:latin typeface="Calibri"/>
                <a:cs typeface="Calibri"/>
              </a:rPr>
              <a:t>data </a:t>
            </a:r>
            <a:r>
              <a:rPr sz="2400" spc="-10" dirty="0">
                <a:solidFill>
                  <a:schemeClr val="bg1"/>
                </a:solidFill>
                <a:latin typeface="Calibri"/>
                <a:cs typeface="Calibri"/>
              </a:rPr>
              <a:t>Categorized</a:t>
            </a:r>
            <a:r>
              <a:rPr sz="2400" spc="-60" dirty="0">
                <a:solidFill>
                  <a:schemeClr val="bg1"/>
                </a:solidFill>
                <a:latin typeface="Calibri"/>
                <a:cs typeface="Calibri"/>
              </a:rPr>
              <a:t> </a:t>
            </a:r>
            <a:r>
              <a:rPr sz="2400" dirty="0">
                <a:solidFill>
                  <a:schemeClr val="bg1"/>
                </a:solidFill>
                <a:latin typeface="Calibri"/>
                <a:cs typeface="Calibri"/>
              </a:rPr>
              <a:t>price</a:t>
            </a:r>
            <a:r>
              <a:rPr sz="2400" spc="-55" dirty="0">
                <a:solidFill>
                  <a:schemeClr val="bg1"/>
                </a:solidFill>
                <a:latin typeface="Calibri"/>
                <a:cs typeface="Calibri"/>
              </a:rPr>
              <a:t> </a:t>
            </a:r>
            <a:r>
              <a:rPr sz="2400" spc="-10" dirty="0">
                <a:solidFill>
                  <a:schemeClr val="bg1"/>
                </a:solidFill>
                <a:latin typeface="Calibri"/>
                <a:cs typeface="Calibri"/>
              </a:rPr>
              <a:t>ranges</a:t>
            </a:r>
            <a:endParaRPr sz="2400" dirty="0">
              <a:solidFill>
                <a:schemeClr val="bg1"/>
              </a:solidFill>
              <a:latin typeface="Calibri"/>
              <a:cs typeface="Calibri"/>
            </a:endParaRPr>
          </a:p>
          <a:p>
            <a:pPr marL="355600" indent="-342900">
              <a:lnSpc>
                <a:spcPct val="100000"/>
              </a:lnSpc>
              <a:buFont typeface="Arial" panose="020B0604020202020204" pitchFamily="34" charset="0"/>
              <a:buChar char="•"/>
            </a:pPr>
            <a:r>
              <a:rPr sz="2400" spc="-10" dirty="0">
                <a:solidFill>
                  <a:schemeClr val="bg1"/>
                </a:solidFill>
                <a:latin typeface="Calibri"/>
                <a:cs typeface="Calibri"/>
              </a:rPr>
              <a:t>Removed</a:t>
            </a:r>
            <a:r>
              <a:rPr sz="2400" spc="-55" dirty="0">
                <a:solidFill>
                  <a:schemeClr val="bg1"/>
                </a:solidFill>
                <a:latin typeface="Calibri"/>
                <a:cs typeface="Calibri"/>
              </a:rPr>
              <a:t> </a:t>
            </a:r>
            <a:r>
              <a:rPr sz="2400" dirty="0">
                <a:solidFill>
                  <a:schemeClr val="bg1"/>
                </a:solidFill>
                <a:latin typeface="Calibri"/>
                <a:cs typeface="Calibri"/>
              </a:rPr>
              <a:t>Special</a:t>
            </a:r>
            <a:r>
              <a:rPr sz="2400" spc="-55" dirty="0">
                <a:solidFill>
                  <a:schemeClr val="bg1"/>
                </a:solidFill>
                <a:latin typeface="Calibri"/>
                <a:cs typeface="Calibri"/>
              </a:rPr>
              <a:t> </a:t>
            </a:r>
            <a:r>
              <a:rPr sz="2400" spc="-10" dirty="0">
                <a:solidFill>
                  <a:schemeClr val="bg1"/>
                </a:solidFill>
                <a:latin typeface="Calibri"/>
                <a:cs typeface="Calibri"/>
              </a:rPr>
              <a:t>Characters</a:t>
            </a:r>
            <a:r>
              <a:rPr sz="2400" spc="-55" dirty="0">
                <a:solidFill>
                  <a:schemeClr val="bg1"/>
                </a:solidFill>
                <a:latin typeface="Calibri"/>
                <a:cs typeface="Calibri"/>
              </a:rPr>
              <a:t> </a:t>
            </a:r>
            <a:r>
              <a:rPr sz="2400" dirty="0">
                <a:solidFill>
                  <a:schemeClr val="bg1"/>
                </a:solidFill>
                <a:latin typeface="Calibri"/>
                <a:cs typeface="Calibri"/>
              </a:rPr>
              <a:t>in</a:t>
            </a:r>
            <a:r>
              <a:rPr sz="2400" spc="-50" dirty="0">
                <a:solidFill>
                  <a:schemeClr val="bg1"/>
                </a:solidFill>
                <a:latin typeface="Calibri"/>
                <a:cs typeface="Calibri"/>
              </a:rPr>
              <a:t> </a:t>
            </a:r>
            <a:r>
              <a:rPr sz="2400" dirty="0">
                <a:solidFill>
                  <a:schemeClr val="bg1"/>
                </a:solidFill>
                <a:latin typeface="Calibri"/>
                <a:cs typeface="Calibri"/>
              </a:rPr>
              <a:t>the</a:t>
            </a:r>
            <a:r>
              <a:rPr sz="2400" spc="-50" dirty="0">
                <a:solidFill>
                  <a:schemeClr val="bg1"/>
                </a:solidFill>
                <a:latin typeface="Calibri"/>
                <a:cs typeface="Calibri"/>
              </a:rPr>
              <a:t> </a:t>
            </a:r>
            <a:r>
              <a:rPr sz="2400" spc="-10" dirty="0">
                <a:solidFill>
                  <a:schemeClr val="bg1"/>
                </a:solidFill>
                <a:latin typeface="Calibri"/>
                <a:cs typeface="Calibri"/>
              </a:rPr>
              <a:t>field</a:t>
            </a:r>
            <a:endParaRPr sz="2400" dirty="0">
              <a:solidFill>
                <a:schemeClr val="bg1"/>
              </a:solidFill>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52105" y="762000"/>
            <a:ext cx="4123909" cy="566822"/>
          </a:xfrm>
          <a:prstGeom prst="rect">
            <a:avLst/>
          </a:prstGeom>
        </p:spPr>
        <p:txBody>
          <a:bodyPr vert="horz" wrap="square" lIns="0" tIns="12700" rIns="0" bIns="0" rtlCol="0">
            <a:spAutoFit/>
          </a:bodyPr>
          <a:lstStyle/>
          <a:p>
            <a:pPr marL="12700">
              <a:lnSpc>
                <a:spcPct val="100000"/>
              </a:lnSpc>
              <a:spcBef>
                <a:spcPts val="100"/>
              </a:spcBef>
            </a:pPr>
            <a:r>
              <a:rPr sz="3600" b="1" spc="-10" dirty="0">
                <a:solidFill>
                  <a:srgbClr val="FF0000"/>
                </a:solidFill>
                <a:latin typeface="Segoe UI Black" panose="020B0A02040204020203" pitchFamily="34" charset="0"/>
                <a:ea typeface="Segoe UI Black" panose="020B0A02040204020203" pitchFamily="34" charset="0"/>
                <a:cs typeface="Calibri"/>
              </a:rPr>
              <a:t>OVERVIEW</a:t>
            </a:r>
            <a:r>
              <a:rPr lang="en-IN" sz="3600" b="1" spc="-10" dirty="0">
                <a:solidFill>
                  <a:srgbClr val="FF0000"/>
                </a:solidFill>
                <a:latin typeface="Segoe UI Black" panose="020B0A02040204020203" pitchFamily="34" charset="0"/>
                <a:ea typeface="Segoe UI Black" panose="020B0A02040204020203" pitchFamily="34" charset="0"/>
                <a:cs typeface="Calibri"/>
              </a:rPr>
              <a:t> :</a:t>
            </a:r>
            <a:endParaRPr sz="3600" b="1" dirty="0">
              <a:solidFill>
                <a:srgbClr val="FF0000"/>
              </a:solidFill>
              <a:latin typeface="Segoe UI Black" panose="020B0A02040204020203" pitchFamily="34" charset="0"/>
              <a:ea typeface="Segoe UI Black" panose="020B0A02040204020203" pitchFamily="34" charset="0"/>
              <a:cs typeface="Calibri"/>
            </a:endParaRPr>
          </a:p>
        </p:txBody>
      </p:sp>
      <p:sp>
        <p:nvSpPr>
          <p:cNvPr id="4" name="object 4"/>
          <p:cNvSpPr txBox="1"/>
          <p:nvPr/>
        </p:nvSpPr>
        <p:spPr>
          <a:xfrm>
            <a:off x="714879" y="1600200"/>
            <a:ext cx="11477121" cy="2641749"/>
          </a:xfrm>
          <a:prstGeom prst="rect">
            <a:avLst/>
          </a:prstGeom>
        </p:spPr>
        <p:txBody>
          <a:bodyPr vert="horz" wrap="square" lIns="0" tIns="12700" rIns="0" bIns="0" rtlCol="0">
            <a:spAutoFit/>
          </a:bodyPr>
          <a:lstStyle/>
          <a:p>
            <a:pPr marL="12700">
              <a:lnSpc>
                <a:spcPts val="3345"/>
              </a:lnSpc>
              <a:spcBef>
                <a:spcPts val="100"/>
              </a:spcBef>
            </a:pPr>
            <a:r>
              <a:rPr sz="2800" u="sng" dirty="0">
                <a:solidFill>
                  <a:schemeClr val="bg1"/>
                </a:solidFill>
                <a:latin typeface="Calibri"/>
                <a:cs typeface="Calibri"/>
              </a:rPr>
              <a:t>Dataset</a:t>
            </a:r>
            <a:r>
              <a:rPr sz="2800" u="sng" spc="-150" dirty="0">
                <a:solidFill>
                  <a:schemeClr val="bg1"/>
                </a:solidFill>
                <a:latin typeface="Calibri"/>
                <a:cs typeface="Calibri"/>
              </a:rPr>
              <a:t> </a:t>
            </a:r>
            <a:r>
              <a:rPr sz="2800" u="sng" spc="-10" dirty="0">
                <a:solidFill>
                  <a:schemeClr val="bg1"/>
                </a:solidFill>
                <a:latin typeface="Calibri"/>
                <a:cs typeface="Calibri"/>
              </a:rPr>
              <a:t>Overview</a:t>
            </a:r>
            <a:r>
              <a:rPr lang="en-IN" sz="2800" u="sng" spc="-10" dirty="0">
                <a:solidFill>
                  <a:schemeClr val="bg1"/>
                </a:solidFill>
                <a:latin typeface="Calibri"/>
                <a:cs typeface="Calibri"/>
              </a:rPr>
              <a:t>:-</a:t>
            </a:r>
            <a:endParaRPr sz="2800" u="sng" dirty="0">
              <a:solidFill>
                <a:schemeClr val="bg1"/>
              </a:solidFill>
              <a:latin typeface="Calibri"/>
              <a:cs typeface="Calibri"/>
            </a:endParaRPr>
          </a:p>
          <a:p>
            <a:pPr marL="469900" marR="1715135" indent="-457200">
              <a:lnSpc>
                <a:spcPts val="3370"/>
              </a:lnSpc>
              <a:spcBef>
                <a:spcPts val="85"/>
              </a:spcBef>
              <a:buFont typeface="Arial" panose="020B0604020202020204" pitchFamily="34" charset="0"/>
              <a:buChar char="•"/>
            </a:pPr>
            <a:r>
              <a:rPr sz="2800" b="1" spc="-10" dirty="0">
                <a:solidFill>
                  <a:schemeClr val="bg1"/>
                </a:solidFill>
                <a:latin typeface="Calibri"/>
                <a:cs typeface="Calibri"/>
              </a:rPr>
              <a:t>Number</a:t>
            </a:r>
            <a:r>
              <a:rPr sz="2800" b="1" spc="-100" dirty="0">
                <a:solidFill>
                  <a:schemeClr val="bg1"/>
                </a:solidFill>
                <a:latin typeface="Calibri"/>
                <a:cs typeface="Calibri"/>
              </a:rPr>
              <a:t> </a:t>
            </a:r>
            <a:r>
              <a:rPr sz="2800" b="1" dirty="0">
                <a:solidFill>
                  <a:schemeClr val="bg1"/>
                </a:solidFill>
                <a:latin typeface="Calibri"/>
                <a:cs typeface="Calibri"/>
              </a:rPr>
              <a:t>of</a:t>
            </a:r>
            <a:r>
              <a:rPr sz="2800" b="1" spc="-100" dirty="0">
                <a:solidFill>
                  <a:schemeClr val="bg1"/>
                </a:solidFill>
                <a:latin typeface="Calibri"/>
                <a:cs typeface="Calibri"/>
              </a:rPr>
              <a:t> </a:t>
            </a:r>
            <a:r>
              <a:rPr sz="2800" b="1" spc="-10" dirty="0">
                <a:solidFill>
                  <a:schemeClr val="bg1"/>
                </a:solidFill>
                <a:latin typeface="Calibri"/>
                <a:cs typeface="Calibri"/>
              </a:rPr>
              <a:t>restaurants:</a:t>
            </a:r>
            <a:r>
              <a:rPr sz="2800" b="1" spc="-95" dirty="0">
                <a:solidFill>
                  <a:schemeClr val="bg1"/>
                </a:solidFill>
                <a:latin typeface="Calibri"/>
                <a:cs typeface="Calibri"/>
              </a:rPr>
              <a:t> </a:t>
            </a:r>
            <a:r>
              <a:rPr sz="2800" b="1" spc="-20" dirty="0">
                <a:solidFill>
                  <a:schemeClr val="bg1"/>
                </a:solidFill>
                <a:latin typeface="Calibri"/>
                <a:cs typeface="Calibri"/>
              </a:rPr>
              <a:t>9551 </a:t>
            </a:r>
            <a:endParaRPr lang="en-IN" sz="2800" b="1" spc="-20" dirty="0">
              <a:solidFill>
                <a:schemeClr val="bg1"/>
              </a:solidFill>
              <a:latin typeface="Calibri"/>
              <a:cs typeface="Calibri"/>
            </a:endParaRPr>
          </a:p>
          <a:p>
            <a:pPr marL="469900" marR="1715135" indent="-457200">
              <a:lnSpc>
                <a:spcPts val="3370"/>
              </a:lnSpc>
              <a:spcBef>
                <a:spcPts val="85"/>
              </a:spcBef>
              <a:buFont typeface="Arial" panose="020B0604020202020204" pitchFamily="34" charset="0"/>
              <a:buChar char="•"/>
            </a:pPr>
            <a:r>
              <a:rPr sz="2800" b="1" spc="-10" dirty="0">
                <a:solidFill>
                  <a:schemeClr val="bg1"/>
                </a:solidFill>
                <a:latin typeface="Calibri"/>
                <a:cs typeface="Calibri"/>
              </a:rPr>
              <a:t>Number</a:t>
            </a:r>
            <a:r>
              <a:rPr sz="2800" b="1" spc="-75" dirty="0">
                <a:solidFill>
                  <a:schemeClr val="bg1"/>
                </a:solidFill>
                <a:latin typeface="Calibri"/>
                <a:cs typeface="Calibri"/>
              </a:rPr>
              <a:t> </a:t>
            </a:r>
            <a:r>
              <a:rPr sz="2800" b="1" dirty="0">
                <a:solidFill>
                  <a:schemeClr val="bg1"/>
                </a:solidFill>
                <a:latin typeface="Calibri"/>
                <a:cs typeface="Calibri"/>
              </a:rPr>
              <a:t>of</a:t>
            </a:r>
            <a:r>
              <a:rPr sz="2800" b="1" spc="-75" dirty="0">
                <a:solidFill>
                  <a:schemeClr val="bg1"/>
                </a:solidFill>
                <a:latin typeface="Calibri"/>
                <a:cs typeface="Calibri"/>
              </a:rPr>
              <a:t> </a:t>
            </a:r>
            <a:r>
              <a:rPr sz="2800" b="1" spc="-10" dirty="0">
                <a:solidFill>
                  <a:schemeClr val="bg1"/>
                </a:solidFill>
                <a:latin typeface="Calibri"/>
                <a:cs typeface="Calibri"/>
              </a:rPr>
              <a:t>Countries</a:t>
            </a:r>
            <a:r>
              <a:rPr sz="2800" b="1" spc="-75" dirty="0">
                <a:solidFill>
                  <a:schemeClr val="bg1"/>
                </a:solidFill>
                <a:latin typeface="Calibri"/>
                <a:cs typeface="Calibri"/>
              </a:rPr>
              <a:t> </a:t>
            </a:r>
            <a:r>
              <a:rPr sz="2800" b="1" dirty="0">
                <a:solidFill>
                  <a:schemeClr val="bg1"/>
                </a:solidFill>
                <a:latin typeface="Calibri"/>
                <a:cs typeface="Calibri"/>
              </a:rPr>
              <a:t>:</a:t>
            </a:r>
            <a:r>
              <a:rPr sz="2800" b="1" spc="-75" dirty="0">
                <a:solidFill>
                  <a:schemeClr val="bg1"/>
                </a:solidFill>
                <a:latin typeface="Calibri"/>
                <a:cs typeface="Calibri"/>
              </a:rPr>
              <a:t> </a:t>
            </a:r>
            <a:r>
              <a:rPr sz="2800" b="1" spc="-25" dirty="0">
                <a:solidFill>
                  <a:schemeClr val="bg1"/>
                </a:solidFill>
                <a:latin typeface="Calibri"/>
                <a:cs typeface="Calibri"/>
              </a:rPr>
              <a:t>15 </a:t>
            </a:r>
            <a:endParaRPr lang="en-IN" sz="2800" b="1" spc="-25" dirty="0">
              <a:solidFill>
                <a:schemeClr val="bg1"/>
              </a:solidFill>
              <a:latin typeface="Calibri"/>
              <a:cs typeface="Calibri"/>
            </a:endParaRPr>
          </a:p>
          <a:p>
            <a:pPr marL="469900" marR="1715135" indent="-457200">
              <a:lnSpc>
                <a:spcPts val="3370"/>
              </a:lnSpc>
              <a:spcBef>
                <a:spcPts val="85"/>
              </a:spcBef>
              <a:buFont typeface="Arial" panose="020B0604020202020204" pitchFamily="34" charset="0"/>
              <a:buChar char="•"/>
            </a:pPr>
            <a:r>
              <a:rPr sz="2800" b="1" spc="-10" dirty="0">
                <a:solidFill>
                  <a:schemeClr val="bg1"/>
                </a:solidFill>
                <a:latin typeface="Calibri"/>
                <a:cs typeface="Calibri"/>
              </a:rPr>
              <a:t>Number</a:t>
            </a:r>
            <a:r>
              <a:rPr sz="2800" b="1" spc="-75" dirty="0">
                <a:solidFill>
                  <a:schemeClr val="bg1"/>
                </a:solidFill>
                <a:latin typeface="Calibri"/>
                <a:cs typeface="Calibri"/>
              </a:rPr>
              <a:t> </a:t>
            </a:r>
            <a:r>
              <a:rPr sz="2800" b="1" dirty="0">
                <a:solidFill>
                  <a:schemeClr val="bg1"/>
                </a:solidFill>
                <a:latin typeface="Calibri"/>
                <a:cs typeface="Calibri"/>
              </a:rPr>
              <a:t>of</a:t>
            </a:r>
            <a:r>
              <a:rPr sz="2800" b="1" spc="-75" dirty="0">
                <a:solidFill>
                  <a:schemeClr val="bg1"/>
                </a:solidFill>
                <a:latin typeface="Calibri"/>
                <a:cs typeface="Calibri"/>
              </a:rPr>
              <a:t> </a:t>
            </a:r>
            <a:r>
              <a:rPr sz="2800" b="1" dirty="0">
                <a:solidFill>
                  <a:schemeClr val="bg1"/>
                </a:solidFill>
                <a:latin typeface="Calibri"/>
                <a:cs typeface="Calibri"/>
              </a:rPr>
              <a:t>Cites</a:t>
            </a:r>
            <a:r>
              <a:rPr sz="2800" b="1" spc="-75" dirty="0">
                <a:solidFill>
                  <a:schemeClr val="bg1"/>
                </a:solidFill>
                <a:latin typeface="Calibri"/>
                <a:cs typeface="Calibri"/>
              </a:rPr>
              <a:t> </a:t>
            </a:r>
            <a:r>
              <a:rPr sz="2800" b="1" dirty="0">
                <a:solidFill>
                  <a:schemeClr val="bg1"/>
                </a:solidFill>
                <a:latin typeface="Calibri"/>
                <a:cs typeface="Calibri"/>
              </a:rPr>
              <a:t>:</a:t>
            </a:r>
            <a:r>
              <a:rPr sz="2800" b="1" spc="-75" dirty="0">
                <a:solidFill>
                  <a:schemeClr val="bg1"/>
                </a:solidFill>
                <a:latin typeface="Calibri"/>
                <a:cs typeface="Calibri"/>
              </a:rPr>
              <a:t> </a:t>
            </a:r>
            <a:r>
              <a:rPr sz="2800" b="1" spc="-25" dirty="0">
                <a:solidFill>
                  <a:schemeClr val="bg1"/>
                </a:solidFill>
                <a:latin typeface="Calibri"/>
                <a:cs typeface="Calibri"/>
              </a:rPr>
              <a:t>141 </a:t>
            </a:r>
            <a:endParaRPr lang="en-IN" sz="2800" b="1" spc="-25" dirty="0">
              <a:solidFill>
                <a:schemeClr val="bg1"/>
              </a:solidFill>
              <a:latin typeface="Calibri"/>
              <a:cs typeface="Calibri"/>
            </a:endParaRPr>
          </a:p>
          <a:p>
            <a:pPr marL="469900" marR="1715135" indent="-457200">
              <a:lnSpc>
                <a:spcPts val="3370"/>
              </a:lnSpc>
              <a:spcBef>
                <a:spcPts val="85"/>
              </a:spcBef>
              <a:buFont typeface="Arial" panose="020B0604020202020204" pitchFamily="34" charset="0"/>
              <a:buChar char="•"/>
            </a:pPr>
            <a:r>
              <a:rPr sz="2800" b="1" spc="-10" dirty="0">
                <a:solidFill>
                  <a:schemeClr val="bg1"/>
                </a:solidFill>
                <a:latin typeface="Calibri"/>
                <a:cs typeface="Calibri"/>
              </a:rPr>
              <a:t>Number</a:t>
            </a:r>
            <a:r>
              <a:rPr sz="2800" b="1" spc="-80" dirty="0">
                <a:solidFill>
                  <a:schemeClr val="bg1"/>
                </a:solidFill>
                <a:latin typeface="Calibri"/>
                <a:cs typeface="Calibri"/>
              </a:rPr>
              <a:t> </a:t>
            </a:r>
            <a:r>
              <a:rPr sz="2800" b="1" dirty="0">
                <a:solidFill>
                  <a:schemeClr val="bg1"/>
                </a:solidFill>
                <a:latin typeface="Calibri"/>
                <a:cs typeface="Calibri"/>
              </a:rPr>
              <a:t>of</a:t>
            </a:r>
            <a:r>
              <a:rPr sz="2800" b="1" spc="-75" dirty="0">
                <a:solidFill>
                  <a:schemeClr val="bg1"/>
                </a:solidFill>
                <a:latin typeface="Calibri"/>
                <a:cs typeface="Calibri"/>
              </a:rPr>
              <a:t> </a:t>
            </a:r>
            <a:r>
              <a:rPr sz="2800" b="1" spc="-10" dirty="0">
                <a:solidFill>
                  <a:schemeClr val="bg1"/>
                </a:solidFill>
                <a:latin typeface="Calibri"/>
                <a:cs typeface="Calibri"/>
              </a:rPr>
              <a:t>Cuisines</a:t>
            </a:r>
            <a:r>
              <a:rPr sz="2800" b="1" spc="-75" dirty="0">
                <a:solidFill>
                  <a:schemeClr val="bg1"/>
                </a:solidFill>
                <a:latin typeface="Calibri"/>
                <a:cs typeface="Calibri"/>
              </a:rPr>
              <a:t> </a:t>
            </a:r>
            <a:r>
              <a:rPr sz="2800" b="1" dirty="0">
                <a:solidFill>
                  <a:schemeClr val="bg1"/>
                </a:solidFill>
                <a:latin typeface="Calibri"/>
                <a:cs typeface="Calibri"/>
              </a:rPr>
              <a:t>:</a:t>
            </a:r>
            <a:r>
              <a:rPr sz="2800" b="1" spc="-75" dirty="0">
                <a:solidFill>
                  <a:schemeClr val="bg1"/>
                </a:solidFill>
                <a:latin typeface="Calibri"/>
                <a:cs typeface="Calibri"/>
              </a:rPr>
              <a:t> </a:t>
            </a:r>
            <a:r>
              <a:rPr sz="2800" b="1" spc="-20" dirty="0">
                <a:solidFill>
                  <a:schemeClr val="bg1"/>
                </a:solidFill>
                <a:latin typeface="Calibri"/>
                <a:cs typeface="Calibri"/>
              </a:rPr>
              <a:t>1826</a:t>
            </a:r>
            <a:endParaRPr sz="2800" b="1" dirty="0">
              <a:solidFill>
                <a:schemeClr val="bg1"/>
              </a:solidFill>
              <a:latin typeface="Calibri"/>
              <a:cs typeface="Calibri"/>
            </a:endParaRPr>
          </a:p>
          <a:p>
            <a:pPr marL="469900" indent="-457200">
              <a:lnSpc>
                <a:spcPts val="3240"/>
              </a:lnSpc>
              <a:buFont typeface="Arial" panose="020B0604020202020204" pitchFamily="34" charset="0"/>
              <a:buChar char="•"/>
            </a:pPr>
            <a:r>
              <a:rPr sz="2800" b="1" dirty="0">
                <a:solidFill>
                  <a:schemeClr val="bg1"/>
                </a:solidFill>
                <a:latin typeface="Calibri"/>
                <a:cs typeface="Calibri"/>
              </a:rPr>
              <a:t>Average</a:t>
            </a:r>
            <a:r>
              <a:rPr sz="2800" b="1" spc="-85" dirty="0">
                <a:solidFill>
                  <a:schemeClr val="bg1"/>
                </a:solidFill>
                <a:latin typeface="Calibri"/>
                <a:cs typeface="Calibri"/>
              </a:rPr>
              <a:t> </a:t>
            </a:r>
            <a:r>
              <a:rPr sz="2800" b="1" dirty="0">
                <a:solidFill>
                  <a:schemeClr val="bg1"/>
                </a:solidFill>
                <a:latin typeface="Calibri"/>
                <a:cs typeface="Calibri"/>
              </a:rPr>
              <a:t>Ratng</a:t>
            </a:r>
            <a:r>
              <a:rPr sz="2800" b="1" spc="-85" dirty="0">
                <a:solidFill>
                  <a:schemeClr val="bg1"/>
                </a:solidFill>
                <a:latin typeface="Calibri"/>
                <a:cs typeface="Calibri"/>
              </a:rPr>
              <a:t> </a:t>
            </a:r>
            <a:r>
              <a:rPr sz="2800" b="1" dirty="0">
                <a:solidFill>
                  <a:schemeClr val="bg1"/>
                </a:solidFill>
                <a:latin typeface="Calibri"/>
                <a:cs typeface="Calibri"/>
              </a:rPr>
              <a:t>of</a:t>
            </a:r>
            <a:r>
              <a:rPr sz="2800" b="1" spc="-80" dirty="0">
                <a:solidFill>
                  <a:schemeClr val="bg1"/>
                </a:solidFill>
                <a:latin typeface="Calibri"/>
                <a:cs typeface="Calibri"/>
              </a:rPr>
              <a:t> </a:t>
            </a:r>
            <a:r>
              <a:rPr sz="2800" b="1" dirty="0">
                <a:solidFill>
                  <a:schemeClr val="bg1"/>
                </a:solidFill>
                <a:latin typeface="Calibri"/>
                <a:cs typeface="Calibri"/>
              </a:rPr>
              <a:t>all</a:t>
            </a:r>
            <a:r>
              <a:rPr sz="2800" b="1" spc="-85" dirty="0">
                <a:solidFill>
                  <a:schemeClr val="bg1"/>
                </a:solidFill>
                <a:latin typeface="Calibri"/>
                <a:cs typeface="Calibri"/>
              </a:rPr>
              <a:t> </a:t>
            </a:r>
            <a:r>
              <a:rPr sz="2800" b="1" dirty="0">
                <a:solidFill>
                  <a:schemeClr val="bg1"/>
                </a:solidFill>
                <a:latin typeface="Calibri"/>
                <a:cs typeface="Calibri"/>
              </a:rPr>
              <a:t>the</a:t>
            </a:r>
            <a:r>
              <a:rPr sz="2800" b="1" spc="-80" dirty="0">
                <a:solidFill>
                  <a:schemeClr val="bg1"/>
                </a:solidFill>
                <a:latin typeface="Calibri"/>
                <a:cs typeface="Calibri"/>
              </a:rPr>
              <a:t> </a:t>
            </a:r>
            <a:r>
              <a:rPr sz="2800" b="1" spc="-10" dirty="0">
                <a:solidFill>
                  <a:schemeClr val="bg1"/>
                </a:solidFill>
                <a:latin typeface="Calibri"/>
                <a:cs typeface="Calibri"/>
              </a:rPr>
              <a:t>restaurant</a:t>
            </a:r>
            <a:r>
              <a:rPr sz="2800" b="1" spc="-85" dirty="0">
                <a:solidFill>
                  <a:schemeClr val="bg1"/>
                </a:solidFill>
                <a:latin typeface="Calibri"/>
                <a:cs typeface="Calibri"/>
              </a:rPr>
              <a:t> </a:t>
            </a:r>
            <a:r>
              <a:rPr lang="en-IN" sz="2800" b="1" spc="-85" dirty="0">
                <a:solidFill>
                  <a:schemeClr val="bg1"/>
                </a:solidFill>
                <a:latin typeface="Calibri"/>
                <a:cs typeface="Calibri"/>
              </a:rPr>
              <a:t>: </a:t>
            </a:r>
            <a:r>
              <a:rPr sz="2800" b="1" spc="-20" dirty="0">
                <a:solidFill>
                  <a:schemeClr val="bg1"/>
                </a:solidFill>
                <a:latin typeface="Calibri"/>
                <a:cs typeface="Calibri"/>
              </a:rPr>
              <a:t>2.89</a:t>
            </a:r>
            <a:endParaRPr sz="2800" b="1" dirty="0">
              <a:solidFill>
                <a:schemeClr val="bg1"/>
              </a:solidFill>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540" y="318858"/>
            <a:ext cx="3807460" cy="574040"/>
          </a:xfrm>
          <a:prstGeom prst="rect">
            <a:avLst/>
          </a:prstGeom>
        </p:spPr>
        <p:txBody>
          <a:bodyPr vert="horz" wrap="square" lIns="0" tIns="12700" rIns="0" bIns="0" rtlCol="0">
            <a:spAutoFit/>
          </a:bodyPr>
          <a:lstStyle/>
          <a:p>
            <a:pPr marL="12700">
              <a:lnSpc>
                <a:spcPct val="100000"/>
              </a:lnSpc>
              <a:spcBef>
                <a:spcPts val="100"/>
              </a:spcBef>
            </a:pPr>
            <a:r>
              <a:rPr sz="3600" b="1" spc="-45" dirty="0">
                <a:solidFill>
                  <a:srgbClr val="FF0000"/>
                </a:solidFill>
                <a:latin typeface="Segoe UI Black" panose="020B0A02040204020203" pitchFamily="34" charset="0"/>
                <a:ea typeface="Segoe UI Black" panose="020B0A02040204020203" pitchFamily="34" charset="0"/>
                <a:cs typeface="Calibri Light"/>
              </a:rPr>
              <a:t>OBSERVATIONS</a:t>
            </a:r>
            <a:endParaRPr sz="3600" b="1" dirty="0">
              <a:solidFill>
                <a:srgbClr val="FF0000"/>
              </a:solidFill>
              <a:latin typeface="Segoe UI Black" panose="020B0A02040204020203" pitchFamily="34" charset="0"/>
              <a:ea typeface="Segoe UI Black" panose="020B0A02040204020203" pitchFamily="34" charset="0"/>
              <a:cs typeface="Calibri Light"/>
            </a:endParaRPr>
          </a:p>
        </p:txBody>
      </p:sp>
      <p:sp>
        <p:nvSpPr>
          <p:cNvPr id="3" name="object 3"/>
          <p:cNvSpPr txBox="1"/>
          <p:nvPr/>
        </p:nvSpPr>
        <p:spPr>
          <a:xfrm>
            <a:off x="0" y="923302"/>
            <a:ext cx="7239000" cy="3895938"/>
          </a:xfrm>
          <a:prstGeom prst="rect">
            <a:avLst/>
          </a:prstGeom>
        </p:spPr>
        <p:txBody>
          <a:bodyPr vert="horz" wrap="square" lIns="0" tIns="12700" rIns="0" bIns="0" rtlCol="0">
            <a:spAutoFit/>
          </a:bodyPr>
          <a:lstStyle/>
          <a:p>
            <a:pPr marL="298450" indent="-285750">
              <a:lnSpc>
                <a:spcPct val="100000"/>
              </a:lnSpc>
              <a:spcBef>
                <a:spcPts val="100"/>
              </a:spcBef>
              <a:buFont typeface="Arial MT"/>
              <a:buChar char="•"/>
              <a:tabLst>
                <a:tab pos="298450" algn="l"/>
              </a:tabLst>
            </a:pPr>
            <a:r>
              <a:rPr sz="1800" dirty="0">
                <a:solidFill>
                  <a:schemeClr val="bg1"/>
                </a:solidFill>
                <a:latin typeface="Calibri"/>
                <a:cs typeface="Calibri"/>
              </a:rPr>
              <a:t>Out</a:t>
            </a:r>
            <a:r>
              <a:rPr sz="1800" spc="-40" dirty="0">
                <a:solidFill>
                  <a:schemeClr val="bg1"/>
                </a:solidFill>
                <a:latin typeface="Calibri"/>
                <a:cs typeface="Calibri"/>
              </a:rPr>
              <a:t> </a:t>
            </a:r>
            <a:r>
              <a:rPr sz="1800" dirty="0">
                <a:solidFill>
                  <a:schemeClr val="bg1"/>
                </a:solidFill>
                <a:latin typeface="Calibri"/>
                <a:cs typeface="Calibri"/>
              </a:rPr>
              <a:t>of</a:t>
            </a:r>
            <a:r>
              <a:rPr sz="1800" spc="-30" dirty="0">
                <a:solidFill>
                  <a:schemeClr val="bg1"/>
                </a:solidFill>
                <a:latin typeface="Calibri"/>
                <a:cs typeface="Calibri"/>
              </a:rPr>
              <a:t> </a:t>
            </a:r>
            <a:r>
              <a:rPr sz="1800" dirty="0">
                <a:solidFill>
                  <a:schemeClr val="bg1"/>
                </a:solidFill>
                <a:latin typeface="Calibri"/>
                <a:cs typeface="Calibri"/>
              </a:rPr>
              <a:t>9551</a:t>
            </a:r>
            <a:r>
              <a:rPr sz="1800" spc="-40" dirty="0">
                <a:solidFill>
                  <a:schemeClr val="bg1"/>
                </a:solidFill>
                <a:latin typeface="Calibri"/>
                <a:cs typeface="Calibri"/>
              </a:rPr>
              <a:t> </a:t>
            </a:r>
            <a:r>
              <a:rPr sz="1800" spc="-10" dirty="0">
                <a:solidFill>
                  <a:schemeClr val="bg1"/>
                </a:solidFill>
                <a:latin typeface="Calibri"/>
                <a:cs typeface="Calibri"/>
              </a:rPr>
              <a:t>restaurants</a:t>
            </a:r>
            <a:endParaRPr sz="1800" dirty="0">
              <a:solidFill>
                <a:schemeClr val="bg1"/>
              </a:solidFill>
              <a:latin typeface="Calibri"/>
              <a:cs typeface="Calibri"/>
            </a:endParaRPr>
          </a:p>
          <a:p>
            <a:pPr marL="12700" marR="360045">
              <a:lnSpc>
                <a:spcPct val="100000"/>
              </a:lnSpc>
              <a:tabLst>
                <a:tab pos="4364355" algn="l"/>
              </a:tabLst>
            </a:pPr>
            <a:r>
              <a:rPr sz="1800" spc="-10" dirty="0">
                <a:solidFill>
                  <a:schemeClr val="bg1"/>
                </a:solidFill>
                <a:latin typeface="Calibri"/>
                <a:cs typeface="Calibri"/>
              </a:rPr>
              <a:t>1.73K(22.57%)</a:t>
            </a:r>
            <a:r>
              <a:rPr sz="1800" spc="-35" dirty="0">
                <a:solidFill>
                  <a:schemeClr val="bg1"/>
                </a:solidFill>
                <a:latin typeface="Calibri"/>
                <a:cs typeface="Calibri"/>
              </a:rPr>
              <a:t> </a:t>
            </a:r>
            <a:r>
              <a:rPr sz="1800" spc="-20" dirty="0">
                <a:solidFill>
                  <a:schemeClr val="bg1"/>
                </a:solidFill>
                <a:latin typeface="Calibri"/>
                <a:cs typeface="Calibri"/>
              </a:rPr>
              <a:t>restaurants</a:t>
            </a:r>
            <a:r>
              <a:rPr sz="1800" spc="-35" dirty="0">
                <a:solidFill>
                  <a:schemeClr val="bg1"/>
                </a:solidFill>
                <a:latin typeface="Calibri"/>
                <a:cs typeface="Calibri"/>
              </a:rPr>
              <a:t> </a:t>
            </a:r>
            <a:r>
              <a:rPr sz="1800" dirty="0">
                <a:solidFill>
                  <a:schemeClr val="bg1"/>
                </a:solidFill>
                <a:latin typeface="Calibri"/>
                <a:cs typeface="Calibri"/>
              </a:rPr>
              <a:t>provides</a:t>
            </a:r>
            <a:r>
              <a:rPr sz="1800" spc="-25" dirty="0">
                <a:solidFill>
                  <a:schemeClr val="bg1"/>
                </a:solidFill>
                <a:latin typeface="Calibri"/>
                <a:cs typeface="Calibri"/>
              </a:rPr>
              <a:t> </a:t>
            </a:r>
            <a:r>
              <a:rPr sz="1800" dirty="0">
                <a:solidFill>
                  <a:schemeClr val="bg1"/>
                </a:solidFill>
                <a:latin typeface="Calibri"/>
                <a:cs typeface="Calibri"/>
              </a:rPr>
              <a:t>Online</a:t>
            </a:r>
            <a:r>
              <a:rPr sz="1800" spc="-30" dirty="0">
                <a:solidFill>
                  <a:schemeClr val="bg1"/>
                </a:solidFill>
                <a:latin typeface="Calibri"/>
                <a:cs typeface="Calibri"/>
              </a:rPr>
              <a:t> </a:t>
            </a:r>
            <a:r>
              <a:rPr sz="1800" spc="-10" dirty="0">
                <a:solidFill>
                  <a:schemeClr val="bg1"/>
                </a:solidFill>
                <a:latin typeface="Calibri"/>
                <a:cs typeface="Calibri"/>
              </a:rPr>
              <a:t>Delivery </a:t>
            </a:r>
            <a:r>
              <a:rPr sz="1800" dirty="0">
                <a:solidFill>
                  <a:schemeClr val="bg1"/>
                </a:solidFill>
                <a:latin typeface="Calibri"/>
                <a:cs typeface="Calibri"/>
              </a:rPr>
              <a:t>whereas</a:t>
            </a:r>
            <a:r>
              <a:rPr sz="1800" spc="-70" dirty="0">
                <a:solidFill>
                  <a:schemeClr val="bg1"/>
                </a:solidFill>
                <a:latin typeface="Calibri"/>
                <a:cs typeface="Calibri"/>
              </a:rPr>
              <a:t> </a:t>
            </a:r>
            <a:r>
              <a:rPr sz="1800" dirty="0">
                <a:solidFill>
                  <a:schemeClr val="bg1"/>
                </a:solidFill>
                <a:latin typeface="Calibri"/>
                <a:cs typeface="Calibri"/>
              </a:rPr>
              <a:t>5.92k(77.43%)</a:t>
            </a:r>
            <a:r>
              <a:rPr sz="1800" spc="-75" dirty="0">
                <a:solidFill>
                  <a:schemeClr val="bg1"/>
                </a:solidFill>
                <a:latin typeface="Calibri"/>
                <a:cs typeface="Calibri"/>
              </a:rPr>
              <a:t> </a:t>
            </a:r>
            <a:r>
              <a:rPr sz="1800" dirty="0">
                <a:solidFill>
                  <a:schemeClr val="bg1"/>
                </a:solidFill>
                <a:latin typeface="Calibri"/>
                <a:cs typeface="Calibri"/>
              </a:rPr>
              <a:t>don’t</a:t>
            </a:r>
            <a:r>
              <a:rPr sz="1800" spc="-70" dirty="0">
                <a:solidFill>
                  <a:schemeClr val="bg1"/>
                </a:solidFill>
                <a:latin typeface="Calibri"/>
                <a:cs typeface="Calibri"/>
              </a:rPr>
              <a:t> </a:t>
            </a:r>
            <a:r>
              <a:rPr sz="1800" dirty="0">
                <a:solidFill>
                  <a:schemeClr val="bg1"/>
                </a:solidFill>
                <a:latin typeface="Calibri"/>
                <a:cs typeface="Calibri"/>
              </a:rPr>
              <a:t>have</a:t>
            </a:r>
            <a:r>
              <a:rPr sz="1800" spc="-75" dirty="0">
                <a:solidFill>
                  <a:schemeClr val="bg1"/>
                </a:solidFill>
                <a:latin typeface="Calibri"/>
                <a:cs typeface="Calibri"/>
              </a:rPr>
              <a:t> </a:t>
            </a:r>
            <a:r>
              <a:rPr sz="1800" dirty="0">
                <a:solidFill>
                  <a:schemeClr val="bg1"/>
                </a:solidFill>
                <a:latin typeface="Calibri"/>
                <a:cs typeface="Calibri"/>
              </a:rPr>
              <a:t>the</a:t>
            </a:r>
            <a:r>
              <a:rPr sz="1800" spc="-70" dirty="0">
                <a:solidFill>
                  <a:schemeClr val="bg1"/>
                </a:solidFill>
                <a:latin typeface="Calibri"/>
                <a:cs typeface="Calibri"/>
              </a:rPr>
              <a:t> </a:t>
            </a:r>
            <a:r>
              <a:rPr sz="1800" spc="-10" dirty="0">
                <a:solidFill>
                  <a:schemeClr val="bg1"/>
                </a:solidFill>
                <a:latin typeface="Calibri"/>
                <a:cs typeface="Calibri"/>
              </a:rPr>
              <a:t>online</a:t>
            </a:r>
            <a:r>
              <a:rPr lang="en-IN" spc="-10" dirty="0">
                <a:solidFill>
                  <a:schemeClr val="bg1"/>
                </a:solidFill>
                <a:latin typeface="Calibri"/>
                <a:cs typeface="Calibri"/>
              </a:rPr>
              <a:t> </a:t>
            </a:r>
            <a:r>
              <a:rPr sz="1800" spc="-10" dirty="0">
                <a:solidFill>
                  <a:schemeClr val="bg1"/>
                </a:solidFill>
                <a:latin typeface="Calibri"/>
                <a:cs typeface="Calibri"/>
              </a:rPr>
              <a:t>delivery system</a:t>
            </a:r>
            <a:endParaRPr sz="1800" dirty="0">
              <a:solidFill>
                <a:schemeClr val="bg1"/>
              </a:solidFill>
              <a:latin typeface="Calibri"/>
              <a:cs typeface="Calibri"/>
            </a:endParaRPr>
          </a:p>
          <a:p>
            <a:pPr marL="298450" indent="-285750">
              <a:lnSpc>
                <a:spcPct val="100000"/>
              </a:lnSpc>
              <a:buFont typeface="Arial MT"/>
              <a:buChar char="•"/>
              <a:tabLst>
                <a:tab pos="298450" algn="l"/>
              </a:tabLst>
            </a:pPr>
            <a:r>
              <a:rPr sz="1800" dirty="0">
                <a:solidFill>
                  <a:schemeClr val="bg1"/>
                </a:solidFill>
                <a:latin typeface="Calibri"/>
                <a:cs typeface="Calibri"/>
              </a:rPr>
              <a:t>Out</a:t>
            </a:r>
            <a:r>
              <a:rPr sz="1800" spc="-40" dirty="0">
                <a:solidFill>
                  <a:schemeClr val="bg1"/>
                </a:solidFill>
                <a:latin typeface="Calibri"/>
                <a:cs typeface="Calibri"/>
              </a:rPr>
              <a:t> </a:t>
            </a:r>
            <a:r>
              <a:rPr sz="1800" dirty="0">
                <a:solidFill>
                  <a:schemeClr val="bg1"/>
                </a:solidFill>
                <a:latin typeface="Calibri"/>
                <a:cs typeface="Calibri"/>
              </a:rPr>
              <a:t>of</a:t>
            </a:r>
            <a:r>
              <a:rPr sz="1800" spc="-30" dirty="0">
                <a:solidFill>
                  <a:schemeClr val="bg1"/>
                </a:solidFill>
                <a:latin typeface="Calibri"/>
                <a:cs typeface="Calibri"/>
              </a:rPr>
              <a:t> </a:t>
            </a:r>
            <a:r>
              <a:rPr sz="1800" dirty="0">
                <a:solidFill>
                  <a:schemeClr val="bg1"/>
                </a:solidFill>
                <a:latin typeface="Calibri"/>
                <a:cs typeface="Calibri"/>
              </a:rPr>
              <a:t>9551</a:t>
            </a:r>
            <a:r>
              <a:rPr sz="1800" spc="-40" dirty="0">
                <a:solidFill>
                  <a:schemeClr val="bg1"/>
                </a:solidFill>
                <a:latin typeface="Calibri"/>
                <a:cs typeface="Calibri"/>
              </a:rPr>
              <a:t> </a:t>
            </a:r>
            <a:r>
              <a:rPr sz="1800" spc="-10" dirty="0">
                <a:solidFill>
                  <a:schemeClr val="bg1"/>
                </a:solidFill>
                <a:latin typeface="Calibri"/>
                <a:cs typeface="Calibri"/>
              </a:rPr>
              <a:t>restaurants</a:t>
            </a:r>
            <a:endParaRPr sz="1800" dirty="0">
              <a:solidFill>
                <a:schemeClr val="bg1"/>
              </a:solidFill>
              <a:latin typeface="Calibri"/>
              <a:cs typeface="Calibri"/>
            </a:endParaRPr>
          </a:p>
          <a:p>
            <a:pPr marL="12700" marR="5080">
              <a:lnSpc>
                <a:spcPct val="100000"/>
              </a:lnSpc>
            </a:pPr>
            <a:r>
              <a:rPr sz="1800" spc="-10" dirty="0">
                <a:solidFill>
                  <a:schemeClr val="bg1"/>
                </a:solidFill>
                <a:latin typeface="Calibri"/>
                <a:cs typeface="Calibri"/>
              </a:rPr>
              <a:t>1.03K(13.64%)</a:t>
            </a:r>
            <a:r>
              <a:rPr sz="1800" spc="-45" dirty="0">
                <a:solidFill>
                  <a:schemeClr val="bg1"/>
                </a:solidFill>
                <a:latin typeface="Calibri"/>
                <a:cs typeface="Calibri"/>
              </a:rPr>
              <a:t> </a:t>
            </a:r>
            <a:r>
              <a:rPr sz="1800" spc="-20" dirty="0">
                <a:solidFill>
                  <a:schemeClr val="bg1"/>
                </a:solidFill>
                <a:latin typeface="Calibri"/>
                <a:cs typeface="Calibri"/>
              </a:rPr>
              <a:t>restaurants</a:t>
            </a:r>
            <a:r>
              <a:rPr sz="1800" spc="-45" dirty="0">
                <a:solidFill>
                  <a:schemeClr val="bg1"/>
                </a:solidFill>
                <a:latin typeface="Calibri"/>
                <a:cs typeface="Calibri"/>
              </a:rPr>
              <a:t> </a:t>
            </a:r>
            <a:r>
              <a:rPr sz="1800" dirty="0">
                <a:solidFill>
                  <a:schemeClr val="bg1"/>
                </a:solidFill>
                <a:latin typeface="Calibri"/>
                <a:cs typeface="Calibri"/>
              </a:rPr>
              <a:t>provides</a:t>
            </a:r>
            <a:r>
              <a:rPr sz="1800" spc="-35" dirty="0">
                <a:solidFill>
                  <a:schemeClr val="bg1"/>
                </a:solidFill>
                <a:latin typeface="Calibri"/>
                <a:cs typeface="Calibri"/>
              </a:rPr>
              <a:t> </a:t>
            </a:r>
            <a:r>
              <a:rPr sz="1800" dirty="0">
                <a:solidFill>
                  <a:schemeClr val="bg1"/>
                </a:solidFill>
                <a:latin typeface="Calibri"/>
                <a:cs typeface="Calibri"/>
              </a:rPr>
              <a:t>table</a:t>
            </a:r>
            <a:r>
              <a:rPr sz="1800" spc="-45" dirty="0">
                <a:solidFill>
                  <a:schemeClr val="bg1"/>
                </a:solidFill>
                <a:latin typeface="Calibri"/>
                <a:cs typeface="Calibri"/>
              </a:rPr>
              <a:t> </a:t>
            </a:r>
            <a:r>
              <a:rPr sz="1800" dirty="0">
                <a:solidFill>
                  <a:schemeClr val="bg1"/>
                </a:solidFill>
                <a:latin typeface="Calibri"/>
                <a:cs typeface="Calibri"/>
              </a:rPr>
              <a:t>booking</a:t>
            </a:r>
            <a:r>
              <a:rPr sz="1800" spc="-40" dirty="0">
                <a:solidFill>
                  <a:schemeClr val="bg1"/>
                </a:solidFill>
                <a:latin typeface="Calibri"/>
                <a:cs typeface="Calibri"/>
              </a:rPr>
              <a:t> </a:t>
            </a:r>
            <a:r>
              <a:rPr sz="1800" spc="-10" dirty="0">
                <a:solidFill>
                  <a:schemeClr val="bg1"/>
                </a:solidFill>
                <a:latin typeface="Calibri"/>
                <a:cs typeface="Calibri"/>
              </a:rPr>
              <a:t>whereas 6.49k(86.36%)</a:t>
            </a:r>
            <a:r>
              <a:rPr sz="1800" spc="-60" dirty="0">
                <a:solidFill>
                  <a:schemeClr val="bg1"/>
                </a:solidFill>
                <a:latin typeface="Calibri"/>
                <a:cs typeface="Calibri"/>
              </a:rPr>
              <a:t> </a:t>
            </a:r>
            <a:r>
              <a:rPr sz="1800" dirty="0">
                <a:solidFill>
                  <a:schemeClr val="bg1"/>
                </a:solidFill>
                <a:latin typeface="Calibri"/>
                <a:cs typeface="Calibri"/>
              </a:rPr>
              <a:t>don’t</a:t>
            </a:r>
            <a:r>
              <a:rPr sz="1800" spc="-50" dirty="0">
                <a:solidFill>
                  <a:schemeClr val="bg1"/>
                </a:solidFill>
                <a:latin typeface="Calibri"/>
                <a:cs typeface="Calibri"/>
              </a:rPr>
              <a:t> </a:t>
            </a:r>
            <a:r>
              <a:rPr sz="1800" dirty="0">
                <a:solidFill>
                  <a:schemeClr val="bg1"/>
                </a:solidFill>
                <a:latin typeface="Calibri"/>
                <a:cs typeface="Calibri"/>
              </a:rPr>
              <a:t>have</a:t>
            </a:r>
            <a:r>
              <a:rPr sz="1800" spc="-40" dirty="0">
                <a:solidFill>
                  <a:schemeClr val="bg1"/>
                </a:solidFill>
                <a:latin typeface="Calibri"/>
                <a:cs typeface="Calibri"/>
              </a:rPr>
              <a:t> </a:t>
            </a:r>
            <a:r>
              <a:rPr sz="1800" dirty="0">
                <a:solidFill>
                  <a:schemeClr val="bg1"/>
                </a:solidFill>
                <a:latin typeface="Calibri"/>
                <a:cs typeface="Calibri"/>
              </a:rPr>
              <a:t>the</a:t>
            </a:r>
            <a:r>
              <a:rPr sz="1800" spc="-45" dirty="0">
                <a:solidFill>
                  <a:schemeClr val="bg1"/>
                </a:solidFill>
                <a:latin typeface="Calibri"/>
                <a:cs typeface="Calibri"/>
              </a:rPr>
              <a:t> </a:t>
            </a:r>
            <a:r>
              <a:rPr sz="1800" dirty="0">
                <a:solidFill>
                  <a:schemeClr val="bg1"/>
                </a:solidFill>
                <a:latin typeface="Calibri"/>
                <a:cs typeface="Calibri"/>
              </a:rPr>
              <a:t>table</a:t>
            </a:r>
            <a:r>
              <a:rPr sz="1800" spc="-45" dirty="0">
                <a:solidFill>
                  <a:schemeClr val="bg1"/>
                </a:solidFill>
                <a:latin typeface="Calibri"/>
                <a:cs typeface="Calibri"/>
              </a:rPr>
              <a:t> </a:t>
            </a:r>
            <a:r>
              <a:rPr sz="1800" dirty="0">
                <a:solidFill>
                  <a:schemeClr val="bg1"/>
                </a:solidFill>
                <a:latin typeface="Calibri"/>
                <a:cs typeface="Calibri"/>
              </a:rPr>
              <a:t>booking</a:t>
            </a:r>
            <a:r>
              <a:rPr sz="1800" spc="-40" dirty="0">
                <a:solidFill>
                  <a:schemeClr val="bg1"/>
                </a:solidFill>
                <a:latin typeface="Calibri"/>
                <a:cs typeface="Calibri"/>
              </a:rPr>
              <a:t> </a:t>
            </a:r>
            <a:r>
              <a:rPr sz="1800" spc="-10" dirty="0">
                <a:solidFill>
                  <a:schemeClr val="bg1"/>
                </a:solidFill>
                <a:latin typeface="Calibri"/>
                <a:cs typeface="Calibri"/>
              </a:rPr>
              <a:t>facility</a:t>
            </a:r>
            <a:endParaRPr sz="1800" dirty="0">
              <a:solidFill>
                <a:schemeClr val="bg1"/>
              </a:solidFill>
              <a:latin typeface="Calibri"/>
              <a:cs typeface="Calibri"/>
            </a:endParaRPr>
          </a:p>
          <a:p>
            <a:pPr marL="12700">
              <a:lnSpc>
                <a:spcPct val="100000"/>
              </a:lnSpc>
              <a:spcBef>
                <a:spcPts val="2160"/>
              </a:spcBef>
            </a:pPr>
            <a:r>
              <a:rPr sz="1800" b="1" dirty="0">
                <a:solidFill>
                  <a:schemeClr val="bg1"/>
                </a:solidFill>
                <a:latin typeface="Calibri"/>
                <a:cs typeface="Calibri"/>
              </a:rPr>
              <a:t>For</a:t>
            </a:r>
            <a:r>
              <a:rPr sz="1800" b="1" spc="-55" dirty="0">
                <a:solidFill>
                  <a:schemeClr val="bg1"/>
                </a:solidFill>
                <a:latin typeface="Calibri"/>
                <a:cs typeface="Calibri"/>
              </a:rPr>
              <a:t> </a:t>
            </a:r>
            <a:r>
              <a:rPr sz="1800" b="1" spc="-10" dirty="0">
                <a:solidFill>
                  <a:schemeClr val="bg1"/>
                </a:solidFill>
                <a:latin typeface="Calibri"/>
                <a:cs typeface="Calibri"/>
              </a:rPr>
              <a:t>India</a:t>
            </a:r>
            <a:r>
              <a:rPr lang="en-IN" sz="1800" b="1" spc="-10" dirty="0">
                <a:solidFill>
                  <a:schemeClr val="bg1"/>
                </a:solidFill>
                <a:latin typeface="Calibri"/>
                <a:cs typeface="Calibri"/>
              </a:rPr>
              <a:t>:</a:t>
            </a:r>
            <a:endParaRPr sz="1800" b="1" dirty="0">
              <a:solidFill>
                <a:schemeClr val="bg1"/>
              </a:solidFill>
              <a:latin typeface="Calibri"/>
              <a:cs typeface="Calibri"/>
            </a:endParaRPr>
          </a:p>
          <a:p>
            <a:pPr marL="298450" indent="-285750">
              <a:lnSpc>
                <a:spcPct val="100000"/>
              </a:lnSpc>
              <a:buFont typeface="Arial" panose="020B0604020202020204" pitchFamily="34" charset="0"/>
              <a:buChar char="•"/>
              <a:tabLst>
                <a:tab pos="298450" algn="l"/>
              </a:tabLst>
            </a:pPr>
            <a:r>
              <a:rPr sz="1800" dirty="0">
                <a:solidFill>
                  <a:schemeClr val="bg1"/>
                </a:solidFill>
                <a:latin typeface="Calibri"/>
                <a:cs typeface="Calibri"/>
              </a:rPr>
              <a:t>Out</a:t>
            </a:r>
            <a:r>
              <a:rPr sz="1800" spc="-40" dirty="0">
                <a:solidFill>
                  <a:schemeClr val="bg1"/>
                </a:solidFill>
                <a:latin typeface="Calibri"/>
                <a:cs typeface="Calibri"/>
              </a:rPr>
              <a:t> </a:t>
            </a:r>
            <a:r>
              <a:rPr sz="1800" dirty="0">
                <a:solidFill>
                  <a:schemeClr val="bg1"/>
                </a:solidFill>
                <a:latin typeface="Calibri"/>
                <a:cs typeface="Calibri"/>
              </a:rPr>
              <a:t>of</a:t>
            </a:r>
            <a:r>
              <a:rPr sz="1800" spc="-30" dirty="0">
                <a:solidFill>
                  <a:schemeClr val="bg1"/>
                </a:solidFill>
                <a:latin typeface="Calibri"/>
                <a:cs typeface="Calibri"/>
              </a:rPr>
              <a:t> </a:t>
            </a:r>
            <a:r>
              <a:rPr sz="1800" dirty="0">
                <a:solidFill>
                  <a:schemeClr val="bg1"/>
                </a:solidFill>
                <a:latin typeface="Calibri"/>
                <a:cs typeface="Calibri"/>
              </a:rPr>
              <a:t>8652</a:t>
            </a:r>
            <a:r>
              <a:rPr sz="1800" spc="-40" dirty="0">
                <a:solidFill>
                  <a:schemeClr val="bg1"/>
                </a:solidFill>
                <a:latin typeface="Calibri"/>
                <a:cs typeface="Calibri"/>
              </a:rPr>
              <a:t> </a:t>
            </a:r>
            <a:r>
              <a:rPr sz="1800" spc="-10" dirty="0">
                <a:solidFill>
                  <a:schemeClr val="bg1"/>
                </a:solidFill>
                <a:latin typeface="Calibri"/>
                <a:cs typeface="Calibri"/>
              </a:rPr>
              <a:t>restaurants</a:t>
            </a:r>
            <a:endParaRPr sz="1800" dirty="0">
              <a:solidFill>
                <a:schemeClr val="bg1"/>
              </a:solidFill>
              <a:latin typeface="Calibri"/>
              <a:cs typeface="Calibri"/>
            </a:endParaRPr>
          </a:p>
          <a:p>
            <a:pPr marL="12700" marR="477520">
              <a:lnSpc>
                <a:spcPct val="100000"/>
              </a:lnSpc>
              <a:tabLst>
                <a:tab pos="4248785" algn="l"/>
              </a:tabLst>
            </a:pPr>
            <a:r>
              <a:rPr sz="1800" spc="-10" dirty="0">
                <a:solidFill>
                  <a:schemeClr val="bg1"/>
                </a:solidFill>
                <a:latin typeface="Calibri"/>
                <a:cs typeface="Calibri"/>
              </a:rPr>
              <a:t>1.7K(25.04%)</a:t>
            </a:r>
            <a:r>
              <a:rPr sz="1800" spc="-35" dirty="0">
                <a:solidFill>
                  <a:schemeClr val="bg1"/>
                </a:solidFill>
                <a:latin typeface="Calibri"/>
                <a:cs typeface="Calibri"/>
              </a:rPr>
              <a:t> </a:t>
            </a:r>
            <a:r>
              <a:rPr sz="1800" spc="-20" dirty="0">
                <a:solidFill>
                  <a:schemeClr val="bg1"/>
                </a:solidFill>
                <a:latin typeface="Calibri"/>
                <a:cs typeface="Calibri"/>
              </a:rPr>
              <a:t>restaurants</a:t>
            </a:r>
            <a:r>
              <a:rPr sz="1800" spc="-35" dirty="0">
                <a:solidFill>
                  <a:schemeClr val="bg1"/>
                </a:solidFill>
                <a:latin typeface="Calibri"/>
                <a:cs typeface="Calibri"/>
              </a:rPr>
              <a:t> </a:t>
            </a:r>
            <a:r>
              <a:rPr sz="1800" dirty="0">
                <a:solidFill>
                  <a:schemeClr val="bg1"/>
                </a:solidFill>
                <a:latin typeface="Calibri"/>
                <a:cs typeface="Calibri"/>
              </a:rPr>
              <a:t>provides</a:t>
            </a:r>
            <a:r>
              <a:rPr sz="1800" spc="-35" dirty="0">
                <a:solidFill>
                  <a:schemeClr val="bg1"/>
                </a:solidFill>
                <a:latin typeface="Calibri"/>
                <a:cs typeface="Calibri"/>
              </a:rPr>
              <a:t> </a:t>
            </a:r>
            <a:r>
              <a:rPr sz="1800" dirty="0">
                <a:solidFill>
                  <a:schemeClr val="bg1"/>
                </a:solidFill>
                <a:latin typeface="Calibri"/>
                <a:cs typeface="Calibri"/>
              </a:rPr>
              <a:t>Online</a:t>
            </a:r>
            <a:r>
              <a:rPr sz="1800" spc="-30" dirty="0">
                <a:solidFill>
                  <a:schemeClr val="bg1"/>
                </a:solidFill>
                <a:latin typeface="Calibri"/>
                <a:cs typeface="Calibri"/>
              </a:rPr>
              <a:t> </a:t>
            </a:r>
            <a:r>
              <a:rPr sz="1800" spc="-10" dirty="0">
                <a:solidFill>
                  <a:schemeClr val="bg1"/>
                </a:solidFill>
                <a:latin typeface="Calibri"/>
                <a:cs typeface="Calibri"/>
              </a:rPr>
              <a:t>Delivery </a:t>
            </a:r>
            <a:r>
              <a:rPr sz="1800" dirty="0">
                <a:solidFill>
                  <a:schemeClr val="bg1"/>
                </a:solidFill>
                <a:latin typeface="Calibri"/>
                <a:cs typeface="Calibri"/>
              </a:rPr>
              <a:t>whereas</a:t>
            </a:r>
            <a:r>
              <a:rPr sz="1800" spc="-45" dirty="0">
                <a:solidFill>
                  <a:schemeClr val="bg1"/>
                </a:solidFill>
                <a:latin typeface="Calibri"/>
                <a:cs typeface="Calibri"/>
              </a:rPr>
              <a:t> </a:t>
            </a:r>
            <a:r>
              <a:rPr sz="1800" spc="-10" dirty="0">
                <a:solidFill>
                  <a:schemeClr val="bg1"/>
                </a:solidFill>
                <a:latin typeface="Calibri"/>
                <a:cs typeface="Calibri"/>
              </a:rPr>
              <a:t>5.1k(74.96%)</a:t>
            </a:r>
            <a:r>
              <a:rPr sz="1800" spc="-55" dirty="0">
                <a:solidFill>
                  <a:schemeClr val="bg1"/>
                </a:solidFill>
                <a:latin typeface="Calibri"/>
                <a:cs typeface="Calibri"/>
              </a:rPr>
              <a:t> </a:t>
            </a:r>
            <a:r>
              <a:rPr sz="1800" dirty="0">
                <a:solidFill>
                  <a:schemeClr val="bg1"/>
                </a:solidFill>
                <a:latin typeface="Calibri"/>
                <a:cs typeface="Calibri"/>
              </a:rPr>
              <a:t>don’t</a:t>
            </a:r>
            <a:r>
              <a:rPr sz="1800" spc="-55" dirty="0">
                <a:solidFill>
                  <a:schemeClr val="bg1"/>
                </a:solidFill>
                <a:latin typeface="Calibri"/>
                <a:cs typeface="Calibri"/>
              </a:rPr>
              <a:t> </a:t>
            </a:r>
            <a:r>
              <a:rPr sz="1800" dirty="0">
                <a:solidFill>
                  <a:schemeClr val="bg1"/>
                </a:solidFill>
                <a:latin typeface="Calibri"/>
                <a:cs typeface="Calibri"/>
              </a:rPr>
              <a:t>have</a:t>
            </a:r>
            <a:r>
              <a:rPr sz="1800" spc="-50" dirty="0">
                <a:solidFill>
                  <a:schemeClr val="bg1"/>
                </a:solidFill>
                <a:latin typeface="Calibri"/>
                <a:cs typeface="Calibri"/>
              </a:rPr>
              <a:t> </a:t>
            </a:r>
            <a:r>
              <a:rPr sz="1800" dirty="0">
                <a:solidFill>
                  <a:schemeClr val="bg1"/>
                </a:solidFill>
                <a:latin typeface="Calibri"/>
                <a:cs typeface="Calibri"/>
              </a:rPr>
              <a:t>the</a:t>
            </a:r>
            <a:r>
              <a:rPr sz="1800" spc="-45" dirty="0">
                <a:solidFill>
                  <a:schemeClr val="bg1"/>
                </a:solidFill>
                <a:latin typeface="Calibri"/>
                <a:cs typeface="Calibri"/>
              </a:rPr>
              <a:t> </a:t>
            </a:r>
            <a:r>
              <a:rPr sz="1800" spc="-10" dirty="0">
                <a:solidFill>
                  <a:schemeClr val="bg1"/>
                </a:solidFill>
                <a:latin typeface="Calibri"/>
                <a:cs typeface="Calibri"/>
              </a:rPr>
              <a:t>online</a:t>
            </a:r>
            <a:r>
              <a:rPr lang="en-IN" spc="-10" dirty="0">
                <a:solidFill>
                  <a:schemeClr val="bg1"/>
                </a:solidFill>
                <a:latin typeface="Calibri"/>
                <a:cs typeface="Calibri"/>
              </a:rPr>
              <a:t> </a:t>
            </a:r>
            <a:r>
              <a:rPr sz="1800" spc="-10" dirty="0">
                <a:solidFill>
                  <a:schemeClr val="bg1"/>
                </a:solidFill>
                <a:latin typeface="Calibri"/>
                <a:cs typeface="Calibri"/>
              </a:rPr>
              <a:t>delivery system</a:t>
            </a:r>
            <a:endParaRPr sz="1800" dirty="0">
              <a:solidFill>
                <a:schemeClr val="bg1"/>
              </a:solidFill>
              <a:latin typeface="Calibri"/>
              <a:cs typeface="Calibri"/>
            </a:endParaRPr>
          </a:p>
          <a:p>
            <a:pPr marL="298450" indent="-285750">
              <a:lnSpc>
                <a:spcPct val="100000"/>
              </a:lnSpc>
              <a:buFont typeface="Arial MT"/>
              <a:buChar char="•"/>
              <a:tabLst>
                <a:tab pos="298450" algn="l"/>
              </a:tabLst>
            </a:pPr>
            <a:r>
              <a:rPr sz="1800" dirty="0">
                <a:solidFill>
                  <a:schemeClr val="bg1"/>
                </a:solidFill>
                <a:latin typeface="Calibri"/>
                <a:cs typeface="Calibri"/>
              </a:rPr>
              <a:t>Out</a:t>
            </a:r>
            <a:r>
              <a:rPr sz="1800" spc="-40" dirty="0">
                <a:solidFill>
                  <a:schemeClr val="bg1"/>
                </a:solidFill>
                <a:latin typeface="Calibri"/>
                <a:cs typeface="Calibri"/>
              </a:rPr>
              <a:t> </a:t>
            </a:r>
            <a:r>
              <a:rPr sz="1800" dirty="0">
                <a:solidFill>
                  <a:schemeClr val="bg1"/>
                </a:solidFill>
                <a:latin typeface="Calibri"/>
                <a:cs typeface="Calibri"/>
              </a:rPr>
              <a:t>of</a:t>
            </a:r>
            <a:r>
              <a:rPr sz="1800" spc="-30" dirty="0">
                <a:solidFill>
                  <a:schemeClr val="bg1"/>
                </a:solidFill>
                <a:latin typeface="Calibri"/>
                <a:cs typeface="Calibri"/>
              </a:rPr>
              <a:t> </a:t>
            </a:r>
            <a:r>
              <a:rPr sz="1800" dirty="0">
                <a:solidFill>
                  <a:schemeClr val="bg1"/>
                </a:solidFill>
                <a:latin typeface="Calibri"/>
                <a:cs typeface="Calibri"/>
              </a:rPr>
              <a:t>8652</a:t>
            </a:r>
            <a:r>
              <a:rPr sz="1800" spc="-40" dirty="0">
                <a:solidFill>
                  <a:schemeClr val="bg1"/>
                </a:solidFill>
                <a:latin typeface="Calibri"/>
                <a:cs typeface="Calibri"/>
              </a:rPr>
              <a:t> </a:t>
            </a:r>
            <a:r>
              <a:rPr sz="1800" spc="-10" dirty="0">
                <a:solidFill>
                  <a:schemeClr val="bg1"/>
                </a:solidFill>
                <a:latin typeface="Calibri"/>
                <a:cs typeface="Calibri"/>
              </a:rPr>
              <a:t>restaurants</a:t>
            </a:r>
            <a:endParaRPr sz="1800" dirty="0">
              <a:solidFill>
                <a:schemeClr val="bg1"/>
              </a:solidFill>
              <a:latin typeface="Calibri"/>
              <a:cs typeface="Calibri"/>
            </a:endParaRPr>
          </a:p>
          <a:p>
            <a:pPr marL="12700" marR="5080">
              <a:lnSpc>
                <a:spcPct val="100000"/>
              </a:lnSpc>
            </a:pPr>
            <a:r>
              <a:rPr sz="1800" spc="-10" dirty="0">
                <a:solidFill>
                  <a:schemeClr val="bg1"/>
                </a:solidFill>
                <a:latin typeface="Calibri"/>
                <a:cs typeface="Calibri"/>
              </a:rPr>
              <a:t>0.98K(14.75%)</a:t>
            </a:r>
            <a:r>
              <a:rPr sz="1800" spc="-45" dirty="0">
                <a:solidFill>
                  <a:schemeClr val="bg1"/>
                </a:solidFill>
                <a:latin typeface="Calibri"/>
                <a:cs typeface="Calibri"/>
              </a:rPr>
              <a:t> </a:t>
            </a:r>
            <a:r>
              <a:rPr sz="1800" spc="-20" dirty="0">
                <a:solidFill>
                  <a:schemeClr val="bg1"/>
                </a:solidFill>
                <a:latin typeface="Calibri"/>
                <a:cs typeface="Calibri"/>
              </a:rPr>
              <a:t>restaurants</a:t>
            </a:r>
            <a:r>
              <a:rPr sz="1800" spc="-45" dirty="0">
                <a:solidFill>
                  <a:schemeClr val="bg1"/>
                </a:solidFill>
                <a:latin typeface="Calibri"/>
                <a:cs typeface="Calibri"/>
              </a:rPr>
              <a:t> </a:t>
            </a:r>
            <a:r>
              <a:rPr sz="1800" dirty="0">
                <a:solidFill>
                  <a:schemeClr val="bg1"/>
                </a:solidFill>
                <a:latin typeface="Calibri"/>
                <a:cs typeface="Calibri"/>
              </a:rPr>
              <a:t>provides</a:t>
            </a:r>
            <a:r>
              <a:rPr sz="1800" spc="-35" dirty="0">
                <a:solidFill>
                  <a:schemeClr val="bg1"/>
                </a:solidFill>
                <a:latin typeface="Calibri"/>
                <a:cs typeface="Calibri"/>
              </a:rPr>
              <a:t> </a:t>
            </a:r>
            <a:r>
              <a:rPr sz="1800" dirty="0">
                <a:solidFill>
                  <a:schemeClr val="bg1"/>
                </a:solidFill>
                <a:latin typeface="Calibri"/>
                <a:cs typeface="Calibri"/>
              </a:rPr>
              <a:t>table</a:t>
            </a:r>
            <a:r>
              <a:rPr sz="1800" spc="-45" dirty="0">
                <a:solidFill>
                  <a:schemeClr val="bg1"/>
                </a:solidFill>
                <a:latin typeface="Calibri"/>
                <a:cs typeface="Calibri"/>
              </a:rPr>
              <a:t> </a:t>
            </a:r>
            <a:r>
              <a:rPr sz="1800" dirty="0">
                <a:solidFill>
                  <a:schemeClr val="bg1"/>
                </a:solidFill>
                <a:latin typeface="Calibri"/>
                <a:cs typeface="Calibri"/>
              </a:rPr>
              <a:t>booking</a:t>
            </a:r>
            <a:r>
              <a:rPr sz="1800" spc="-40" dirty="0">
                <a:solidFill>
                  <a:schemeClr val="bg1"/>
                </a:solidFill>
                <a:latin typeface="Calibri"/>
                <a:cs typeface="Calibri"/>
              </a:rPr>
              <a:t> </a:t>
            </a:r>
            <a:r>
              <a:rPr sz="1800" spc="-10" dirty="0">
                <a:solidFill>
                  <a:schemeClr val="bg1"/>
                </a:solidFill>
                <a:latin typeface="Calibri"/>
                <a:cs typeface="Calibri"/>
              </a:rPr>
              <a:t>whereas 5.68k(85.25%)</a:t>
            </a:r>
            <a:r>
              <a:rPr sz="1800" spc="-60" dirty="0">
                <a:solidFill>
                  <a:schemeClr val="bg1"/>
                </a:solidFill>
                <a:latin typeface="Calibri"/>
                <a:cs typeface="Calibri"/>
              </a:rPr>
              <a:t> </a:t>
            </a:r>
            <a:r>
              <a:rPr sz="1800" dirty="0">
                <a:solidFill>
                  <a:schemeClr val="bg1"/>
                </a:solidFill>
                <a:latin typeface="Calibri"/>
                <a:cs typeface="Calibri"/>
              </a:rPr>
              <a:t>don’t</a:t>
            </a:r>
            <a:r>
              <a:rPr sz="1800" spc="-50" dirty="0">
                <a:solidFill>
                  <a:schemeClr val="bg1"/>
                </a:solidFill>
                <a:latin typeface="Calibri"/>
                <a:cs typeface="Calibri"/>
              </a:rPr>
              <a:t> </a:t>
            </a:r>
            <a:r>
              <a:rPr sz="1800" dirty="0">
                <a:solidFill>
                  <a:schemeClr val="bg1"/>
                </a:solidFill>
                <a:latin typeface="Calibri"/>
                <a:cs typeface="Calibri"/>
              </a:rPr>
              <a:t>have</a:t>
            </a:r>
            <a:r>
              <a:rPr sz="1800" spc="-40" dirty="0">
                <a:solidFill>
                  <a:schemeClr val="bg1"/>
                </a:solidFill>
                <a:latin typeface="Calibri"/>
                <a:cs typeface="Calibri"/>
              </a:rPr>
              <a:t> </a:t>
            </a:r>
            <a:r>
              <a:rPr sz="1800" dirty="0">
                <a:solidFill>
                  <a:schemeClr val="bg1"/>
                </a:solidFill>
                <a:latin typeface="Calibri"/>
                <a:cs typeface="Calibri"/>
              </a:rPr>
              <a:t>the</a:t>
            </a:r>
            <a:r>
              <a:rPr sz="1800" spc="-45" dirty="0">
                <a:solidFill>
                  <a:schemeClr val="bg1"/>
                </a:solidFill>
                <a:latin typeface="Calibri"/>
                <a:cs typeface="Calibri"/>
              </a:rPr>
              <a:t> </a:t>
            </a:r>
            <a:r>
              <a:rPr sz="1800" dirty="0">
                <a:solidFill>
                  <a:schemeClr val="bg1"/>
                </a:solidFill>
                <a:latin typeface="Calibri"/>
                <a:cs typeface="Calibri"/>
              </a:rPr>
              <a:t>table</a:t>
            </a:r>
            <a:r>
              <a:rPr sz="1800" spc="-45" dirty="0">
                <a:solidFill>
                  <a:schemeClr val="bg1"/>
                </a:solidFill>
                <a:latin typeface="Calibri"/>
                <a:cs typeface="Calibri"/>
              </a:rPr>
              <a:t> </a:t>
            </a:r>
            <a:r>
              <a:rPr sz="1800" dirty="0">
                <a:solidFill>
                  <a:schemeClr val="bg1"/>
                </a:solidFill>
                <a:latin typeface="Calibri"/>
                <a:cs typeface="Calibri"/>
              </a:rPr>
              <a:t>booking</a:t>
            </a:r>
            <a:r>
              <a:rPr sz="1800" spc="-40" dirty="0">
                <a:solidFill>
                  <a:schemeClr val="bg1"/>
                </a:solidFill>
                <a:latin typeface="Calibri"/>
                <a:cs typeface="Calibri"/>
              </a:rPr>
              <a:t> </a:t>
            </a:r>
            <a:r>
              <a:rPr sz="1800" spc="-10" dirty="0">
                <a:solidFill>
                  <a:schemeClr val="bg1"/>
                </a:solidFill>
                <a:latin typeface="Calibri"/>
                <a:cs typeface="Calibri"/>
              </a:rPr>
              <a:t>facility</a:t>
            </a:r>
            <a:endParaRPr sz="1800" dirty="0">
              <a:solidFill>
                <a:schemeClr val="bg1"/>
              </a:solidFill>
              <a:latin typeface="Calibri"/>
              <a:cs typeface="Calibri"/>
            </a:endParaRPr>
          </a:p>
        </p:txBody>
      </p:sp>
      <p:grpSp>
        <p:nvGrpSpPr>
          <p:cNvPr id="4" name="object 4"/>
          <p:cNvGrpSpPr/>
          <p:nvPr/>
        </p:nvGrpSpPr>
        <p:grpSpPr>
          <a:xfrm>
            <a:off x="5961595" y="49682"/>
            <a:ext cx="6208395" cy="2849245"/>
            <a:chOff x="5961595" y="49682"/>
            <a:chExt cx="6208395" cy="2849245"/>
          </a:xfrm>
        </p:grpSpPr>
        <p:pic>
          <p:nvPicPr>
            <p:cNvPr id="5" name="object 5"/>
            <p:cNvPicPr/>
            <p:nvPr/>
          </p:nvPicPr>
          <p:blipFill>
            <a:blip r:embed="rId2" cstate="print"/>
            <a:stretch>
              <a:fillRect/>
            </a:stretch>
          </p:blipFill>
          <p:spPr>
            <a:xfrm>
              <a:off x="5961595" y="49682"/>
              <a:ext cx="3103918" cy="1620723"/>
            </a:xfrm>
            <a:prstGeom prst="rect">
              <a:avLst/>
            </a:prstGeom>
          </p:spPr>
        </p:pic>
        <p:pic>
          <p:nvPicPr>
            <p:cNvPr id="6" name="object 6"/>
            <p:cNvPicPr/>
            <p:nvPr/>
          </p:nvPicPr>
          <p:blipFill>
            <a:blip r:embed="rId3" cstate="print"/>
            <a:stretch>
              <a:fillRect/>
            </a:stretch>
          </p:blipFill>
          <p:spPr>
            <a:xfrm>
              <a:off x="9065513" y="1184033"/>
              <a:ext cx="3104273" cy="1714322"/>
            </a:xfrm>
            <a:prstGeom prst="rect">
              <a:avLst/>
            </a:prstGeom>
          </p:spPr>
        </p:pic>
      </p:grpSp>
      <p:grpSp>
        <p:nvGrpSpPr>
          <p:cNvPr id="7" name="object 7"/>
          <p:cNvGrpSpPr/>
          <p:nvPr/>
        </p:nvGrpSpPr>
        <p:grpSpPr>
          <a:xfrm>
            <a:off x="6328079" y="3013557"/>
            <a:ext cx="5641975" cy="3460750"/>
            <a:chOff x="6328079" y="3013557"/>
            <a:chExt cx="5641975" cy="3460750"/>
          </a:xfrm>
        </p:grpSpPr>
        <p:pic>
          <p:nvPicPr>
            <p:cNvPr id="8" name="object 8"/>
            <p:cNvPicPr/>
            <p:nvPr/>
          </p:nvPicPr>
          <p:blipFill>
            <a:blip r:embed="rId4" cstate="print"/>
            <a:stretch>
              <a:fillRect/>
            </a:stretch>
          </p:blipFill>
          <p:spPr>
            <a:xfrm>
              <a:off x="6328079" y="3013557"/>
              <a:ext cx="3012833" cy="1620723"/>
            </a:xfrm>
            <a:prstGeom prst="rect">
              <a:avLst/>
            </a:prstGeom>
          </p:spPr>
        </p:pic>
        <p:pic>
          <p:nvPicPr>
            <p:cNvPr id="9" name="object 9"/>
            <p:cNvPicPr/>
            <p:nvPr/>
          </p:nvPicPr>
          <p:blipFill>
            <a:blip r:embed="rId5" cstate="print"/>
            <a:stretch>
              <a:fillRect/>
            </a:stretch>
          </p:blipFill>
          <p:spPr>
            <a:xfrm>
              <a:off x="8620556" y="4634636"/>
              <a:ext cx="3349434" cy="1839239"/>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63104" y="591743"/>
            <a:ext cx="10604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MT"/>
                <a:cs typeface="Arial MT"/>
              </a:rPr>
              <a:t>•</a:t>
            </a:r>
            <a:endParaRPr sz="1800" dirty="0">
              <a:latin typeface="Arial MT"/>
              <a:cs typeface="Arial MT"/>
            </a:endParaRPr>
          </a:p>
        </p:txBody>
      </p:sp>
      <p:sp>
        <p:nvSpPr>
          <p:cNvPr id="3" name="object 3"/>
          <p:cNvSpPr txBox="1"/>
          <p:nvPr/>
        </p:nvSpPr>
        <p:spPr>
          <a:xfrm>
            <a:off x="763104" y="1140383"/>
            <a:ext cx="10604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MT"/>
                <a:cs typeface="Arial MT"/>
              </a:rPr>
              <a:t>•</a:t>
            </a:r>
            <a:endParaRPr sz="1800">
              <a:latin typeface="Arial MT"/>
              <a:cs typeface="Arial MT"/>
            </a:endParaRPr>
          </a:p>
        </p:txBody>
      </p:sp>
      <p:sp>
        <p:nvSpPr>
          <p:cNvPr id="4" name="object 4"/>
          <p:cNvSpPr txBox="1"/>
          <p:nvPr/>
        </p:nvSpPr>
        <p:spPr>
          <a:xfrm>
            <a:off x="763104" y="1689023"/>
            <a:ext cx="10604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MT"/>
                <a:cs typeface="Arial MT"/>
              </a:rPr>
              <a:t>•</a:t>
            </a:r>
            <a:endParaRPr sz="1800" dirty="0">
              <a:latin typeface="Arial MT"/>
              <a:cs typeface="Arial MT"/>
            </a:endParaRPr>
          </a:p>
        </p:txBody>
      </p:sp>
      <p:sp>
        <p:nvSpPr>
          <p:cNvPr id="5" name="object 5"/>
          <p:cNvSpPr txBox="1"/>
          <p:nvPr/>
        </p:nvSpPr>
        <p:spPr>
          <a:xfrm>
            <a:off x="1051915" y="591743"/>
            <a:ext cx="9537065" cy="1397000"/>
          </a:xfrm>
          <a:prstGeom prst="rect">
            <a:avLst/>
          </a:prstGeom>
        </p:spPr>
        <p:txBody>
          <a:bodyPr vert="horz" wrap="square" lIns="0" tIns="12700" rIns="0" bIns="0" rtlCol="0">
            <a:spAutoFit/>
          </a:bodyPr>
          <a:lstStyle/>
          <a:p>
            <a:pPr marL="298450" marR="175260" indent="-285750">
              <a:lnSpc>
                <a:spcPct val="100000"/>
              </a:lnSpc>
              <a:spcBef>
                <a:spcPts val="100"/>
              </a:spcBef>
              <a:buFont typeface="Arial" panose="020B0604020202020204" pitchFamily="34" charset="0"/>
              <a:buChar char="•"/>
            </a:pPr>
            <a:r>
              <a:rPr sz="1800" dirty="0">
                <a:solidFill>
                  <a:schemeClr val="bg1"/>
                </a:solidFill>
                <a:latin typeface="Calibri"/>
                <a:cs typeface="Calibri"/>
              </a:rPr>
              <a:t>Countries</a:t>
            </a:r>
            <a:r>
              <a:rPr sz="1800" spc="-60" dirty="0">
                <a:solidFill>
                  <a:schemeClr val="bg1"/>
                </a:solidFill>
                <a:latin typeface="Calibri"/>
                <a:cs typeface="Calibri"/>
              </a:rPr>
              <a:t> </a:t>
            </a:r>
            <a:r>
              <a:rPr sz="1800" dirty="0">
                <a:solidFill>
                  <a:schemeClr val="bg1"/>
                </a:solidFill>
                <a:latin typeface="Calibri"/>
                <a:cs typeface="Calibri"/>
              </a:rPr>
              <a:t>which</a:t>
            </a:r>
            <a:r>
              <a:rPr sz="1800" spc="-65" dirty="0">
                <a:solidFill>
                  <a:schemeClr val="bg1"/>
                </a:solidFill>
                <a:latin typeface="Calibri"/>
                <a:cs typeface="Calibri"/>
              </a:rPr>
              <a:t> </a:t>
            </a:r>
            <a:r>
              <a:rPr sz="1800" dirty="0">
                <a:solidFill>
                  <a:schemeClr val="bg1"/>
                </a:solidFill>
                <a:latin typeface="Calibri"/>
                <a:cs typeface="Calibri"/>
              </a:rPr>
              <a:t>don’t</a:t>
            </a:r>
            <a:r>
              <a:rPr sz="1800" spc="-75" dirty="0">
                <a:solidFill>
                  <a:schemeClr val="bg1"/>
                </a:solidFill>
                <a:latin typeface="Calibri"/>
                <a:cs typeface="Calibri"/>
              </a:rPr>
              <a:t> </a:t>
            </a:r>
            <a:r>
              <a:rPr sz="1800" dirty="0">
                <a:solidFill>
                  <a:schemeClr val="bg1"/>
                </a:solidFill>
                <a:latin typeface="Calibri"/>
                <a:cs typeface="Calibri"/>
              </a:rPr>
              <a:t>provide</a:t>
            </a:r>
            <a:r>
              <a:rPr sz="1800" spc="-60" dirty="0">
                <a:solidFill>
                  <a:schemeClr val="bg1"/>
                </a:solidFill>
                <a:latin typeface="Calibri"/>
                <a:cs typeface="Calibri"/>
              </a:rPr>
              <a:t> </a:t>
            </a:r>
            <a:r>
              <a:rPr sz="1800" dirty="0">
                <a:solidFill>
                  <a:schemeClr val="bg1"/>
                </a:solidFill>
                <a:latin typeface="Calibri"/>
                <a:cs typeface="Calibri"/>
              </a:rPr>
              <a:t>online</a:t>
            </a:r>
            <a:r>
              <a:rPr sz="1800" spc="-65" dirty="0">
                <a:solidFill>
                  <a:schemeClr val="bg1"/>
                </a:solidFill>
                <a:latin typeface="Calibri"/>
                <a:cs typeface="Calibri"/>
              </a:rPr>
              <a:t> </a:t>
            </a:r>
            <a:r>
              <a:rPr sz="1800" dirty="0">
                <a:solidFill>
                  <a:schemeClr val="bg1"/>
                </a:solidFill>
                <a:latin typeface="Calibri"/>
                <a:cs typeface="Calibri"/>
              </a:rPr>
              <a:t>delivery</a:t>
            </a:r>
            <a:r>
              <a:rPr sz="1800" spc="-65" dirty="0">
                <a:solidFill>
                  <a:schemeClr val="bg1"/>
                </a:solidFill>
                <a:latin typeface="Calibri"/>
                <a:cs typeface="Calibri"/>
              </a:rPr>
              <a:t> </a:t>
            </a:r>
            <a:r>
              <a:rPr sz="1800" dirty="0">
                <a:solidFill>
                  <a:schemeClr val="bg1"/>
                </a:solidFill>
                <a:latin typeface="Calibri"/>
                <a:cs typeface="Calibri"/>
              </a:rPr>
              <a:t>and</a:t>
            </a:r>
            <a:r>
              <a:rPr sz="1800" spc="-65" dirty="0">
                <a:solidFill>
                  <a:schemeClr val="bg1"/>
                </a:solidFill>
                <a:latin typeface="Calibri"/>
                <a:cs typeface="Calibri"/>
              </a:rPr>
              <a:t> </a:t>
            </a:r>
            <a:r>
              <a:rPr sz="1800" dirty="0">
                <a:solidFill>
                  <a:schemeClr val="bg1"/>
                </a:solidFill>
                <a:latin typeface="Calibri"/>
                <a:cs typeface="Calibri"/>
              </a:rPr>
              <a:t>table</a:t>
            </a:r>
            <a:r>
              <a:rPr sz="1800" spc="-65" dirty="0">
                <a:solidFill>
                  <a:schemeClr val="bg1"/>
                </a:solidFill>
                <a:latin typeface="Calibri"/>
                <a:cs typeface="Calibri"/>
              </a:rPr>
              <a:t> </a:t>
            </a:r>
            <a:r>
              <a:rPr sz="1800" dirty="0">
                <a:solidFill>
                  <a:schemeClr val="bg1"/>
                </a:solidFill>
                <a:latin typeface="Calibri"/>
                <a:cs typeface="Calibri"/>
              </a:rPr>
              <a:t>booking</a:t>
            </a:r>
            <a:r>
              <a:rPr sz="1800" spc="-65" dirty="0">
                <a:solidFill>
                  <a:schemeClr val="bg1"/>
                </a:solidFill>
                <a:latin typeface="Calibri"/>
                <a:cs typeface="Calibri"/>
              </a:rPr>
              <a:t> </a:t>
            </a:r>
            <a:r>
              <a:rPr sz="1800" dirty="0">
                <a:solidFill>
                  <a:schemeClr val="bg1"/>
                </a:solidFill>
                <a:latin typeface="Calibri"/>
                <a:cs typeface="Calibri"/>
              </a:rPr>
              <a:t>facility</a:t>
            </a:r>
            <a:r>
              <a:rPr sz="1800" spc="-65" dirty="0">
                <a:solidFill>
                  <a:schemeClr val="bg1"/>
                </a:solidFill>
                <a:latin typeface="Calibri"/>
                <a:cs typeface="Calibri"/>
              </a:rPr>
              <a:t> </a:t>
            </a:r>
            <a:r>
              <a:rPr sz="1800" dirty="0">
                <a:solidFill>
                  <a:schemeClr val="bg1"/>
                </a:solidFill>
                <a:latin typeface="Calibri"/>
                <a:cs typeface="Calibri"/>
              </a:rPr>
              <a:t>are</a:t>
            </a:r>
            <a:r>
              <a:rPr sz="1800" spc="-65" dirty="0">
                <a:solidFill>
                  <a:schemeClr val="bg1"/>
                </a:solidFill>
                <a:latin typeface="Calibri"/>
                <a:cs typeface="Calibri"/>
              </a:rPr>
              <a:t> </a:t>
            </a:r>
            <a:r>
              <a:rPr sz="1800" dirty="0">
                <a:solidFill>
                  <a:schemeClr val="bg1"/>
                </a:solidFill>
                <a:latin typeface="Calibri"/>
                <a:cs typeface="Calibri"/>
              </a:rPr>
              <a:t>:</a:t>
            </a:r>
            <a:r>
              <a:rPr sz="1800" spc="-70" dirty="0">
                <a:solidFill>
                  <a:schemeClr val="bg1"/>
                </a:solidFill>
                <a:latin typeface="Calibri"/>
                <a:cs typeface="Calibri"/>
              </a:rPr>
              <a:t> </a:t>
            </a:r>
            <a:r>
              <a:rPr sz="1800" dirty="0">
                <a:solidFill>
                  <a:schemeClr val="bg1"/>
                </a:solidFill>
                <a:latin typeface="Calibri"/>
                <a:cs typeface="Calibri"/>
              </a:rPr>
              <a:t>Indonesia,</a:t>
            </a:r>
            <a:r>
              <a:rPr sz="1800" spc="-70" dirty="0">
                <a:solidFill>
                  <a:schemeClr val="bg1"/>
                </a:solidFill>
                <a:latin typeface="Calibri"/>
                <a:cs typeface="Calibri"/>
              </a:rPr>
              <a:t> </a:t>
            </a:r>
            <a:r>
              <a:rPr sz="1800" dirty="0">
                <a:solidFill>
                  <a:schemeClr val="bg1"/>
                </a:solidFill>
                <a:latin typeface="Calibri"/>
                <a:cs typeface="Calibri"/>
              </a:rPr>
              <a:t>Canada,</a:t>
            </a:r>
            <a:r>
              <a:rPr sz="1800" spc="-65" dirty="0">
                <a:solidFill>
                  <a:schemeClr val="bg1"/>
                </a:solidFill>
                <a:latin typeface="Calibri"/>
                <a:cs typeface="Calibri"/>
              </a:rPr>
              <a:t> </a:t>
            </a:r>
            <a:r>
              <a:rPr sz="1800" spc="-25" dirty="0">
                <a:solidFill>
                  <a:schemeClr val="bg1"/>
                </a:solidFill>
                <a:latin typeface="Calibri"/>
                <a:cs typeface="Calibri"/>
              </a:rPr>
              <a:t>New </a:t>
            </a:r>
            <a:r>
              <a:rPr sz="1800" dirty="0">
                <a:solidFill>
                  <a:schemeClr val="bg1"/>
                </a:solidFill>
                <a:latin typeface="Calibri"/>
                <a:cs typeface="Calibri"/>
              </a:rPr>
              <a:t>Zealand,</a:t>
            </a:r>
            <a:r>
              <a:rPr sz="1800" spc="-80" dirty="0">
                <a:solidFill>
                  <a:schemeClr val="bg1"/>
                </a:solidFill>
                <a:latin typeface="Calibri"/>
                <a:cs typeface="Calibri"/>
              </a:rPr>
              <a:t> </a:t>
            </a:r>
            <a:r>
              <a:rPr sz="1800" dirty="0">
                <a:solidFill>
                  <a:schemeClr val="bg1"/>
                </a:solidFill>
                <a:latin typeface="Calibri"/>
                <a:cs typeface="Calibri"/>
              </a:rPr>
              <a:t>Brazil,</a:t>
            </a:r>
            <a:r>
              <a:rPr sz="1800" spc="-65" dirty="0">
                <a:solidFill>
                  <a:schemeClr val="bg1"/>
                </a:solidFill>
                <a:latin typeface="Calibri"/>
                <a:cs typeface="Calibri"/>
              </a:rPr>
              <a:t> </a:t>
            </a:r>
            <a:r>
              <a:rPr sz="1800" spc="-10" dirty="0">
                <a:solidFill>
                  <a:schemeClr val="bg1"/>
                </a:solidFill>
                <a:latin typeface="Calibri"/>
                <a:cs typeface="Calibri"/>
              </a:rPr>
              <a:t>Singapore,</a:t>
            </a:r>
            <a:r>
              <a:rPr sz="1800" spc="-60" dirty="0">
                <a:solidFill>
                  <a:schemeClr val="bg1"/>
                </a:solidFill>
                <a:latin typeface="Calibri"/>
                <a:cs typeface="Calibri"/>
              </a:rPr>
              <a:t> </a:t>
            </a:r>
            <a:r>
              <a:rPr sz="1800" dirty="0">
                <a:solidFill>
                  <a:schemeClr val="bg1"/>
                </a:solidFill>
                <a:latin typeface="Calibri"/>
                <a:cs typeface="Calibri"/>
              </a:rPr>
              <a:t>Sri</a:t>
            </a:r>
            <a:r>
              <a:rPr sz="1800" spc="-65" dirty="0">
                <a:solidFill>
                  <a:schemeClr val="bg1"/>
                </a:solidFill>
                <a:latin typeface="Calibri"/>
                <a:cs typeface="Calibri"/>
              </a:rPr>
              <a:t> </a:t>
            </a:r>
            <a:r>
              <a:rPr sz="1800" dirty="0">
                <a:solidFill>
                  <a:schemeClr val="bg1"/>
                </a:solidFill>
                <a:latin typeface="Calibri"/>
                <a:cs typeface="Calibri"/>
              </a:rPr>
              <a:t>Lanka</a:t>
            </a:r>
            <a:r>
              <a:rPr sz="1800" spc="-60" dirty="0">
                <a:solidFill>
                  <a:schemeClr val="bg1"/>
                </a:solidFill>
                <a:latin typeface="Calibri"/>
                <a:cs typeface="Calibri"/>
              </a:rPr>
              <a:t> </a:t>
            </a:r>
            <a:r>
              <a:rPr sz="1800" spc="-45" dirty="0">
                <a:solidFill>
                  <a:schemeClr val="bg1"/>
                </a:solidFill>
                <a:latin typeface="Calibri"/>
                <a:cs typeface="Calibri"/>
              </a:rPr>
              <a:t>Turkey,</a:t>
            </a:r>
            <a:r>
              <a:rPr sz="1800" spc="-60" dirty="0">
                <a:solidFill>
                  <a:schemeClr val="bg1"/>
                </a:solidFill>
                <a:latin typeface="Calibri"/>
                <a:cs typeface="Calibri"/>
              </a:rPr>
              <a:t> </a:t>
            </a:r>
            <a:r>
              <a:rPr sz="1800" dirty="0">
                <a:solidFill>
                  <a:schemeClr val="bg1"/>
                </a:solidFill>
                <a:latin typeface="Calibri"/>
                <a:cs typeface="Calibri"/>
              </a:rPr>
              <a:t>United</a:t>
            </a:r>
            <a:r>
              <a:rPr sz="1800" spc="-55" dirty="0">
                <a:solidFill>
                  <a:schemeClr val="bg1"/>
                </a:solidFill>
                <a:latin typeface="Calibri"/>
                <a:cs typeface="Calibri"/>
              </a:rPr>
              <a:t> </a:t>
            </a:r>
            <a:r>
              <a:rPr sz="1800" spc="-10" dirty="0">
                <a:solidFill>
                  <a:schemeClr val="bg1"/>
                </a:solidFill>
                <a:latin typeface="Calibri"/>
                <a:cs typeface="Calibri"/>
              </a:rPr>
              <a:t>States.</a:t>
            </a:r>
            <a:endParaRPr sz="1800" dirty="0">
              <a:solidFill>
                <a:schemeClr val="bg1"/>
              </a:solidFill>
              <a:latin typeface="Calibri"/>
              <a:cs typeface="Calibri"/>
            </a:endParaRPr>
          </a:p>
          <a:p>
            <a:pPr marL="298450" marR="5080" indent="-285750">
              <a:lnSpc>
                <a:spcPct val="100000"/>
              </a:lnSpc>
              <a:buFont typeface="Arial" panose="020B0604020202020204" pitchFamily="34" charset="0"/>
              <a:buChar char="•"/>
            </a:pPr>
            <a:r>
              <a:rPr sz="1800" dirty="0">
                <a:solidFill>
                  <a:schemeClr val="bg1"/>
                </a:solidFill>
                <a:latin typeface="Calibri"/>
                <a:cs typeface="Calibri"/>
              </a:rPr>
              <a:t>In</a:t>
            </a:r>
            <a:r>
              <a:rPr sz="1800" spc="-45" dirty="0">
                <a:solidFill>
                  <a:schemeClr val="bg1"/>
                </a:solidFill>
                <a:latin typeface="Calibri"/>
                <a:cs typeface="Calibri"/>
              </a:rPr>
              <a:t> </a:t>
            </a:r>
            <a:r>
              <a:rPr sz="1800" dirty="0">
                <a:solidFill>
                  <a:schemeClr val="bg1"/>
                </a:solidFill>
                <a:latin typeface="Calibri"/>
                <a:cs typeface="Calibri"/>
              </a:rPr>
              <a:t>the</a:t>
            </a:r>
            <a:r>
              <a:rPr sz="1800" spc="-40" dirty="0">
                <a:solidFill>
                  <a:schemeClr val="bg1"/>
                </a:solidFill>
                <a:latin typeface="Calibri"/>
                <a:cs typeface="Calibri"/>
              </a:rPr>
              <a:t> </a:t>
            </a:r>
            <a:r>
              <a:rPr sz="1800" dirty="0">
                <a:solidFill>
                  <a:schemeClr val="bg1"/>
                </a:solidFill>
                <a:latin typeface="Calibri"/>
                <a:cs typeface="Calibri"/>
              </a:rPr>
              <a:t>year</a:t>
            </a:r>
            <a:r>
              <a:rPr sz="1800" spc="-40" dirty="0">
                <a:solidFill>
                  <a:schemeClr val="bg1"/>
                </a:solidFill>
                <a:latin typeface="Calibri"/>
                <a:cs typeface="Calibri"/>
              </a:rPr>
              <a:t> </a:t>
            </a:r>
            <a:r>
              <a:rPr sz="1800" dirty="0">
                <a:solidFill>
                  <a:schemeClr val="bg1"/>
                </a:solidFill>
                <a:latin typeface="Calibri"/>
                <a:cs typeface="Calibri"/>
              </a:rPr>
              <a:t>2018</a:t>
            </a:r>
            <a:r>
              <a:rPr sz="1800" spc="-40" dirty="0">
                <a:solidFill>
                  <a:schemeClr val="bg1"/>
                </a:solidFill>
                <a:latin typeface="Calibri"/>
                <a:cs typeface="Calibri"/>
              </a:rPr>
              <a:t> </a:t>
            </a:r>
            <a:r>
              <a:rPr sz="1800" dirty="0">
                <a:solidFill>
                  <a:schemeClr val="bg1"/>
                </a:solidFill>
                <a:latin typeface="Calibri"/>
                <a:cs typeface="Calibri"/>
              </a:rPr>
              <a:t>most</a:t>
            </a:r>
            <a:r>
              <a:rPr sz="1800" spc="-45" dirty="0">
                <a:solidFill>
                  <a:schemeClr val="bg1"/>
                </a:solidFill>
                <a:latin typeface="Calibri"/>
                <a:cs typeface="Calibri"/>
              </a:rPr>
              <a:t> </a:t>
            </a:r>
            <a:r>
              <a:rPr sz="1800" spc="-20" dirty="0">
                <a:solidFill>
                  <a:schemeClr val="bg1"/>
                </a:solidFill>
                <a:latin typeface="Calibri"/>
                <a:cs typeface="Calibri"/>
              </a:rPr>
              <a:t>restaurants</a:t>
            </a:r>
            <a:r>
              <a:rPr sz="1800" spc="-40" dirty="0">
                <a:solidFill>
                  <a:schemeClr val="bg1"/>
                </a:solidFill>
                <a:latin typeface="Calibri"/>
                <a:cs typeface="Calibri"/>
              </a:rPr>
              <a:t> </a:t>
            </a:r>
            <a:r>
              <a:rPr sz="1800" dirty="0">
                <a:solidFill>
                  <a:schemeClr val="bg1"/>
                </a:solidFill>
                <a:latin typeface="Calibri"/>
                <a:cs typeface="Calibri"/>
              </a:rPr>
              <a:t>were</a:t>
            </a:r>
            <a:r>
              <a:rPr sz="1800" spc="-40" dirty="0">
                <a:solidFill>
                  <a:schemeClr val="bg1"/>
                </a:solidFill>
                <a:latin typeface="Calibri"/>
                <a:cs typeface="Calibri"/>
              </a:rPr>
              <a:t> </a:t>
            </a:r>
            <a:r>
              <a:rPr sz="1800" dirty="0">
                <a:solidFill>
                  <a:schemeClr val="bg1"/>
                </a:solidFill>
                <a:latin typeface="Calibri"/>
                <a:cs typeface="Calibri"/>
              </a:rPr>
              <a:t>opened</a:t>
            </a:r>
            <a:r>
              <a:rPr sz="1800" spc="-45" dirty="0">
                <a:solidFill>
                  <a:schemeClr val="bg1"/>
                </a:solidFill>
                <a:latin typeface="Calibri"/>
                <a:cs typeface="Calibri"/>
              </a:rPr>
              <a:t> </a:t>
            </a:r>
            <a:r>
              <a:rPr sz="1800" dirty="0">
                <a:solidFill>
                  <a:schemeClr val="bg1"/>
                </a:solidFill>
                <a:latin typeface="Calibri"/>
                <a:cs typeface="Calibri"/>
              </a:rPr>
              <a:t>(i.e</a:t>
            </a:r>
            <a:r>
              <a:rPr sz="1800" spc="-40" dirty="0">
                <a:solidFill>
                  <a:schemeClr val="bg1"/>
                </a:solidFill>
                <a:latin typeface="Calibri"/>
                <a:cs typeface="Calibri"/>
              </a:rPr>
              <a:t> </a:t>
            </a:r>
            <a:r>
              <a:rPr sz="1800" spc="-10" dirty="0">
                <a:solidFill>
                  <a:schemeClr val="bg1"/>
                </a:solidFill>
                <a:latin typeface="Calibri"/>
                <a:cs typeface="Calibri"/>
              </a:rPr>
              <a:t>1102)whereas</a:t>
            </a:r>
            <a:r>
              <a:rPr sz="1800" spc="-35" dirty="0">
                <a:solidFill>
                  <a:schemeClr val="bg1"/>
                </a:solidFill>
                <a:latin typeface="Calibri"/>
                <a:cs typeface="Calibri"/>
              </a:rPr>
              <a:t> </a:t>
            </a:r>
            <a:r>
              <a:rPr sz="1800" dirty="0">
                <a:solidFill>
                  <a:schemeClr val="bg1"/>
                </a:solidFill>
                <a:latin typeface="Calibri"/>
                <a:cs typeface="Calibri"/>
              </a:rPr>
              <a:t>least</a:t>
            </a:r>
            <a:r>
              <a:rPr sz="1800" spc="-40" dirty="0">
                <a:solidFill>
                  <a:schemeClr val="bg1"/>
                </a:solidFill>
                <a:latin typeface="Calibri"/>
                <a:cs typeface="Calibri"/>
              </a:rPr>
              <a:t> </a:t>
            </a:r>
            <a:r>
              <a:rPr sz="1800" spc="-10" dirty="0">
                <a:solidFill>
                  <a:schemeClr val="bg1"/>
                </a:solidFill>
                <a:latin typeface="Calibri"/>
                <a:cs typeface="Calibri"/>
              </a:rPr>
              <a:t>restaurants</a:t>
            </a:r>
            <a:r>
              <a:rPr sz="1800" spc="-35" dirty="0">
                <a:solidFill>
                  <a:schemeClr val="bg1"/>
                </a:solidFill>
                <a:latin typeface="Calibri"/>
                <a:cs typeface="Calibri"/>
              </a:rPr>
              <a:t> </a:t>
            </a:r>
            <a:r>
              <a:rPr sz="1800" dirty="0">
                <a:solidFill>
                  <a:schemeClr val="bg1"/>
                </a:solidFill>
                <a:latin typeface="Calibri"/>
                <a:cs typeface="Calibri"/>
              </a:rPr>
              <a:t>opened</a:t>
            </a:r>
            <a:r>
              <a:rPr sz="1800" spc="-45" dirty="0">
                <a:solidFill>
                  <a:schemeClr val="bg1"/>
                </a:solidFill>
                <a:latin typeface="Calibri"/>
                <a:cs typeface="Calibri"/>
              </a:rPr>
              <a:t> </a:t>
            </a:r>
            <a:r>
              <a:rPr sz="1800" dirty="0">
                <a:solidFill>
                  <a:schemeClr val="bg1"/>
                </a:solidFill>
                <a:latin typeface="Calibri"/>
                <a:cs typeface="Calibri"/>
              </a:rPr>
              <a:t>in</a:t>
            </a:r>
            <a:r>
              <a:rPr sz="1800" spc="-40" dirty="0">
                <a:solidFill>
                  <a:schemeClr val="bg1"/>
                </a:solidFill>
                <a:latin typeface="Calibri"/>
                <a:cs typeface="Calibri"/>
              </a:rPr>
              <a:t> </a:t>
            </a:r>
            <a:r>
              <a:rPr sz="1800" dirty="0">
                <a:solidFill>
                  <a:schemeClr val="bg1"/>
                </a:solidFill>
                <a:latin typeface="Calibri"/>
                <a:cs typeface="Calibri"/>
              </a:rPr>
              <a:t>the</a:t>
            </a:r>
            <a:r>
              <a:rPr sz="1800" spc="-45" dirty="0">
                <a:solidFill>
                  <a:schemeClr val="bg1"/>
                </a:solidFill>
                <a:latin typeface="Calibri"/>
                <a:cs typeface="Calibri"/>
              </a:rPr>
              <a:t> </a:t>
            </a:r>
            <a:r>
              <a:rPr sz="1800" spc="-20" dirty="0">
                <a:solidFill>
                  <a:schemeClr val="bg1"/>
                </a:solidFill>
                <a:latin typeface="Calibri"/>
                <a:cs typeface="Calibri"/>
              </a:rPr>
              <a:t>year </a:t>
            </a:r>
            <a:r>
              <a:rPr sz="1800" spc="-10" dirty="0">
                <a:solidFill>
                  <a:schemeClr val="bg1"/>
                </a:solidFill>
                <a:latin typeface="Calibri"/>
                <a:cs typeface="Calibri"/>
              </a:rPr>
              <a:t>2012(1022)</a:t>
            </a:r>
            <a:endParaRPr sz="1800" dirty="0">
              <a:solidFill>
                <a:schemeClr val="bg1"/>
              </a:solidFill>
              <a:latin typeface="Calibri"/>
              <a:cs typeface="Calibri"/>
            </a:endParaRPr>
          </a:p>
          <a:p>
            <a:pPr marL="298450" indent="-285750">
              <a:lnSpc>
                <a:spcPct val="100000"/>
              </a:lnSpc>
              <a:buFont typeface="Arial" panose="020B0604020202020204" pitchFamily="34" charset="0"/>
              <a:buChar char="•"/>
            </a:pPr>
            <a:r>
              <a:rPr sz="1800" dirty="0">
                <a:solidFill>
                  <a:schemeClr val="bg1"/>
                </a:solidFill>
                <a:latin typeface="Calibri"/>
                <a:cs typeface="Calibri"/>
              </a:rPr>
              <a:t>New</a:t>
            </a:r>
            <a:r>
              <a:rPr sz="1800" spc="-40" dirty="0">
                <a:solidFill>
                  <a:schemeClr val="bg1"/>
                </a:solidFill>
                <a:latin typeface="Calibri"/>
                <a:cs typeface="Calibri"/>
              </a:rPr>
              <a:t> </a:t>
            </a:r>
            <a:r>
              <a:rPr sz="1800" dirty="0">
                <a:solidFill>
                  <a:schemeClr val="bg1"/>
                </a:solidFill>
                <a:latin typeface="Calibri"/>
                <a:cs typeface="Calibri"/>
              </a:rPr>
              <a:t>Delhi</a:t>
            </a:r>
            <a:r>
              <a:rPr sz="1800" spc="-35" dirty="0">
                <a:solidFill>
                  <a:schemeClr val="bg1"/>
                </a:solidFill>
                <a:latin typeface="Calibri"/>
                <a:cs typeface="Calibri"/>
              </a:rPr>
              <a:t> </a:t>
            </a:r>
            <a:r>
              <a:rPr sz="1800" dirty="0">
                <a:solidFill>
                  <a:schemeClr val="bg1"/>
                </a:solidFill>
                <a:latin typeface="Calibri"/>
                <a:cs typeface="Calibri"/>
              </a:rPr>
              <a:t>has</a:t>
            </a:r>
            <a:r>
              <a:rPr sz="1800" spc="-25" dirty="0">
                <a:solidFill>
                  <a:schemeClr val="bg1"/>
                </a:solidFill>
                <a:latin typeface="Calibri"/>
                <a:cs typeface="Calibri"/>
              </a:rPr>
              <a:t> </a:t>
            </a:r>
            <a:r>
              <a:rPr sz="1800" dirty="0">
                <a:solidFill>
                  <a:schemeClr val="bg1"/>
                </a:solidFill>
                <a:latin typeface="Calibri"/>
                <a:cs typeface="Calibri"/>
              </a:rPr>
              <a:t>the</a:t>
            </a:r>
            <a:r>
              <a:rPr sz="1800" spc="-25" dirty="0">
                <a:solidFill>
                  <a:schemeClr val="bg1"/>
                </a:solidFill>
                <a:latin typeface="Calibri"/>
                <a:cs typeface="Calibri"/>
              </a:rPr>
              <a:t> </a:t>
            </a:r>
            <a:r>
              <a:rPr sz="1800" dirty="0">
                <a:solidFill>
                  <a:schemeClr val="bg1"/>
                </a:solidFill>
                <a:latin typeface="Calibri"/>
                <a:cs typeface="Calibri"/>
              </a:rPr>
              <a:t>most</a:t>
            </a:r>
            <a:r>
              <a:rPr sz="1800" spc="-35" dirty="0">
                <a:solidFill>
                  <a:schemeClr val="bg1"/>
                </a:solidFill>
                <a:latin typeface="Calibri"/>
                <a:cs typeface="Calibri"/>
              </a:rPr>
              <a:t> </a:t>
            </a:r>
            <a:r>
              <a:rPr sz="1800" spc="-20" dirty="0">
                <a:solidFill>
                  <a:schemeClr val="bg1"/>
                </a:solidFill>
                <a:latin typeface="Calibri"/>
                <a:cs typeface="Calibri"/>
              </a:rPr>
              <a:t>restaurant</a:t>
            </a:r>
            <a:r>
              <a:rPr sz="1800" spc="-30" dirty="0">
                <a:solidFill>
                  <a:schemeClr val="bg1"/>
                </a:solidFill>
                <a:latin typeface="Calibri"/>
                <a:cs typeface="Calibri"/>
              </a:rPr>
              <a:t> </a:t>
            </a:r>
            <a:r>
              <a:rPr sz="1800" spc="-20" dirty="0">
                <a:solidFill>
                  <a:schemeClr val="bg1"/>
                </a:solidFill>
                <a:latin typeface="Calibri"/>
                <a:cs typeface="Calibri"/>
              </a:rPr>
              <a:t>5473</a:t>
            </a:r>
            <a:endParaRPr sz="1800" dirty="0">
              <a:solidFill>
                <a:schemeClr val="bg1"/>
              </a:solidFill>
              <a:latin typeface="Calibri"/>
              <a:cs typeface="Calibri"/>
            </a:endParaRPr>
          </a:p>
        </p:txBody>
      </p:sp>
      <p:pic>
        <p:nvPicPr>
          <p:cNvPr id="6" name="object 6"/>
          <p:cNvPicPr/>
          <p:nvPr/>
        </p:nvPicPr>
        <p:blipFill>
          <a:blip r:embed="rId2" cstate="print"/>
          <a:stretch>
            <a:fillRect/>
          </a:stretch>
        </p:blipFill>
        <p:spPr>
          <a:xfrm>
            <a:off x="1051915" y="2106358"/>
            <a:ext cx="6210719" cy="34120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09917" y="1267193"/>
            <a:ext cx="5077802" cy="2586964"/>
          </a:xfrm>
          <a:prstGeom prst="rect">
            <a:avLst/>
          </a:prstGeom>
        </p:spPr>
      </p:pic>
      <p:sp>
        <p:nvSpPr>
          <p:cNvPr id="3" name="object 3"/>
          <p:cNvSpPr txBox="1"/>
          <p:nvPr/>
        </p:nvSpPr>
        <p:spPr>
          <a:xfrm>
            <a:off x="119278" y="98894"/>
            <a:ext cx="6524625" cy="5868273"/>
          </a:xfrm>
          <a:prstGeom prst="rect">
            <a:avLst/>
          </a:prstGeom>
        </p:spPr>
        <p:txBody>
          <a:bodyPr vert="horz" wrap="square" lIns="0" tIns="12700" rIns="0" bIns="0" rtlCol="0">
            <a:spAutoFit/>
          </a:bodyPr>
          <a:lstStyle/>
          <a:p>
            <a:pPr marL="76200">
              <a:lnSpc>
                <a:spcPct val="100000"/>
              </a:lnSpc>
              <a:spcBef>
                <a:spcPts val="100"/>
              </a:spcBef>
            </a:pPr>
            <a:r>
              <a:rPr sz="1800" b="1" dirty="0">
                <a:solidFill>
                  <a:schemeClr val="bg1"/>
                </a:solidFill>
                <a:latin typeface="Arial"/>
                <a:cs typeface="Arial"/>
              </a:rPr>
              <a:t>Highest</a:t>
            </a:r>
            <a:r>
              <a:rPr sz="1800" b="1" spc="-30" dirty="0">
                <a:solidFill>
                  <a:schemeClr val="bg1"/>
                </a:solidFill>
                <a:latin typeface="Arial"/>
                <a:cs typeface="Arial"/>
              </a:rPr>
              <a:t> </a:t>
            </a:r>
            <a:r>
              <a:rPr sz="1800" b="1" dirty="0">
                <a:solidFill>
                  <a:schemeClr val="bg1"/>
                </a:solidFill>
                <a:latin typeface="Arial"/>
                <a:cs typeface="Arial"/>
              </a:rPr>
              <a:t>count</a:t>
            </a:r>
            <a:r>
              <a:rPr sz="1800" b="1" spc="-25" dirty="0">
                <a:solidFill>
                  <a:schemeClr val="bg1"/>
                </a:solidFill>
                <a:latin typeface="Arial"/>
                <a:cs typeface="Arial"/>
              </a:rPr>
              <a:t> </a:t>
            </a:r>
            <a:r>
              <a:rPr sz="1800" b="1" dirty="0">
                <a:solidFill>
                  <a:schemeClr val="bg1"/>
                </a:solidFill>
                <a:latin typeface="Arial"/>
                <a:cs typeface="Arial"/>
              </a:rPr>
              <a:t>at</a:t>
            </a:r>
            <a:r>
              <a:rPr sz="1800" b="1" spc="-25" dirty="0">
                <a:solidFill>
                  <a:schemeClr val="bg1"/>
                </a:solidFill>
                <a:latin typeface="Arial"/>
                <a:cs typeface="Arial"/>
              </a:rPr>
              <a:t> </a:t>
            </a:r>
            <a:r>
              <a:rPr sz="1800" b="1" dirty="0">
                <a:solidFill>
                  <a:schemeClr val="bg1"/>
                </a:solidFill>
                <a:latin typeface="Arial"/>
                <a:cs typeface="Arial"/>
              </a:rPr>
              <a:t>Rating</a:t>
            </a:r>
            <a:r>
              <a:rPr sz="1800" b="1" spc="-25" dirty="0">
                <a:solidFill>
                  <a:schemeClr val="bg1"/>
                </a:solidFill>
                <a:latin typeface="Arial"/>
                <a:cs typeface="Arial"/>
              </a:rPr>
              <a:t> </a:t>
            </a:r>
            <a:r>
              <a:rPr sz="1800" b="1" dirty="0">
                <a:solidFill>
                  <a:schemeClr val="bg1"/>
                </a:solidFill>
                <a:latin typeface="Arial"/>
                <a:cs typeface="Arial"/>
              </a:rPr>
              <a:t>1</a:t>
            </a:r>
            <a:r>
              <a:rPr sz="1800" b="1" spc="-25" dirty="0">
                <a:solidFill>
                  <a:schemeClr val="bg1"/>
                </a:solidFill>
                <a:latin typeface="Arial"/>
                <a:cs typeface="Arial"/>
              </a:rPr>
              <a:t> </a:t>
            </a:r>
            <a:r>
              <a:rPr sz="1800" b="1" dirty="0">
                <a:solidFill>
                  <a:schemeClr val="bg1"/>
                </a:solidFill>
                <a:latin typeface="Arial"/>
                <a:cs typeface="Arial"/>
              </a:rPr>
              <a:t>(2.1K</a:t>
            </a:r>
            <a:r>
              <a:rPr sz="1800" b="1" spc="-25" dirty="0">
                <a:solidFill>
                  <a:schemeClr val="bg1"/>
                </a:solidFill>
                <a:latin typeface="Arial"/>
                <a:cs typeface="Arial"/>
              </a:rPr>
              <a:t> </a:t>
            </a:r>
            <a:r>
              <a:rPr sz="1800" b="1" spc="-10" dirty="0">
                <a:solidFill>
                  <a:schemeClr val="bg1"/>
                </a:solidFill>
                <a:latin typeface="Arial"/>
                <a:cs typeface="Arial"/>
              </a:rPr>
              <a:t>restaurants)</a:t>
            </a:r>
            <a:endParaRPr sz="1800" dirty="0">
              <a:solidFill>
                <a:schemeClr val="bg1"/>
              </a:solidFill>
              <a:latin typeface="Arial"/>
              <a:cs typeface="Arial"/>
            </a:endParaRPr>
          </a:p>
          <a:p>
            <a:pPr marL="156210" indent="-92075">
              <a:lnSpc>
                <a:spcPct val="100000"/>
              </a:lnSpc>
              <a:buSzPct val="94444"/>
              <a:buChar char="•"/>
              <a:tabLst>
                <a:tab pos="156210" algn="l"/>
              </a:tabLst>
            </a:pPr>
            <a:r>
              <a:rPr sz="1800" dirty="0">
                <a:solidFill>
                  <a:schemeClr val="bg1"/>
                </a:solidFill>
                <a:latin typeface="Arial MT"/>
                <a:cs typeface="Arial MT"/>
              </a:rPr>
              <a:t>A</a:t>
            </a:r>
            <a:r>
              <a:rPr sz="1800" spc="-135" dirty="0">
                <a:solidFill>
                  <a:schemeClr val="bg1"/>
                </a:solidFill>
                <a:latin typeface="Arial MT"/>
                <a:cs typeface="Arial MT"/>
              </a:rPr>
              <a:t> </a:t>
            </a:r>
            <a:r>
              <a:rPr sz="1800" dirty="0">
                <a:solidFill>
                  <a:schemeClr val="bg1"/>
                </a:solidFill>
                <a:latin typeface="Arial MT"/>
                <a:cs typeface="Arial MT"/>
              </a:rPr>
              <a:t>significant</a:t>
            </a:r>
            <a:r>
              <a:rPr sz="1800" spc="-45" dirty="0">
                <a:solidFill>
                  <a:schemeClr val="bg1"/>
                </a:solidFill>
                <a:latin typeface="Arial MT"/>
                <a:cs typeface="Arial MT"/>
              </a:rPr>
              <a:t> </a:t>
            </a:r>
            <a:r>
              <a:rPr sz="1800" dirty="0">
                <a:solidFill>
                  <a:schemeClr val="bg1"/>
                </a:solidFill>
                <a:latin typeface="Arial MT"/>
                <a:cs typeface="Arial MT"/>
              </a:rPr>
              <a:t>number</a:t>
            </a:r>
            <a:r>
              <a:rPr sz="1800" spc="-30" dirty="0">
                <a:solidFill>
                  <a:schemeClr val="bg1"/>
                </a:solidFill>
                <a:latin typeface="Arial MT"/>
                <a:cs typeface="Arial MT"/>
              </a:rPr>
              <a:t> </a:t>
            </a:r>
            <a:r>
              <a:rPr sz="1800" dirty="0">
                <a:solidFill>
                  <a:schemeClr val="bg1"/>
                </a:solidFill>
                <a:latin typeface="Arial MT"/>
                <a:cs typeface="Arial MT"/>
              </a:rPr>
              <a:t>of</a:t>
            </a:r>
            <a:r>
              <a:rPr sz="1800" spc="-35" dirty="0">
                <a:solidFill>
                  <a:schemeClr val="bg1"/>
                </a:solidFill>
                <a:latin typeface="Arial MT"/>
                <a:cs typeface="Arial MT"/>
              </a:rPr>
              <a:t> </a:t>
            </a:r>
            <a:r>
              <a:rPr sz="1800" dirty="0">
                <a:solidFill>
                  <a:schemeClr val="bg1"/>
                </a:solidFill>
                <a:latin typeface="Arial MT"/>
                <a:cs typeface="Arial MT"/>
              </a:rPr>
              <a:t>restaurants</a:t>
            </a:r>
            <a:r>
              <a:rPr sz="1800" spc="-40" dirty="0">
                <a:solidFill>
                  <a:schemeClr val="bg1"/>
                </a:solidFill>
                <a:latin typeface="Arial MT"/>
                <a:cs typeface="Arial MT"/>
              </a:rPr>
              <a:t> </a:t>
            </a:r>
            <a:r>
              <a:rPr sz="1800" dirty="0">
                <a:solidFill>
                  <a:schemeClr val="bg1"/>
                </a:solidFill>
                <a:latin typeface="Arial MT"/>
                <a:cs typeface="Arial MT"/>
              </a:rPr>
              <a:t>received</a:t>
            </a:r>
            <a:r>
              <a:rPr sz="1800" spc="-45" dirty="0">
                <a:solidFill>
                  <a:schemeClr val="bg1"/>
                </a:solidFill>
                <a:latin typeface="Arial MT"/>
                <a:cs typeface="Arial MT"/>
              </a:rPr>
              <a:t> </a:t>
            </a:r>
            <a:r>
              <a:rPr sz="1800" dirty="0">
                <a:solidFill>
                  <a:schemeClr val="bg1"/>
                </a:solidFill>
                <a:latin typeface="Arial MT"/>
                <a:cs typeface="Arial MT"/>
              </a:rPr>
              <a:t>the</a:t>
            </a:r>
            <a:r>
              <a:rPr sz="1800" spc="-40" dirty="0">
                <a:solidFill>
                  <a:schemeClr val="bg1"/>
                </a:solidFill>
                <a:latin typeface="Arial MT"/>
                <a:cs typeface="Arial MT"/>
              </a:rPr>
              <a:t> </a:t>
            </a:r>
            <a:r>
              <a:rPr sz="1800" dirty="0">
                <a:solidFill>
                  <a:schemeClr val="bg1"/>
                </a:solidFill>
                <a:latin typeface="Arial MT"/>
                <a:cs typeface="Arial MT"/>
              </a:rPr>
              <a:t>lowest</a:t>
            </a:r>
            <a:r>
              <a:rPr sz="1800" spc="-30" dirty="0">
                <a:solidFill>
                  <a:schemeClr val="bg1"/>
                </a:solidFill>
                <a:latin typeface="Arial MT"/>
                <a:cs typeface="Arial MT"/>
              </a:rPr>
              <a:t> </a:t>
            </a:r>
            <a:r>
              <a:rPr sz="1800" spc="-10" dirty="0">
                <a:solidFill>
                  <a:schemeClr val="bg1"/>
                </a:solidFill>
                <a:latin typeface="Arial MT"/>
                <a:cs typeface="Arial MT"/>
              </a:rPr>
              <a:t>rating.</a:t>
            </a:r>
            <a:endParaRPr sz="1800" dirty="0">
              <a:solidFill>
                <a:schemeClr val="bg1"/>
              </a:solidFill>
              <a:latin typeface="Arial MT"/>
              <a:cs typeface="Arial MT"/>
            </a:endParaRPr>
          </a:p>
          <a:p>
            <a:pPr marL="76200" marR="327025" indent="-12065">
              <a:lnSpc>
                <a:spcPct val="100000"/>
              </a:lnSpc>
              <a:buSzPct val="94444"/>
              <a:buChar char="•"/>
              <a:tabLst>
                <a:tab pos="156210" algn="l"/>
              </a:tabLst>
            </a:pPr>
            <a:r>
              <a:rPr sz="1800" dirty="0">
                <a:solidFill>
                  <a:schemeClr val="bg1"/>
                </a:solidFill>
                <a:latin typeface="Arial MT"/>
                <a:cs typeface="Arial MT"/>
              </a:rPr>
              <a:t>	This</a:t>
            </a:r>
            <a:r>
              <a:rPr sz="1800" spc="-35" dirty="0">
                <a:solidFill>
                  <a:schemeClr val="bg1"/>
                </a:solidFill>
                <a:latin typeface="Arial MT"/>
                <a:cs typeface="Arial MT"/>
              </a:rPr>
              <a:t> </a:t>
            </a:r>
            <a:r>
              <a:rPr sz="1800" dirty="0">
                <a:solidFill>
                  <a:schemeClr val="bg1"/>
                </a:solidFill>
                <a:latin typeface="Arial MT"/>
                <a:cs typeface="Arial MT"/>
              </a:rPr>
              <a:t>could</a:t>
            </a:r>
            <a:r>
              <a:rPr sz="1800" spc="-45" dirty="0">
                <a:solidFill>
                  <a:schemeClr val="bg1"/>
                </a:solidFill>
                <a:latin typeface="Arial MT"/>
                <a:cs typeface="Arial MT"/>
              </a:rPr>
              <a:t> </a:t>
            </a:r>
            <a:r>
              <a:rPr sz="1800" dirty="0">
                <a:solidFill>
                  <a:schemeClr val="bg1"/>
                </a:solidFill>
                <a:latin typeface="Arial MT"/>
                <a:cs typeface="Arial MT"/>
              </a:rPr>
              <a:t>indicate</a:t>
            </a:r>
            <a:r>
              <a:rPr sz="1800" spc="-45" dirty="0">
                <a:solidFill>
                  <a:schemeClr val="bg1"/>
                </a:solidFill>
                <a:latin typeface="Arial MT"/>
                <a:cs typeface="Arial MT"/>
              </a:rPr>
              <a:t> </a:t>
            </a:r>
            <a:r>
              <a:rPr sz="1800" dirty="0">
                <a:solidFill>
                  <a:schemeClr val="bg1"/>
                </a:solidFill>
                <a:latin typeface="Arial MT"/>
                <a:cs typeface="Arial MT"/>
              </a:rPr>
              <a:t>dissatisfaction,</a:t>
            </a:r>
            <a:r>
              <a:rPr sz="1800" spc="-35" dirty="0">
                <a:solidFill>
                  <a:schemeClr val="bg1"/>
                </a:solidFill>
                <a:latin typeface="Arial MT"/>
                <a:cs typeface="Arial MT"/>
              </a:rPr>
              <a:t> </a:t>
            </a:r>
            <a:r>
              <a:rPr sz="1800" dirty="0">
                <a:solidFill>
                  <a:schemeClr val="bg1"/>
                </a:solidFill>
                <a:latin typeface="Arial MT"/>
                <a:cs typeface="Arial MT"/>
              </a:rPr>
              <a:t>poor</a:t>
            </a:r>
            <a:r>
              <a:rPr sz="1800" spc="-35" dirty="0">
                <a:solidFill>
                  <a:schemeClr val="bg1"/>
                </a:solidFill>
                <a:latin typeface="Arial MT"/>
                <a:cs typeface="Arial MT"/>
              </a:rPr>
              <a:t> </a:t>
            </a:r>
            <a:r>
              <a:rPr sz="1800" dirty="0">
                <a:solidFill>
                  <a:schemeClr val="bg1"/>
                </a:solidFill>
                <a:latin typeface="Arial MT"/>
                <a:cs typeface="Arial MT"/>
              </a:rPr>
              <a:t>service,</a:t>
            </a:r>
            <a:r>
              <a:rPr sz="1800" spc="-30" dirty="0">
                <a:solidFill>
                  <a:schemeClr val="bg1"/>
                </a:solidFill>
                <a:latin typeface="Arial MT"/>
                <a:cs typeface="Arial MT"/>
              </a:rPr>
              <a:t> </a:t>
            </a:r>
            <a:r>
              <a:rPr sz="1800" dirty="0">
                <a:solidFill>
                  <a:schemeClr val="bg1"/>
                </a:solidFill>
                <a:latin typeface="Arial MT"/>
                <a:cs typeface="Arial MT"/>
              </a:rPr>
              <a:t>or</a:t>
            </a:r>
            <a:r>
              <a:rPr sz="1800" spc="-45" dirty="0">
                <a:solidFill>
                  <a:schemeClr val="bg1"/>
                </a:solidFill>
                <a:latin typeface="Arial MT"/>
                <a:cs typeface="Arial MT"/>
              </a:rPr>
              <a:t> </a:t>
            </a:r>
            <a:r>
              <a:rPr sz="1800" dirty="0">
                <a:solidFill>
                  <a:schemeClr val="bg1"/>
                </a:solidFill>
                <a:latin typeface="Arial MT"/>
                <a:cs typeface="Arial MT"/>
              </a:rPr>
              <a:t>bad</a:t>
            </a:r>
            <a:r>
              <a:rPr sz="1800" spc="-45" dirty="0">
                <a:solidFill>
                  <a:schemeClr val="bg1"/>
                </a:solidFill>
                <a:latin typeface="Arial MT"/>
                <a:cs typeface="Arial MT"/>
              </a:rPr>
              <a:t> </a:t>
            </a:r>
            <a:r>
              <a:rPr sz="1800" spc="-20" dirty="0">
                <a:solidFill>
                  <a:schemeClr val="bg1"/>
                </a:solidFill>
                <a:latin typeface="Arial MT"/>
                <a:cs typeface="Arial MT"/>
              </a:rPr>
              <a:t>food </a:t>
            </a:r>
            <a:r>
              <a:rPr sz="1800" dirty="0">
                <a:solidFill>
                  <a:schemeClr val="bg1"/>
                </a:solidFill>
                <a:latin typeface="Arial MT"/>
                <a:cs typeface="Arial MT"/>
              </a:rPr>
              <a:t>quality</a:t>
            </a:r>
            <a:r>
              <a:rPr sz="1800" spc="-15" dirty="0">
                <a:solidFill>
                  <a:schemeClr val="bg1"/>
                </a:solidFill>
                <a:latin typeface="Arial MT"/>
                <a:cs typeface="Arial MT"/>
              </a:rPr>
              <a:t> </a:t>
            </a:r>
            <a:r>
              <a:rPr sz="1800" dirty="0">
                <a:solidFill>
                  <a:schemeClr val="bg1"/>
                </a:solidFill>
                <a:latin typeface="Arial MT"/>
                <a:cs typeface="Arial MT"/>
              </a:rPr>
              <a:t>for</a:t>
            </a:r>
            <a:r>
              <a:rPr sz="1800" spc="-20" dirty="0">
                <a:solidFill>
                  <a:schemeClr val="bg1"/>
                </a:solidFill>
                <a:latin typeface="Arial MT"/>
                <a:cs typeface="Arial MT"/>
              </a:rPr>
              <a:t> </a:t>
            </a:r>
            <a:r>
              <a:rPr sz="1800" dirty="0">
                <a:solidFill>
                  <a:schemeClr val="bg1"/>
                </a:solidFill>
                <a:latin typeface="Arial MT"/>
                <a:cs typeface="Arial MT"/>
              </a:rPr>
              <a:t>a</a:t>
            </a:r>
            <a:r>
              <a:rPr sz="1800" spc="-20" dirty="0">
                <a:solidFill>
                  <a:schemeClr val="bg1"/>
                </a:solidFill>
                <a:latin typeface="Arial MT"/>
                <a:cs typeface="Arial MT"/>
              </a:rPr>
              <a:t> </a:t>
            </a:r>
            <a:r>
              <a:rPr sz="1800" dirty="0">
                <a:solidFill>
                  <a:schemeClr val="bg1"/>
                </a:solidFill>
                <a:latin typeface="Arial MT"/>
                <a:cs typeface="Arial MT"/>
              </a:rPr>
              <a:t>large</a:t>
            </a:r>
            <a:r>
              <a:rPr sz="1800" spc="-20" dirty="0">
                <a:solidFill>
                  <a:schemeClr val="bg1"/>
                </a:solidFill>
                <a:latin typeface="Arial MT"/>
                <a:cs typeface="Arial MT"/>
              </a:rPr>
              <a:t> </a:t>
            </a:r>
            <a:r>
              <a:rPr sz="1800" spc="-10" dirty="0">
                <a:solidFill>
                  <a:schemeClr val="bg1"/>
                </a:solidFill>
                <a:latin typeface="Arial MT"/>
                <a:cs typeface="Arial MT"/>
              </a:rPr>
              <a:t>segment.</a:t>
            </a:r>
            <a:endParaRPr sz="1800" dirty="0">
              <a:solidFill>
                <a:schemeClr val="bg1"/>
              </a:solidFill>
              <a:latin typeface="Arial MT"/>
              <a:cs typeface="Arial MT"/>
            </a:endParaRPr>
          </a:p>
          <a:p>
            <a:pPr>
              <a:lnSpc>
                <a:spcPct val="100000"/>
              </a:lnSpc>
              <a:spcBef>
                <a:spcPts val="90"/>
              </a:spcBef>
              <a:buFont typeface="Arial MT"/>
              <a:buChar char="•"/>
            </a:pPr>
            <a:endParaRPr sz="1800" dirty="0">
              <a:solidFill>
                <a:schemeClr val="bg1"/>
              </a:solidFill>
              <a:latin typeface="Arial MT"/>
              <a:cs typeface="Arial MT"/>
            </a:endParaRPr>
          </a:p>
          <a:p>
            <a:pPr marL="76200">
              <a:lnSpc>
                <a:spcPct val="100000"/>
              </a:lnSpc>
            </a:pPr>
            <a:r>
              <a:rPr sz="1800" b="1" dirty="0">
                <a:solidFill>
                  <a:schemeClr val="bg1"/>
                </a:solidFill>
                <a:latin typeface="Arial"/>
                <a:cs typeface="Arial"/>
              </a:rPr>
              <a:t>Sharp</a:t>
            </a:r>
            <a:r>
              <a:rPr sz="1800" b="1" spc="-35" dirty="0">
                <a:solidFill>
                  <a:schemeClr val="bg1"/>
                </a:solidFill>
                <a:latin typeface="Arial"/>
                <a:cs typeface="Arial"/>
              </a:rPr>
              <a:t> </a:t>
            </a:r>
            <a:r>
              <a:rPr sz="1800" b="1" dirty="0">
                <a:solidFill>
                  <a:schemeClr val="bg1"/>
                </a:solidFill>
                <a:latin typeface="Arial"/>
                <a:cs typeface="Arial"/>
              </a:rPr>
              <a:t>drop</a:t>
            </a:r>
            <a:r>
              <a:rPr sz="1800" b="1" spc="-20" dirty="0">
                <a:solidFill>
                  <a:schemeClr val="bg1"/>
                </a:solidFill>
                <a:latin typeface="Arial"/>
                <a:cs typeface="Arial"/>
              </a:rPr>
              <a:t> </a:t>
            </a:r>
            <a:r>
              <a:rPr sz="1800" b="1" dirty="0">
                <a:solidFill>
                  <a:schemeClr val="bg1"/>
                </a:solidFill>
                <a:latin typeface="Arial"/>
                <a:cs typeface="Arial"/>
              </a:rPr>
              <a:t>to</a:t>
            </a:r>
            <a:r>
              <a:rPr sz="1800" b="1" spc="-20" dirty="0">
                <a:solidFill>
                  <a:schemeClr val="bg1"/>
                </a:solidFill>
                <a:latin typeface="Arial"/>
                <a:cs typeface="Arial"/>
              </a:rPr>
              <a:t> </a:t>
            </a:r>
            <a:r>
              <a:rPr sz="1800" b="1" dirty="0">
                <a:solidFill>
                  <a:schemeClr val="bg1"/>
                </a:solidFill>
                <a:latin typeface="Arial"/>
                <a:cs typeface="Arial"/>
              </a:rPr>
              <a:t>nearly</a:t>
            </a:r>
            <a:r>
              <a:rPr sz="1800" b="1" spc="-30" dirty="0">
                <a:solidFill>
                  <a:schemeClr val="bg1"/>
                </a:solidFill>
                <a:latin typeface="Arial"/>
                <a:cs typeface="Arial"/>
              </a:rPr>
              <a:t> </a:t>
            </a:r>
            <a:r>
              <a:rPr sz="1800" b="1" dirty="0">
                <a:solidFill>
                  <a:schemeClr val="bg1"/>
                </a:solidFill>
                <a:latin typeface="Arial"/>
                <a:cs typeface="Arial"/>
              </a:rPr>
              <a:t>0</a:t>
            </a:r>
            <a:r>
              <a:rPr sz="1800" b="1" spc="-30" dirty="0">
                <a:solidFill>
                  <a:schemeClr val="bg1"/>
                </a:solidFill>
                <a:latin typeface="Arial"/>
                <a:cs typeface="Arial"/>
              </a:rPr>
              <a:t> </a:t>
            </a:r>
            <a:r>
              <a:rPr sz="1800" b="1" dirty="0">
                <a:solidFill>
                  <a:schemeClr val="bg1"/>
                </a:solidFill>
                <a:latin typeface="Arial"/>
                <a:cs typeface="Arial"/>
              </a:rPr>
              <a:t>at</a:t>
            </a:r>
            <a:r>
              <a:rPr sz="1800" b="1" spc="-30" dirty="0">
                <a:solidFill>
                  <a:schemeClr val="bg1"/>
                </a:solidFill>
                <a:latin typeface="Arial"/>
                <a:cs typeface="Arial"/>
              </a:rPr>
              <a:t> </a:t>
            </a:r>
            <a:r>
              <a:rPr sz="1800" b="1" dirty="0">
                <a:solidFill>
                  <a:schemeClr val="bg1"/>
                </a:solidFill>
                <a:latin typeface="Arial"/>
                <a:cs typeface="Arial"/>
              </a:rPr>
              <a:t>Rating</a:t>
            </a:r>
            <a:r>
              <a:rPr sz="1800" b="1" spc="-20" dirty="0">
                <a:solidFill>
                  <a:schemeClr val="bg1"/>
                </a:solidFill>
                <a:latin typeface="Arial"/>
                <a:cs typeface="Arial"/>
              </a:rPr>
              <a:t> </a:t>
            </a:r>
            <a:r>
              <a:rPr sz="1800" b="1" spc="-50" dirty="0">
                <a:solidFill>
                  <a:schemeClr val="bg1"/>
                </a:solidFill>
                <a:latin typeface="Arial"/>
                <a:cs typeface="Arial"/>
              </a:rPr>
              <a:t>2</a:t>
            </a:r>
            <a:endParaRPr sz="1800" dirty="0">
              <a:solidFill>
                <a:schemeClr val="bg1"/>
              </a:solidFill>
              <a:latin typeface="Arial"/>
              <a:cs typeface="Arial"/>
            </a:endParaRPr>
          </a:p>
          <a:p>
            <a:pPr marL="156210" indent="-92075">
              <a:lnSpc>
                <a:spcPct val="100000"/>
              </a:lnSpc>
              <a:buSzPct val="94444"/>
              <a:buChar char="•"/>
              <a:tabLst>
                <a:tab pos="156210" algn="l"/>
              </a:tabLst>
            </a:pPr>
            <a:r>
              <a:rPr sz="1800" dirty="0">
                <a:solidFill>
                  <a:schemeClr val="bg1"/>
                </a:solidFill>
                <a:latin typeface="Arial MT"/>
                <a:cs typeface="Arial MT"/>
              </a:rPr>
              <a:t>There</a:t>
            </a:r>
            <a:r>
              <a:rPr sz="1800" spc="-30" dirty="0">
                <a:solidFill>
                  <a:schemeClr val="bg1"/>
                </a:solidFill>
                <a:latin typeface="Arial MT"/>
                <a:cs typeface="Arial MT"/>
              </a:rPr>
              <a:t> </a:t>
            </a:r>
            <a:r>
              <a:rPr sz="1800" dirty="0">
                <a:solidFill>
                  <a:schemeClr val="bg1"/>
                </a:solidFill>
                <a:latin typeface="Arial MT"/>
                <a:cs typeface="Arial MT"/>
              </a:rPr>
              <a:t>is</a:t>
            </a:r>
            <a:r>
              <a:rPr sz="1800" spc="-30" dirty="0">
                <a:solidFill>
                  <a:schemeClr val="bg1"/>
                </a:solidFill>
                <a:latin typeface="Arial MT"/>
                <a:cs typeface="Arial MT"/>
              </a:rPr>
              <a:t> </a:t>
            </a:r>
            <a:r>
              <a:rPr sz="1800" dirty="0">
                <a:solidFill>
                  <a:schemeClr val="bg1"/>
                </a:solidFill>
                <a:latin typeface="Arial MT"/>
                <a:cs typeface="Arial MT"/>
              </a:rPr>
              <a:t>almost</a:t>
            </a:r>
            <a:r>
              <a:rPr sz="1800" spc="-15" dirty="0">
                <a:solidFill>
                  <a:schemeClr val="bg1"/>
                </a:solidFill>
                <a:latin typeface="Arial MT"/>
                <a:cs typeface="Arial MT"/>
              </a:rPr>
              <a:t> </a:t>
            </a:r>
            <a:r>
              <a:rPr sz="1800" dirty="0">
                <a:solidFill>
                  <a:schemeClr val="bg1"/>
                </a:solidFill>
                <a:latin typeface="Arial MT"/>
                <a:cs typeface="Arial MT"/>
              </a:rPr>
              <a:t>no</a:t>
            </a:r>
            <a:r>
              <a:rPr sz="1800" spc="-30" dirty="0">
                <a:solidFill>
                  <a:schemeClr val="bg1"/>
                </a:solidFill>
                <a:latin typeface="Arial MT"/>
                <a:cs typeface="Arial MT"/>
              </a:rPr>
              <a:t> </a:t>
            </a:r>
            <a:r>
              <a:rPr sz="1800" dirty="0">
                <a:solidFill>
                  <a:schemeClr val="bg1"/>
                </a:solidFill>
                <a:latin typeface="Arial MT"/>
                <a:cs typeface="Arial MT"/>
              </a:rPr>
              <a:t>representation</a:t>
            </a:r>
            <a:r>
              <a:rPr sz="1800" spc="-25" dirty="0">
                <a:solidFill>
                  <a:schemeClr val="bg1"/>
                </a:solidFill>
                <a:latin typeface="Arial MT"/>
                <a:cs typeface="Arial MT"/>
              </a:rPr>
              <a:t> </a:t>
            </a:r>
            <a:r>
              <a:rPr sz="1800" dirty="0">
                <a:solidFill>
                  <a:schemeClr val="bg1"/>
                </a:solidFill>
                <a:latin typeface="Arial MT"/>
                <a:cs typeface="Arial MT"/>
              </a:rPr>
              <a:t>at</a:t>
            </a:r>
            <a:r>
              <a:rPr sz="1800" spc="-30" dirty="0">
                <a:solidFill>
                  <a:schemeClr val="bg1"/>
                </a:solidFill>
                <a:latin typeface="Arial MT"/>
                <a:cs typeface="Arial MT"/>
              </a:rPr>
              <a:t> </a:t>
            </a:r>
            <a:r>
              <a:rPr sz="1800" dirty="0">
                <a:solidFill>
                  <a:schemeClr val="bg1"/>
                </a:solidFill>
                <a:latin typeface="Arial MT"/>
                <a:cs typeface="Arial MT"/>
              </a:rPr>
              <a:t>a</a:t>
            </a:r>
            <a:r>
              <a:rPr sz="1800" spc="-25" dirty="0">
                <a:solidFill>
                  <a:schemeClr val="bg1"/>
                </a:solidFill>
                <a:latin typeface="Arial MT"/>
                <a:cs typeface="Arial MT"/>
              </a:rPr>
              <a:t> </a:t>
            </a:r>
            <a:r>
              <a:rPr sz="1800" dirty="0">
                <a:solidFill>
                  <a:schemeClr val="bg1"/>
                </a:solidFill>
                <a:latin typeface="Arial MT"/>
                <a:cs typeface="Arial MT"/>
              </a:rPr>
              <a:t>rating</a:t>
            </a:r>
            <a:r>
              <a:rPr sz="1800" spc="-30" dirty="0">
                <a:solidFill>
                  <a:schemeClr val="bg1"/>
                </a:solidFill>
                <a:latin typeface="Arial MT"/>
                <a:cs typeface="Arial MT"/>
              </a:rPr>
              <a:t> </a:t>
            </a:r>
            <a:r>
              <a:rPr sz="1800" dirty="0">
                <a:solidFill>
                  <a:schemeClr val="bg1"/>
                </a:solidFill>
                <a:latin typeface="Arial MT"/>
                <a:cs typeface="Arial MT"/>
              </a:rPr>
              <a:t>of</a:t>
            </a:r>
            <a:r>
              <a:rPr sz="1800" spc="-15" dirty="0">
                <a:solidFill>
                  <a:schemeClr val="bg1"/>
                </a:solidFill>
                <a:latin typeface="Arial MT"/>
                <a:cs typeface="Arial MT"/>
              </a:rPr>
              <a:t> </a:t>
            </a:r>
            <a:r>
              <a:rPr sz="1800" spc="-25" dirty="0">
                <a:solidFill>
                  <a:schemeClr val="bg1"/>
                </a:solidFill>
                <a:latin typeface="Arial MT"/>
                <a:cs typeface="Arial MT"/>
              </a:rPr>
              <a:t>2.</a:t>
            </a:r>
            <a:endParaRPr sz="1800" dirty="0">
              <a:solidFill>
                <a:schemeClr val="bg1"/>
              </a:solidFill>
              <a:latin typeface="Arial MT"/>
              <a:cs typeface="Arial MT"/>
            </a:endParaRPr>
          </a:p>
          <a:p>
            <a:pPr marL="76200" marR="702945" indent="-12065">
              <a:lnSpc>
                <a:spcPct val="100000"/>
              </a:lnSpc>
              <a:buSzPct val="94444"/>
              <a:buChar char="•"/>
              <a:tabLst>
                <a:tab pos="156210" algn="l"/>
              </a:tabLst>
            </a:pPr>
            <a:r>
              <a:rPr sz="1800" dirty="0">
                <a:solidFill>
                  <a:schemeClr val="bg1"/>
                </a:solidFill>
                <a:latin typeface="Arial MT"/>
                <a:cs typeface="Arial MT"/>
              </a:rPr>
              <a:t>	This</a:t>
            </a:r>
            <a:r>
              <a:rPr sz="1800" spc="-20" dirty="0">
                <a:solidFill>
                  <a:schemeClr val="bg1"/>
                </a:solidFill>
                <a:latin typeface="Arial MT"/>
                <a:cs typeface="Arial MT"/>
              </a:rPr>
              <a:t> </a:t>
            </a:r>
            <a:r>
              <a:rPr sz="1800" dirty="0">
                <a:solidFill>
                  <a:schemeClr val="bg1"/>
                </a:solidFill>
                <a:latin typeface="Arial MT"/>
                <a:cs typeface="Arial MT"/>
              </a:rPr>
              <a:t>suggests</a:t>
            </a:r>
            <a:r>
              <a:rPr sz="1800" spc="-20" dirty="0">
                <a:solidFill>
                  <a:schemeClr val="bg1"/>
                </a:solidFill>
                <a:latin typeface="Arial MT"/>
                <a:cs typeface="Arial MT"/>
              </a:rPr>
              <a:t> </a:t>
            </a:r>
            <a:r>
              <a:rPr sz="1800" dirty="0">
                <a:solidFill>
                  <a:schemeClr val="bg1"/>
                </a:solidFill>
                <a:latin typeface="Arial MT"/>
                <a:cs typeface="Arial MT"/>
              </a:rPr>
              <a:t>that</a:t>
            </a:r>
            <a:r>
              <a:rPr sz="1800" spc="-20" dirty="0">
                <a:solidFill>
                  <a:schemeClr val="bg1"/>
                </a:solidFill>
                <a:latin typeface="Arial MT"/>
                <a:cs typeface="Arial MT"/>
              </a:rPr>
              <a:t> </a:t>
            </a:r>
            <a:r>
              <a:rPr sz="1800" dirty="0">
                <a:solidFill>
                  <a:schemeClr val="bg1"/>
                </a:solidFill>
                <a:latin typeface="Arial MT"/>
                <a:cs typeface="Arial MT"/>
              </a:rPr>
              <a:t>restaurants</a:t>
            </a:r>
            <a:r>
              <a:rPr sz="1800" spc="-30" dirty="0">
                <a:solidFill>
                  <a:schemeClr val="bg1"/>
                </a:solidFill>
                <a:latin typeface="Arial MT"/>
                <a:cs typeface="Arial MT"/>
              </a:rPr>
              <a:t> </a:t>
            </a:r>
            <a:r>
              <a:rPr sz="1800" dirty="0">
                <a:solidFill>
                  <a:schemeClr val="bg1"/>
                </a:solidFill>
                <a:latin typeface="Arial MT"/>
                <a:cs typeface="Arial MT"/>
              </a:rPr>
              <a:t>either</a:t>
            </a:r>
            <a:r>
              <a:rPr sz="1800" spc="-20" dirty="0">
                <a:solidFill>
                  <a:schemeClr val="bg1"/>
                </a:solidFill>
                <a:latin typeface="Arial MT"/>
                <a:cs typeface="Arial MT"/>
              </a:rPr>
              <a:t> </a:t>
            </a:r>
            <a:r>
              <a:rPr sz="1800" dirty="0">
                <a:solidFill>
                  <a:schemeClr val="bg1"/>
                </a:solidFill>
                <a:latin typeface="Arial MT"/>
                <a:cs typeface="Arial MT"/>
              </a:rPr>
              <a:t>receive</a:t>
            </a:r>
            <a:r>
              <a:rPr sz="1800" spc="-25" dirty="0">
                <a:solidFill>
                  <a:schemeClr val="bg1"/>
                </a:solidFill>
                <a:latin typeface="Arial MT"/>
                <a:cs typeface="Arial MT"/>
              </a:rPr>
              <a:t> </a:t>
            </a:r>
            <a:r>
              <a:rPr sz="1800" dirty="0">
                <a:solidFill>
                  <a:schemeClr val="bg1"/>
                </a:solidFill>
                <a:latin typeface="Arial MT"/>
                <a:cs typeface="Arial MT"/>
              </a:rPr>
              <a:t>very</a:t>
            </a:r>
            <a:r>
              <a:rPr sz="1800" spc="-30" dirty="0">
                <a:solidFill>
                  <a:schemeClr val="bg1"/>
                </a:solidFill>
                <a:latin typeface="Arial MT"/>
                <a:cs typeface="Arial MT"/>
              </a:rPr>
              <a:t> </a:t>
            </a:r>
            <a:r>
              <a:rPr sz="1800" dirty="0">
                <a:solidFill>
                  <a:schemeClr val="bg1"/>
                </a:solidFill>
                <a:latin typeface="Arial MT"/>
                <a:cs typeface="Arial MT"/>
              </a:rPr>
              <a:t>low</a:t>
            </a:r>
            <a:r>
              <a:rPr sz="1800" spc="-30" dirty="0">
                <a:solidFill>
                  <a:schemeClr val="bg1"/>
                </a:solidFill>
                <a:latin typeface="Arial MT"/>
                <a:cs typeface="Arial MT"/>
              </a:rPr>
              <a:t> </a:t>
            </a:r>
            <a:r>
              <a:rPr sz="1800" spc="-25" dirty="0">
                <a:solidFill>
                  <a:schemeClr val="bg1"/>
                </a:solidFill>
                <a:latin typeface="Arial MT"/>
                <a:cs typeface="Arial MT"/>
              </a:rPr>
              <a:t>or </a:t>
            </a:r>
            <a:r>
              <a:rPr sz="1800" spc="-10" dirty="0">
                <a:solidFill>
                  <a:schemeClr val="bg1"/>
                </a:solidFill>
                <a:latin typeface="Arial MT"/>
                <a:cs typeface="Arial MT"/>
              </a:rPr>
              <a:t>moderate-to-</a:t>
            </a:r>
            <a:r>
              <a:rPr sz="1800" dirty="0">
                <a:solidFill>
                  <a:schemeClr val="bg1"/>
                </a:solidFill>
                <a:latin typeface="Arial MT"/>
                <a:cs typeface="Arial MT"/>
              </a:rPr>
              <a:t>good</a:t>
            </a:r>
            <a:r>
              <a:rPr sz="1800" spc="-50" dirty="0">
                <a:solidFill>
                  <a:schemeClr val="bg1"/>
                </a:solidFill>
                <a:latin typeface="Arial MT"/>
                <a:cs typeface="Arial MT"/>
              </a:rPr>
              <a:t> </a:t>
            </a:r>
            <a:r>
              <a:rPr sz="1800" dirty="0">
                <a:solidFill>
                  <a:schemeClr val="bg1"/>
                </a:solidFill>
                <a:latin typeface="Arial MT"/>
                <a:cs typeface="Arial MT"/>
              </a:rPr>
              <a:t>ratings,</a:t>
            </a:r>
            <a:r>
              <a:rPr sz="1800" spc="-25" dirty="0">
                <a:solidFill>
                  <a:schemeClr val="bg1"/>
                </a:solidFill>
                <a:latin typeface="Arial MT"/>
                <a:cs typeface="Arial MT"/>
              </a:rPr>
              <a:t> </a:t>
            </a:r>
            <a:r>
              <a:rPr sz="1800" dirty="0">
                <a:solidFill>
                  <a:schemeClr val="bg1"/>
                </a:solidFill>
                <a:latin typeface="Arial MT"/>
                <a:cs typeface="Arial MT"/>
              </a:rPr>
              <a:t>skipping</a:t>
            </a:r>
            <a:r>
              <a:rPr sz="1800" spc="-40" dirty="0">
                <a:solidFill>
                  <a:schemeClr val="bg1"/>
                </a:solidFill>
                <a:latin typeface="Arial MT"/>
                <a:cs typeface="Arial MT"/>
              </a:rPr>
              <a:t> </a:t>
            </a:r>
            <a:r>
              <a:rPr sz="1800" dirty="0">
                <a:solidFill>
                  <a:schemeClr val="bg1"/>
                </a:solidFill>
                <a:latin typeface="Arial MT"/>
                <a:cs typeface="Arial MT"/>
              </a:rPr>
              <a:t>the</a:t>
            </a:r>
            <a:r>
              <a:rPr sz="1800" spc="-35" dirty="0">
                <a:solidFill>
                  <a:schemeClr val="bg1"/>
                </a:solidFill>
                <a:latin typeface="Arial MT"/>
                <a:cs typeface="Arial MT"/>
              </a:rPr>
              <a:t> </a:t>
            </a:r>
            <a:r>
              <a:rPr sz="1800" dirty="0">
                <a:solidFill>
                  <a:schemeClr val="bg1"/>
                </a:solidFill>
                <a:latin typeface="Arial MT"/>
                <a:cs typeface="Arial MT"/>
              </a:rPr>
              <a:t>middle</a:t>
            </a:r>
            <a:r>
              <a:rPr sz="1800" spc="-35" dirty="0">
                <a:solidFill>
                  <a:schemeClr val="bg1"/>
                </a:solidFill>
                <a:latin typeface="Arial MT"/>
                <a:cs typeface="Arial MT"/>
              </a:rPr>
              <a:t> </a:t>
            </a:r>
            <a:r>
              <a:rPr sz="1800" spc="-10" dirty="0">
                <a:solidFill>
                  <a:schemeClr val="bg1"/>
                </a:solidFill>
                <a:latin typeface="Arial MT"/>
                <a:cs typeface="Arial MT"/>
              </a:rPr>
              <a:t>ground.</a:t>
            </a:r>
            <a:endParaRPr sz="1800" dirty="0">
              <a:solidFill>
                <a:schemeClr val="bg1"/>
              </a:solidFill>
              <a:latin typeface="Arial MT"/>
              <a:cs typeface="Arial MT"/>
            </a:endParaRPr>
          </a:p>
          <a:p>
            <a:pPr>
              <a:lnSpc>
                <a:spcPct val="100000"/>
              </a:lnSpc>
              <a:spcBef>
                <a:spcPts val="90"/>
              </a:spcBef>
              <a:buFont typeface="Arial MT"/>
              <a:buChar char="•"/>
            </a:pPr>
            <a:endParaRPr sz="1800" dirty="0">
              <a:solidFill>
                <a:schemeClr val="bg1"/>
              </a:solidFill>
              <a:latin typeface="Arial MT"/>
              <a:cs typeface="Arial MT"/>
            </a:endParaRPr>
          </a:p>
          <a:p>
            <a:pPr marL="76200">
              <a:lnSpc>
                <a:spcPct val="100000"/>
              </a:lnSpc>
            </a:pPr>
            <a:r>
              <a:rPr sz="1800" b="1" dirty="0">
                <a:solidFill>
                  <a:schemeClr val="bg1"/>
                </a:solidFill>
                <a:latin typeface="Arial"/>
                <a:cs typeface="Arial"/>
              </a:rPr>
              <a:t>Gradual</a:t>
            </a:r>
            <a:r>
              <a:rPr sz="1800" b="1" spc="-25" dirty="0">
                <a:solidFill>
                  <a:schemeClr val="bg1"/>
                </a:solidFill>
                <a:latin typeface="Arial"/>
                <a:cs typeface="Arial"/>
              </a:rPr>
              <a:t> </a:t>
            </a:r>
            <a:r>
              <a:rPr sz="1800" b="1" dirty="0">
                <a:solidFill>
                  <a:schemeClr val="bg1"/>
                </a:solidFill>
                <a:latin typeface="Arial"/>
                <a:cs typeface="Arial"/>
              </a:rPr>
              <a:t>rise</a:t>
            </a:r>
            <a:r>
              <a:rPr sz="1800" b="1" spc="-30" dirty="0">
                <a:solidFill>
                  <a:schemeClr val="bg1"/>
                </a:solidFill>
                <a:latin typeface="Arial"/>
                <a:cs typeface="Arial"/>
              </a:rPr>
              <a:t> </a:t>
            </a:r>
            <a:r>
              <a:rPr sz="1800" b="1" dirty="0">
                <a:solidFill>
                  <a:schemeClr val="bg1"/>
                </a:solidFill>
                <a:latin typeface="Arial"/>
                <a:cs typeface="Arial"/>
              </a:rPr>
              <a:t>in</a:t>
            </a:r>
            <a:r>
              <a:rPr sz="1800" b="1" spc="-30" dirty="0">
                <a:solidFill>
                  <a:schemeClr val="bg1"/>
                </a:solidFill>
                <a:latin typeface="Arial"/>
                <a:cs typeface="Arial"/>
              </a:rPr>
              <a:t> </a:t>
            </a:r>
            <a:r>
              <a:rPr sz="1800" b="1" dirty="0">
                <a:solidFill>
                  <a:schemeClr val="bg1"/>
                </a:solidFill>
                <a:latin typeface="Arial"/>
                <a:cs typeface="Arial"/>
              </a:rPr>
              <a:t>Ratings</a:t>
            </a:r>
            <a:r>
              <a:rPr sz="1800" b="1" spc="-30" dirty="0">
                <a:solidFill>
                  <a:schemeClr val="bg1"/>
                </a:solidFill>
                <a:latin typeface="Arial"/>
                <a:cs typeface="Arial"/>
              </a:rPr>
              <a:t> </a:t>
            </a:r>
            <a:r>
              <a:rPr sz="1800" b="1" dirty="0">
                <a:solidFill>
                  <a:schemeClr val="bg1"/>
                </a:solidFill>
                <a:latin typeface="Arial"/>
                <a:cs typeface="Arial"/>
              </a:rPr>
              <a:t>3</a:t>
            </a:r>
            <a:r>
              <a:rPr sz="1800" b="1" spc="-30" dirty="0">
                <a:solidFill>
                  <a:schemeClr val="bg1"/>
                </a:solidFill>
                <a:latin typeface="Arial"/>
                <a:cs typeface="Arial"/>
              </a:rPr>
              <a:t> </a:t>
            </a:r>
            <a:r>
              <a:rPr sz="1800" b="1" dirty="0">
                <a:solidFill>
                  <a:schemeClr val="bg1"/>
                </a:solidFill>
                <a:latin typeface="Arial"/>
                <a:cs typeface="Arial"/>
              </a:rPr>
              <a:t>to</a:t>
            </a:r>
            <a:r>
              <a:rPr sz="1800" b="1" spc="-25" dirty="0">
                <a:solidFill>
                  <a:schemeClr val="bg1"/>
                </a:solidFill>
                <a:latin typeface="Arial"/>
                <a:cs typeface="Arial"/>
              </a:rPr>
              <a:t> </a:t>
            </a:r>
            <a:r>
              <a:rPr sz="1800" b="1" dirty="0">
                <a:solidFill>
                  <a:schemeClr val="bg1"/>
                </a:solidFill>
                <a:latin typeface="Arial"/>
                <a:cs typeface="Arial"/>
              </a:rPr>
              <a:t>4</a:t>
            </a:r>
            <a:r>
              <a:rPr sz="1800" b="1" spc="-30" dirty="0">
                <a:solidFill>
                  <a:schemeClr val="bg1"/>
                </a:solidFill>
                <a:latin typeface="Arial"/>
                <a:cs typeface="Arial"/>
              </a:rPr>
              <a:t> </a:t>
            </a:r>
            <a:r>
              <a:rPr sz="1800" b="1" dirty="0">
                <a:solidFill>
                  <a:schemeClr val="bg1"/>
                </a:solidFill>
                <a:latin typeface="Arial"/>
                <a:cs typeface="Arial"/>
              </a:rPr>
              <a:t>(around</a:t>
            </a:r>
            <a:r>
              <a:rPr sz="1800" b="1" spc="-20" dirty="0">
                <a:solidFill>
                  <a:schemeClr val="bg1"/>
                </a:solidFill>
                <a:latin typeface="Arial"/>
                <a:cs typeface="Arial"/>
              </a:rPr>
              <a:t> </a:t>
            </a:r>
            <a:r>
              <a:rPr sz="1800" b="1" dirty="0">
                <a:solidFill>
                  <a:schemeClr val="bg1"/>
                </a:solidFill>
                <a:latin typeface="Arial"/>
                <a:cs typeface="Arial"/>
              </a:rPr>
              <a:t>0.5K</a:t>
            </a:r>
            <a:r>
              <a:rPr sz="1800" b="1" spc="-35" dirty="0">
                <a:solidFill>
                  <a:schemeClr val="bg1"/>
                </a:solidFill>
                <a:latin typeface="Arial"/>
                <a:cs typeface="Arial"/>
              </a:rPr>
              <a:t> </a:t>
            </a:r>
            <a:r>
              <a:rPr sz="1800" b="1" spc="-10" dirty="0">
                <a:solidFill>
                  <a:schemeClr val="bg1"/>
                </a:solidFill>
                <a:latin typeface="Arial"/>
                <a:cs typeface="Arial"/>
              </a:rPr>
              <a:t>each)</a:t>
            </a:r>
            <a:endParaRPr sz="1800" dirty="0">
              <a:solidFill>
                <a:schemeClr val="bg1"/>
              </a:solidFill>
              <a:latin typeface="Arial"/>
              <a:cs typeface="Arial"/>
            </a:endParaRPr>
          </a:p>
          <a:p>
            <a:pPr marL="361950" marR="138430" indent="-286385">
              <a:lnSpc>
                <a:spcPct val="100000"/>
              </a:lnSpc>
              <a:buChar char="•"/>
              <a:tabLst>
                <a:tab pos="361950" algn="l"/>
              </a:tabLst>
            </a:pPr>
            <a:r>
              <a:rPr sz="1800" dirty="0">
                <a:solidFill>
                  <a:schemeClr val="bg1"/>
                </a:solidFill>
                <a:latin typeface="Arial MT"/>
                <a:cs typeface="Arial MT"/>
              </a:rPr>
              <a:t>Ratings</a:t>
            </a:r>
            <a:r>
              <a:rPr sz="1800" spc="-25" dirty="0">
                <a:solidFill>
                  <a:schemeClr val="bg1"/>
                </a:solidFill>
                <a:latin typeface="Arial MT"/>
                <a:cs typeface="Arial MT"/>
              </a:rPr>
              <a:t> </a:t>
            </a:r>
            <a:r>
              <a:rPr sz="1800" dirty="0">
                <a:solidFill>
                  <a:schemeClr val="bg1"/>
                </a:solidFill>
                <a:latin typeface="Arial MT"/>
                <a:cs typeface="Arial MT"/>
              </a:rPr>
              <a:t>3</a:t>
            </a:r>
            <a:r>
              <a:rPr sz="1800" spc="-30" dirty="0">
                <a:solidFill>
                  <a:schemeClr val="bg1"/>
                </a:solidFill>
                <a:latin typeface="Arial MT"/>
                <a:cs typeface="Arial MT"/>
              </a:rPr>
              <a:t> </a:t>
            </a:r>
            <a:r>
              <a:rPr sz="1800" dirty="0">
                <a:solidFill>
                  <a:schemeClr val="bg1"/>
                </a:solidFill>
                <a:latin typeface="Arial MT"/>
                <a:cs typeface="Arial MT"/>
              </a:rPr>
              <a:t>and</a:t>
            </a:r>
            <a:r>
              <a:rPr sz="1800" spc="-30" dirty="0">
                <a:solidFill>
                  <a:schemeClr val="bg1"/>
                </a:solidFill>
                <a:latin typeface="Arial MT"/>
                <a:cs typeface="Arial MT"/>
              </a:rPr>
              <a:t> </a:t>
            </a:r>
            <a:r>
              <a:rPr sz="1800" dirty="0">
                <a:solidFill>
                  <a:schemeClr val="bg1"/>
                </a:solidFill>
                <a:latin typeface="Arial MT"/>
                <a:cs typeface="Arial MT"/>
              </a:rPr>
              <a:t>4</a:t>
            </a:r>
            <a:r>
              <a:rPr sz="1800" spc="-30" dirty="0">
                <a:solidFill>
                  <a:schemeClr val="bg1"/>
                </a:solidFill>
                <a:latin typeface="Arial MT"/>
                <a:cs typeface="Arial MT"/>
              </a:rPr>
              <a:t> </a:t>
            </a:r>
            <a:r>
              <a:rPr sz="1800" dirty="0">
                <a:solidFill>
                  <a:schemeClr val="bg1"/>
                </a:solidFill>
                <a:latin typeface="Arial MT"/>
                <a:cs typeface="Arial MT"/>
              </a:rPr>
              <a:t>have</a:t>
            </a:r>
            <a:r>
              <a:rPr sz="1800" spc="-30" dirty="0">
                <a:solidFill>
                  <a:schemeClr val="bg1"/>
                </a:solidFill>
                <a:latin typeface="Arial MT"/>
                <a:cs typeface="Arial MT"/>
              </a:rPr>
              <a:t> </a:t>
            </a:r>
            <a:r>
              <a:rPr sz="1800" dirty="0">
                <a:solidFill>
                  <a:schemeClr val="bg1"/>
                </a:solidFill>
                <a:latin typeface="Arial MT"/>
                <a:cs typeface="Arial MT"/>
              </a:rPr>
              <a:t>a</a:t>
            </a:r>
            <a:r>
              <a:rPr sz="1800" spc="-30" dirty="0">
                <a:solidFill>
                  <a:schemeClr val="bg1"/>
                </a:solidFill>
                <a:latin typeface="Arial MT"/>
                <a:cs typeface="Arial MT"/>
              </a:rPr>
              <a:t> </a:t>
            </a:r>
            <a:r>
              <a:rPr sz="1800" dirty="0">
                <a:solidFill>
                  <a:schemeClr val="bg1"/>
                </a:solidFill>
                <a:latin typeface="Arial MT"/>
                <a:cs typeface="Arial MT"/>
              </a:rPr>
              <a:t>similar</a:t>
            </a:r>
            <a:r>
              <a:rPr sz="1800" spc="-30" dirty="0">
                <a:solidFill>
                  <a:schemeClr val="bg1"/>
                </a:solidFill>
                <a:latin typeface="Arial MT"/>
                <a:cs typeface="Arial MT"/>
              </a:rPr>
              <a:t> </a:t>
            </a:r>
            <a:r>
              <a:rPr sz="1800" dirty="0">
                <a:solidFill>
                  <a:schemeClr val="bg1"/>
                </a:solidFill>
                <a:latin typeface="Arial MT"/>
                <a:cs typeface="Arial MT"/>
              </a:rPr>
              <a:t>number</a:t>
            </a:r>
            <a:r>
              <a:rPr sz="1800" spc="-25" dirty="0">
                <a:solidFill>
                  <a:schemeClr val="bg1"/>
                </a:solidFill>
                <a:latin typeface="Arial MT"/>
                <a:cs typeface="Arial MT"/>
              </a:rPr>
              <a:t> </a:t>
            </a:r>
            <a:r>
              <a:rPr sz="1800" dirty="0">
                <a:solidFill>
                  <a:schemeClr val="bg1"/>
                </a:solidFill>
                <a:latin typeface="Arial MT"/>
                <a:cs typeface="Arial MT"/>
              </a:rPr>
              <a:t>of</a:t>
            </a:r>
            <a:r>
              <a:rPr sz="1800" spc="-20" dirty="0">
                <a:solidFill>
                  <a:schemeClr val="bg1"/>
                </a:solidFill>
                <a:latin typeface="Arial MT"/>
                <a:cs typeface="Arial MT"/>
              </a:rPr>
              <a:t> </a:t>
            </a:r>
            <a:r>
              <a:rPr sz="1800" dirty="0">
                <a:solidFill>
                  <a:schemeClr val="bg1"/>
                </a:solidFill>
                <a:latin typeface="Arial MT"/>
                <a:cs typeface="Arial MT"/>
              </a:rPr>
              <a:t>restaurants</a:t>
            </a:r>
            <a:r>
              <a:rPr sz="1800" spc="-30" dirty="0">
                <a:solidFill>
                  <a:schemeClr val="bg1"/>
                </a:solidFill>
                <a:latin typeface="Arial MT"/>
                <a:cs typeface="Arial MT"/>
              </a:rPr>
              <a:t> </a:t>
            </a:r>
            <a:r>
              <a:rPr sz="1800" spc="-10" dirty="0">
                <a:solidFill>
                  <a:schemeClr val="bg1"/>
                </a:solidFill>
                <a:latin typeface="Arial MT"/>
                <a:cs typeface="Arial MT"/>
              </a:rPr>
              <a:t>(~500 each).</a:t>
            </a:r>
            <a:endParaRPr sz="1800" dirty="0">
              <a:solidFill>
                <a:schemeClr val="bg1"/>
              </a:solidFill>
              <a:latin typeface="Arial MT"/>
              <a:cs typeface="Arial MT"/>
            </a:endParaRPr>
          </a:p>
          <a:p>
            <a:pPr marL="76200" marR="30480" indent="-12065">
              <a:lnSpc>
                <a:spcPct val="100000"/>
              </a:lnSpc>
              <a:buSzPct val="94444"/>
              <a:buChar char="•"/>
              <a:tabLst>
                <a:tab pos="156210" algn="l"/>
              </a:tabLst>
            </a:pPr>
            <a:r>
              <a:rPr sz="1800" dirty="0">
                <a:solidFill>
                  <a:schemeClr val="bg1"/>
                </a:solidFill>
                <a:latin typeface="Arial MT"/>
                <a:cs typeface="Arial MT"/>
              </a:rPr>
              <a:t>	This</a:t>
            </a:r>
            <a:r>
              <a:rPr sz="1800" spc="-25" dirty="0">
                <a:solidFill>
                  <a:schemeClr val="bg1"/>
                </a:solidFill>
                <a:latin typeface="Arial MT"/>
                <a:cs typeface="Arial MT"/>
              </a:rPr>
              <a:t> </a:t>
            </a:r>
            <a:r>
              <a:rPr sz="1800" dirty="0">
                <a:solidFill>
                  <a:schemeClr val="bg1"/>
                </a:solidFill>
                <a:latin typeface="Arial MT"/>
                <a:cs typeface="Arial MT"/>
              </a:rPr>
              <a:t>indicates</a:t>
            </a:r>
            <a:r>
              <a:rPr sz="1800" spc="-30" dirty="0">
                <a:solidFill>
                  <a:schemeClr val="bg1"/>
                </a:solidFill>
                <a:latin typeface="Arial MT"/>
                <a:cs typeface="Arial MT"/>
              </a:rPr>
              <a:t> </a:t>
            </a:r>
            <a:r>
              <a:rPr sz="1800" dirty="0">
                <a:solidFill>
                  <a:schemeClr val="bg1"/>
                </a:solidFill>
                <a:latin typeface="Arial MT"/>
                <a:cs typeface="Arial MT"/>
              </a:rPr>
              <a:t>that</a:t>
            </a:r>
            <a:r>
              <a:rPr sz="1800" spc="-25" dirty="0">
                <a:solidFill>
                  <a:schemeClr val="bg1"/>
                </a:solidFill>
                <a:latin typeface="Arial MT"/>
                <a:cs typeface="Arial MT"/>
              </a:rPr>
              <a:t> </a:t>
            </a:r>
            <a:r>
              <a:rPr sz="1800" dirty="0">
                <a:solidFill>
                  <a:schemeClr val="bg1"/>
                </a:solidFill>
                <a:latin typeface="Arial MT"/>
                <a:cs typeface="Arial MT"/>
              </a:rPr>
              <a:t>a</a:t>
            </a:r>
            <a:r>
              <a:rPr sz="1800" spc="-25" dirty="0">
                <a:solidFill>
                  <a:schemeClr val="bg1"/>
                </a:solidFill>
                <a:latin typeface="Arial MT"/>
                <a:cs typeface="Arial MT"/>
              </a:rPr>
              <a:t> </a:t>
            </a:r>
            <a:r>
              <a:rPr sz="1800" dirty="0">
                <a:solidFill>
                  <a:schemeClr val="bg1"/>
                </a:solidFill>
                <a:latin typeface="Arial MT"/>
                <a:cs typeface="Arial MT"/>
              </a:rPr>
              <a:t>moderate</a:t>
            </a:r>
            <a:r>
              <a:rPr sz="1800" spc="-30" dirty="0">
                <a:solidFill>
                  <a:schemeClr val="bg1"/>
                </a:solidFill>
                <a:latin typeface="Arial MT"/>
                <a:cs typeface="Arial MT"/>
              </a:rPr>
              <a:t> </a:t>
            </a:r>
            <a:r>
              <a:rPr sz="1800" dirty="0">
                <a:solidFill>
                  <a:schemeClr val="bg1"/>
                </a:solidFill>
                <a:latin typeface="Arial MT"/>
                <a:cs typeface="Arial MT"/>
              </a:rPr>
              <a:t>number</a:t>
            </a:r>
            <a:r>
              <a:rPr sz="1800" spc="-25" dirty="0">
                <a:solidFill>
                  <a:schemeClr val="bg1"/>
                </a:solidFill>
                <a:latin typeface="Arial MT"/>
                <a:cs typeface="Arial MT"/>
              </a:rPr>
              <a:t> </a:t>
            </a:r>
            <a:r>
              <a:rPr sz="1800" dirty="0">
                <a:solidFill>
                  <a:schemeClr val="bg1"/>
                </a:solidFill>
                <a:latin typeface="Arial MT"/>
                <a:cs typeface="Arial MT"/>
              </a:rPr>
              <a:t>of</a:t>
            </a:r>
            <a:r>
              <a:rPr sz="1800" spc="-30" dirty="0">
                <a:solidFill>
                  <a:schemeClr val="bg1"/>
                </a:solidFill>
                <a:latin typeface="Arial MT"/>
                <a:cs typeface="Arial MT"/>
              </a:rPr>
              <a:t> </a:t>
            </a:r>
            <a:r>
              <a:rPr sz="1800" dirty="0">
                <a:solidFill>
                  <a:schemeClr val="bg1"/>
                </a:solidFill>
                <a:latin typeface="Arial MT"/>
                <a:cs typeface="Arial MT"/>
              </a:rPr>
              <a:t>restaurants</a:t>
            </a:r>
            <a:r>
              <a:rPr sz="1800" spc="-25" dirty="0">
                <a:solidFill>
                  <a:schemeClr val="bg1"/>
                </a:solidFill>
                <a:latin typeface="Arial MT"/>
                <a:cs typeface="Arial MT"/>
              </a:rPr>
              <a:t> </a:t>
            </a:r>
            <a:r>
              <a:rPr sz="1800" dirty="0">
                <a:solidFill>
                  <a:schemeClr val="bg1"/>
                </a:solidFill>
                <a:latin typeface="Arial MT"/>
                <a:cs typeface="Arial MT"/>
              </a:rPr>
              <a:t>are</a:t>
            </a:r>
            <a:r>
              <a:rPr sz="1800" spc="-25" dirty="0">
                <a:solidFill>
                  <a:schemeClr val="bg1"/>
                </a:solidFill>
                <a:latin typeface="Arial MT"/>
                <a:cs typeface="Arial MT"/>
              </a:rPr>
              <a:t> </a:t>
            </a:r>
            <a:r>
              <a:rPr sz="1800" spc="-10" dirty="0">
                <a:solidFill>
                  <a:schemeClr val="bg1"/>
                </a:solidFill>
                <a:latin typeface="Arial MT"/>
                <a:cs typeface="Arial MT"/>
              </a:rPr>
              <a:t>rated </a:t>
            </a:r>
            <a:r>
              <a:rPr sz="1800" dirty="0">
                <a:solidFill>
                  <a:schemeClr val="bg1"/>
                </a:solidFill>
                <a:latin typeface="Arial MT"/>
                <a:cs typeface="Arial MT"/>
              </a:rPr>
              <a:t>average</a:t>
            </a:r>
            <a:r>
              <a:rPr sz="1800" spc="-45" dirty="0">
                <a:solidFill>
                  <a:schemeClr val="bg1"/>
                </a:solidFill>
                <a:latin typeface="Arial MT"/>
                <a:cs typeface="Arial MT"/>
              </a:rPr>
              <a:t> </a:t>
            </a:r>
            <a:r>
              <a:rPr sz="1800" dirty="0">
                <a:solidFill>
                  <a:schemeClr val="bg1"/>
                </a:solidFill>
                <a:latin typeface="Arial MT"/>
                <a:cs typeface="Arial MT"/>
              </a:rPr>
              <a:t>to</a:t>
            </a:r>
            <a:r>
              <a:rPr sz="1800" spc="-30" dirty="0">
                <a:solidFill>
                  <a:schemeClr val="bg1"/>
                </a:solidFill>
                <a:latin typeface="Arial MT"/>
                <a:cs typeface="Arial MT"/>
              </a:rPr>
              <a:t> </a:t>
            </a:r>
            <a:r>
              <a:rPr sz="1800" dirty="0">
                <a:solidFill>
                  <a:schemeClr val="bg1"/>
                </a:solidFill>
                <a:latin typeface="Arial MT"/>
                <a:cs typeface="Arial MT"/>
              </a:rPr>
              <a:t>slightly</a:t>
            </a:r>
            <a:r>
              <a:rPr sz="1800" spc="-35" dirty="0">
                <a:solidFill>
                  <a:schemeClr val="bg1"/>
                </a:solidFill>
                <a:latin typeface="Arial MT"/>
                <a:cs typeface="Arial MT"/>
              </a:rPr>
              <a:t> </a:t>
            </a:r>
            <a:r>
              <a:rPr sz="1800" dirty="0">
                <a:solidFill>
                  <a:schemeClr val="bg1"/>
                </a:solidFill>
                <a:latin typeface="Arial MT"/>
                <a:cs typeface="Arial MT"/>
              </a:rPr>
              <a:t>above</a:t>
            </a:r>
            <a:r>
              <a:rPr sz="1800" spc="-30" dirty="0">
                <a:solidFill>
                  <a:schemeClr val="bg1"/>
                </a:solidFill>
                <a:latin typeface="Arial MT"/>
                <a:cs typeface="Arial MT"/>
              </a:rPr>
              <a:t> </a:t>
            </a:r>
            <a:r>
              <a:rPr sz="1800" spc="-10" dirty="0">
                <a:solidFill>
                  <a:schemeClr val="bg1"/>
                </a:solidFill>
                <a:latin typeface="Arial MT"/>
                <a:cs typeface="Arial MT"/>
              </a:rPr>
              <a:t>average.</a:t>
            </a:r>
            <a:endParaRPr sz="1800" dirty="0">
              <a:solidFill>
                <a:schemeClr val="bg1"/>
              </a:solidFill>
              <a:latin typeface="Arial MT"/>
              <a:cs typeface="Arial MT"/>
            </a:endParaRPr>
          </a:p>
          <a:p>
            <a:pPr>
              <a:lnSpc>
                <a:spcPct val="100000"/>
              </a:lnSpc>
              <a:spcBef>
                <a:spcPts val="90"/>
              </a:spcBef>
              <a:buFont typeface="Arial MT"/>
              <a:buChar char="•"/>
            </a:pPr>
            <a:endParaRPr sz="1800" dirty="0">
              <a:solidFill>
                <a:schemeClr val="bg1"/>
              </a:solidFill>
              <a:latin typeface="Arial MT"/>
              <a:cs typeface="Arial MT"/>
            </a:endParaRPr>
          </a:p>
          <a:p>
            <a:pPr marL="76200">
              <a:lnSpc>
                <a:spcPct val="100000"/>
              </a:lnSpc>
            </a:pPr>
            <a:r>
              <a:rPr sz="1800" b="1" dirty="0">
                <a:solidFill>
                  <a:schemeClr val="bg1"/>
                </a:solidFill>
                <a:latin typeface="Arial"/>
                <a:cs typeface="Arial"/>
              </a:rPr>
              <a:t>Slight</a:t>
            </a:r>
            <a:r>
              <a:rPr sz="1800" b="1" spc="-35" dirty="0">
                <a:solidFill>
                  <a:schemeClr val="bg1"/>
                </a:solidFill>
                <a:latin typeface="Arial"/>
                <a:cs typeface="Arial"/>
              </a:rPr>
              <a:t> </a:t>
            </a:r>
            <a:r>
              <a:rPr sz="1800" b="1" dirty="0">
                <a:solidFill>
                  <a:schemeClr val="bg1"/>
                </a:solidFill>
                <a:latin typeface="Arial"/>
                <a:cs typeface="Arial"/>
              </a:rPr>
              <a:t>decline</a:t>
            </a:r>
            <a:r>
              <a:rPr sz="1800" b="1" spc="-30" dirty="0">
                <a:solidFill>
                  <a:schemeClr val="bg1"/>
                </a:solidFill>
                <a:latin typeface="Arial"/>
                <a:cs typeface="Arial"/>
              </a:rPr>
              <a:t> </a:t>
            </a:r>
            <a:r>
              <a:rPr sz="1800" b="1" dirty="0">
                <a:solidFill>
                  <a:schemeClr val="bg1"/>
                </a:solidFill>
                <a:latin typeface="Arial"/>
                <a:cs typeface="Arial"/>
              </a:rPr>
              <a:t>toward</a:t>
            </a:r>
            <a:r>
              <a:rPr sz="1800" b="1" spc="-30" dirty="0">
                <a:solidFill>
                  <a:schemeClr val="bg1"/>
                </a:solidFill>
                <a:latin typeface="Arial"/>
                <a:cs typeface="Arial"/>
              </a:rPr>
              <a:t> </a:t>
            </a:r>
            <a:r>
              <a:rPr sz="1800" b="1" dirty="0">
                <a:solidFill>
                  <a:schemeClr val="bg1"/>
                </a:solidFill>
                <a:latin typeface="Arial"/>
                <a:cs typeface="Arial"/>
              </a:rPr>
              <a:t>Rating</a:t>
            </a:r>
            <a:r>
              <a:rPr sz="1800" b="1" spc="-30" dirty="0">
                <a:solidFill>
                  <a:schemeClr val="bg1"/>
                </a:solidFill>
                <a:latin typeface="Arial"/>
                <a:cs typeface="Arial"/>
              </a:rPr>
              <a:t> </a:t>
            </a:r>
            <a:r>
              <a:rPr sz="1800" b="1" spc="-50" dirty="0">
                <a:solidFill>
                  <a:schemeClr val="bg1"/>
                </a:solidFill>
                <a:latin typeface="Arial"/>
                <a:cs typeface="Arial"/>
              </a:rPr>
              <a:t>5</a:t>
            </a:r>
            <a:endParaRPr sz="1800" dirty="0">
              <a:solidFill>
                <a:schemeClr val="bg1"/>
              </a:solidFill>
              <a:latin typeface="Arial"/>
              <a:cs typeface="Arial"/>
            </a:endParaRPr>
          </a:p>
          <a:p>
            <a:pPr marL="76200" marR="287020" indent="-12065">
              <a:lnSpc>
                <a:spcPct val="100000"/>
              </a:lnSpc>
              <a:buSzPct val="94444"/>
              <a:buChar char="•"/>
              <a:tabLst>
                <a:tab pos="156210" algn="l"/>
              </a:tabLst>
            </a:pPr>
            <a:r>
              <a:rPr sz="1800" dirty="0">
                <a:solidFill>
                  <a:schemeClr val="bg1"/>
                </a:solidFill>
                <a:latin typeface="Arial MT"/>
                <a:cs typeface="Arial MT"/>
              </a:rPr>
              <a:t>	Only</a:t>
            </a:r>
            <a:r>
              <a:rPr sz="1800" spc="-30" dirty="0">
                <a:solidFill>
                  <a:schemeClr val="bg1"/>
                </a:solidFill>
                <a:latin typeface="Arial MT"/>
                <a:cs typeface="Arial MT"/>
              </a:rPr>
              <a:t> </a:t>
            </a:r>
            <a:r>
              <a:rPr sz="1800" dirty="0">
                <a:solidFill>
                  <a:schemeClr val="bg1"/>
                </a:solidFill>
                <a:latin typeface="Arial MT"/>
                <a:cs typeface="Arial MT"/>
              </a:rPr>
              <a:t>about</a:t>
            </a:r>
            <a:r>
              <a:rPr sz="1800" spc="-20" dirty="0">
                <a:solidFill>
                  <a:schemeClr val="bg1"/>
                </a:solidFill>
                <a:latin typeface="Arial MT"/>
                <a:cs typeface="Arial MT"/>
              </a:rPr>
              <a:t> </a:t>
            </a:r>
            <a:r>
              <a:rPr sz="1800" b="1" dirty="0">
                <a:solidFill>
                  <a:schemeClr val="bg1"/>
                </a:solidFill>
                <a:latin typeface="Arial"/>
                <a:cs typeface="Arial"/>
              </a:rPr>
              <a:t>0.1K</a:t>
            </a:r>
            <a:r>
              <a:rPr sz="1800" b="1" spc="-35" dirty="0">
                <a:solidFill>
                  <a:schemeClr val="bg1"/>
                </a:solidFill>
                <a:latin typeface="Arial"/>
                <a:cs typeface="Arial"/>
              </a:rPr>
              <a:t> </a:t>
            </a:r>
            <a:r>
              <a:rPr sz="1800" b="1" dirty="0">
                <a:solidFill>
                  <a:schemeClr val="bg1"/>
                </a:solidFill>
                <a:latin typeface="Arial"/>
                <a:cs typeface="Arial"/>
              </a:rPr>
              <a:t>(100</a:t>
            </a:r>
            <a:r>
              <a:rPr sz="1800" b="1" spc="-35" dirty="0">
                <a:solidFill>
                  <a:schemeClr val="bg1"/>
                </a:solidFill>
                <a:latin typeface="Arial"/>
                <a:cs typeface="Arial"/>
              </a:rPr>
              <a:t> </a:t>
            </a:r>
            <a:r>
              <a:rPr sz="1800" b="1" dirty="0">
                <a:solidFill>
                  <a:schemeClr val="bg1"/>
                </a:solidFill>
                <a:latin typeface="Arial"/>
                <a:cs typeface="Arial"/>
              </a:rPr>
              <a:t>restaurants)</a:t>
            </a:r>
            <a:r>
              <a:rPr sz="1800" b="1" spc="-30" dirty="0">
                <a:solidFill>
                  <a:schemeClr val="bg1"/>
                </a:solidFill>
                <a:latin typeface="Arial"/>
                <a:cs typeface="Arial"/>
              </a:rPr>
              <a:t> </a:t>
            </a:r>
            <a:r>
              <a:rPr sz="1800" dirty="0">
                <a:solidFill>
                  <a:schemeClr val="bg1"/>
                </a:solidFill>
                <a:latin typeface="Arial MT"/>
                <a:cs typeface="Arial MT"/>
              </a:rPr>
              <a:t>received</a:t>
            </a:r>
            <a:r>
              <a:rPr sz="1800" spc="-35" dirty="0">
                <a:solidFill>
                  <a:schemeClr val="bg1"/>
                </a:solidFill>
                <a:latin typeface="Arial MT"/>
                <a:cs typeface="Arial MT"/>
              </a:rPr>
              <a:t> </a:t>
            </a:r>
            <a:r>
              <a:rPr sz="1800" dirty="0">
                <a:solidFill>
                  <a:schemeClr val="bg1"/>
                </a:solidFill>
                <a:latin typeface="Arial MT"/>
                <a:cs typeface="Arial MT"/>
              </a:rPr>
              <a:t>a</a:t>
            </a:r>
            <a:r>
              <a:rPr sz="1800" spc="-25" dirty="0">
                <a:solidFill>
                  <a:schemeClr val="bg1"/>
                </a:solidFill>
                <a:latin typeface="Arial MT"/>
                <a:cs typeface="Arial MT"/>
              </a:rPr>
              <a:t> </a:t>
            </a:r>
            <a:r>
              <a:rPr sz="1800" dirty="0">
                <a:solidFill>
                  <a:schemeClr val="bg1"/>
                </a:solidFill>
                <a:latin typeface="Arial MT"/>
                <a:cs typeface="Arial MT"/>
              </a:rPr>
              <a:t>perfect</a:t>
            </a:r>
            <a:r>
              <a:rPr sz="1800" spc="-35" dirty="0">
                <a:solidFill>
                  <a:schemeClr val="bg1"/>
                </a:solidFill>
                <a:latin typeface="Arial MT"/>
                <a:cs typeface="Arial MT"/>
              </a:rPr>
              <a:t> </a:t>
            </a:r>
            <a:r>
              <a:rPr sz="1800" spc="-10" dirty="0">
                <a:solidFill>
                  <a:schemeClr val="bg1"/>
                </a:solidFill>
                <a:latin typeface="Arial MT"/>
                <a:cs typeface="Arial MT"/>
              </a:rPr>
              <a:t>5-</a:t>
            </a:r>
            <a:r>
              <a:rPr sz="1800" spc="-20" dirty="0">
                <a:solidFill>
                  <a:schemeClr val="bg1"/>
                </a:solidFill>
                <a:latin typeface="Arial MT"/>
                <a:cs typeface="Arial MT"/>
              </a:rPr>
              <a:t>star </a:t>
            </a:r>
            <a:r>
              <a:rPr sz="1800" spc="-10" dirty="0">
                <a:solidFill>
                  <a:schemeClr val="bg1"/>
                </a:solidFill>
                <a:latin typeface="Arial MT"/>
                <a:cs typeface="Arial MT"/>
              </a:rPr>
              <a:t>rating.</a:t>
            </a:r>
            <a:endParaRPr sz="1800" dirty="0">
              <a:solidFill>
                <a:schemeClr val="bg1"/>
              </a:solidFill>
              <a:latin typeface="Arial MT"/>
              <a:cs typeface="Arial MT"/>
            </a:endParaRPr>
          </a:p>
          <a:p>
            <a:pPr marL="76200" marR="41910" indent="-12065">
              <a:lnSpc>
                <a:spcPct val="100000"/>
              </a:lnSpc>
              <a:buSzPct val="94444"/>
              <a:buChar char="•"/>
              <a:tabLst>
                <a:tab pos="156210" algn="l"/>
              </a:tabLst>
            </a:pPr>
            <a:r>
              <a:rPr sz="1800" dirty="0">
                <a:solidFill>
                  <a:schemeClr val="bg1"/>
                </a:solidFill>
                <a:latin typeface="Arial MT"/>
                <a:cs typeface="Arial MT"/>
              </a:rPr>
              <a:t>	This</a:t>
            </a:r>
            <a:r>
              <a:rPr sz="1800" spc="-30" dirty="0">
                <a:solidFill>
                  <a:schemeClr val="bg1"/>
                </a:solidFill>
                <a:latin typeface="Arial MT"/>
                <a:cs typeface="Arial MT"/>
              </a:rPr>
              <a:t> </a:t>
            </a:r>
            <a:r>
              <a:rPr sz="1800" dirty="0">
                <a:solidFill>
                  <a:schemeClr val="bg1"/>
                </a:solidFill>
                <a:latin typeface="Arial MT"/>
                <a:cs typeface="Arial MT"/>
              </a:rPr>
              <a:t>suggests</a:t>
            </a:r>
            <a:r>
              <a:rPr sz="1800" spc="-30" dirty="0">
                <a:solidFill>
                  <a:schemeClr val="bg1"/>
                </a:solidFill>
                <a:latin typeface="Arial MT"/>
                <a:cs typeface="Arial MT"/>
              </a:rPr>
              <a:t> </a:t>
            </a:r>
            <a:r>
              <a:rPr sz="1800" dirty="0">
                <a:solidFill>
                  <a:schemeClr val="bg1"/>
                </a:solidFill>
                <a:latin typeface="Arial MT"/>
                <a:cs typeface="Arial MT"/>
              </a:rPr>
              <a:t>that</a:t>
            </a:r>
            <a:r>
              <a:rPr sz="1800" spc="-15" dirty="0">
                <a:solidFill>
                  <a:schemeClr val="bg1"/>
                </a:solidFill>
                <a:latin typeface="Arial MT"/>
                <a:cs typeface="Arial MT"/>
              </a:rPr>
              <a:t> </a:t>
            </a:r>
            <a:r>
              <a:rPr sz="1800" b="1" dirty="0">
                <a:solidFill>
                  <a:schemeClr val="bg1"/>
                </a:solidFill>
                <a:latin typeface="Arial"/>
                <a:cs typeface="Arial"/>
              </a:rPr>
              <a:t>very</a:t>
            </a:r>
            <a:r>
              <a:rPr sz="1800" b="1" spc="-40" dirty="0">
                <a:solidFill>
                  <a:schemeClr val="bg1"/>
                </a:solidFill>
                <a:latin typeface="Arial"/>
                <a:cs typeface="Arial"/>
              </a:rPr>
              <a:t> </a:t>
            </a:r>
            <a:r>
              <a:rPr sz="1800" b="1" dirty="0">
                <a:solidFill>
                  <a:schemeClr val="bg1"/>
                </a:solidFill>
                <a:latin typeface="Arial"/>
                <a:cs typeface="Arial"/>
              </a:rPr>
              <a:t>few</a:t>
            </a:r>
            <a:r>
              <a:rPr sz="1800" b="1" spc="-25" dirty="0">
                <a:solidFill>
                  <a:schemeClr val="bg1"/>
                </a:solidFill>
                <a:latin typeface="Arial"/>
                <a:cs typeface="Arial"/>
              </a:rPr>
              <a:t> </a:t>
            </a:r>
            <a:r>
              <a:rPr sz="1800" b="1" dirty="0">
                <a:solidFill>
                  <a:schemeClr val="bg1"/>
                </a:solidFill>
                <a:latin typeface="Arial"/>
                <a:cs typeface="Arial"/>
              </a:rPr>
              <a:t>restaurants</a:t>
            </a:r>
            <a:r>
              <a:rPr sz="1800" b="1" spc="-30" dirty="0">
                <a:solidFill>
                  <a:schemeClr val="bg1"/>
                </a:solidFill>
                <a:latin typeface="Arial"/>
                <a:cs typeface="Arial"/>
              </a:rPr>
              <a:t> </a:t>
            </a:r>
            <a:r>
              <a:rPr sz="1800" b="1" dirty="0">
                <a:solidFill>
                  <a:schemeClr val="bg1"/>
                </a:solidFill>
                <a:latin typeface="Arial"/>
                <a:cs typeface="Arial"/>
              </a:rPr>
              <a:t>achieve</a:t>
            </a:r>
            <a:r>
              <a:rPr sz="1800" b="1" spc="-35" dirty="0">
                <a:solidFill>
                  <a:schemeClr val="bg1"/>
                </a:solidFill>
                <a:latin typeface="Arial"/>
                <a:cs typeface="Arial"/>
              </a:rPr>
              <a:t> </a:t>
            </a:r>
            <a:r>
              <a:rPr sz="1800" b="1" dirty="0">
                <a:solidFill>
                  <a:schemeClr val="bg1"/>
                </a:solidFill>
                <a:latin typeface="Arial"/>
                <a:cs typeface="Arial"/>
              </a:rPr>
              <a:t>the</a:t>
            </a:r>
            <a:r>
              <a:rPr sz="1800" b="1" spc="-40" dirty="0">
                <a:solidFill>
                  <a:schemeClr val="bg1"/>
                </a:solidFill>
                <a:latin typeface="Arial"/>
                <a:cs typeface="Arial"/>
              </a:rPr>
              <a:t> </a:t>
            </a:r>
            <a:r>
              <a:rPr sz="1800" b="1" spc="-10" dirty="0">
                <a:solidFill>
                  <a:schemeClr val="bg1"/>
                </a:solidFill>
                <a:latin typeface="Arial"/>
                <a:cs typeface="Arial"/>
              </a:rPr>
              <a:t>highest </a:t>
            </a:r>
            <a:r>
              <a:rPr sz="1800" b="1" dirty="0">
                <a:solidFill>
                  <a:schemeClr val="bg1"/>
                </a:solidFill>
                <a:latin typeface="Arial"/>
                <a:cs typeface="Arial"/>
              </a:rPr>
              <a:t>rating</a:t>
            </a:r>
            <a:r>
              <a:rPr sz="1800" dirty="0">
                <a:solidFill>
                  <a:schemeClr val="bg1"/>
                </a:solidFill>
                <a:latin typeface="Arial MT"/>
                <a:cs typeface="Arial MT"/>
              </a:rPr>
              <a:t>,</a:t>
            </a:r>
            <a:r>
              <a:rPr sz="1800" spc="-25" dirty="0">
                <a:solidFill>
                  <a:schemeClr val="bg1"/>
                </a:solidFill>
                <a:latin typeface="Arial MT"/>
                <a:cs typeface="Arial MT"/>
              </a:rPr>
              <a:t> </a:t>
            </a:r>
            <a:r>
              <a:rPr sz="1800" dirty="0">
                <a:solidFill>
                  <a:schemeClr val="bg1"/>
                </a:solidFill>
                <a:latin typeface="Arial MT"/>
                <a:cs typeface="Arial MT"/>
              </a:rPr>
              <a:t>possibly</a:t>
            </a:r>
            <a:r>
              <a:rPr sz="1800" spc="-20" dirty="0">
                <a:solidFill>
                  <a:schemeClr val="bg1"/>
                </a:solidFill>
                <a:latin typeface="Arial MT"/>
                <a:cs typeface="Arial MT"/>
              </a:rPr>
              <a:t> </a:t>
            </a:r>
            <a:r>
              <a:rPr sz="1800" dirty="0">
                <a:solidFill>
                  <a:schemeClr val="bg1"/>
                </a:solidFill>
                <a:latin typeface="Arial MT"/>
                <a:cs typeface="Arial MT"/>
              </a:rPr>
              <a:t>due</a:t>
            </a:r>
            <a:r>
              <a:rPr sz="1800" spc="-30" dirty="0">
                <a:solidFill>
                  <a:schemeClr val="bg1"/>
                </a:solidFill>
                <a:latin typeface="Arial MT"/>
                <a:cs typeface="Arial MT"/>
              </a:rPr>
              <a:t> </a:t>
            </a:r>
            <a:r>
              <a:rPr sz="1800" dirty="0">
                <a:solidFill>
                  <a:schemeClr val="bg1"/>
                </a:solidFill>
                <a:latin typeface="Arial MT"/>
                <a:cs typeface="Arial MT"/>
              </a:rPr>
              <a:t>to</a:t>
            </a:r>
            <a:r>
              <a:rPr sz="1800" spc="-35" dirty="0">
                <a:solidFill>
                  <a:schemeClr val="bg1"/>
                </a:solidFill>
                <a:latin typeface="Arial MT"/>
                <a:cs typeface="Arial MT"/>
              </a:rPr>
              <a:t> </a:t>
            </a:r>
            <a:r>
              <a:rPr sz="1800" dirty="0">
                <a:solidFill>
                  <a:schemeClr val="bg1"/>
                </a:solidFill>
                <a:latin typeface="Arial MT"/>
                <a:cs typeface="Arial MT"/>
              </a:rPr>
              <a:t>high</a:t>
            </a:r>
            <a:r>
              <a:rPr sz="1800" spc="-30" dirty="0">
                <a:solidFill>
                  <a:schemeClr val="bg1"/>
                </a:solidFill>
                <a:latin typeface="Arial MT"/>
                <a:cs typeface="Arial MT"/>
              </a:rPr>
              <a:t> </a:t>
            </a:r>
            <a:r>
              <a:rPr sz="1800" dirty="0">
                <a:solidFill>
                  <a:schemeClr val="bg1"/>
                </a:solidFill>
                <a:latin typeface="Arial MT"/>
                <a:cs typeface="Arial MT"/>
              </a:rPr>
              <a:t>customer</a:t>
            </a:r>
            <a:r>
              <a:rPr sz="1800" spc="-30" dirty="0">
                <a:solidFill>
                  <a:schemeClr val="bg1"/>
                </a:solidFill>
                <a:latin typeface="Arial MT"/>
                <a:cs typeface="Arial MT"/>
              </a:rPr>
              <a:t> </a:t>
            </a:r>
            <a:r>
              <a:rPr sz="1800" spc="-10" dirty="0">
                <a:solidFill>
                  <a:schemeClr val="bg1"/>
                </a:solidFill>
                <a:latin typeface="Arial MT"/>
                <a:cs typeface="Arial MT"/>
              </a:rPr>
              <a:t>expectations.</a:t>
            </a:r>
            <a:endParaRPr sz="1800" dirty="0">
              <a:solidFill>
                <a:schemeClr val="bg1"/>
              </a:solidFill>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138" y="889393"/>
            <a:ext cx="9150223" cy="843821"/>
          </a:xfrm>
          <a:prstGeom prst="rect">
            <a:avLst/>
          </a:prstGeom>
        </p:spPr>
        <p:txBody>
          <a:bodyPr vert="horz" wrap="square" lIns="0" tIns="12700" rIns="0" bIns="0" rtlCol="0">
            <a:spAutoFit/>
          </a:bodyPr>
          <a:lstStyle/>
          <a:p>
            <a:pPr marL="12700">
              <a:lnSpc>
                <a:spcPct val="100000"/>
              </a:lnSpc>
              <a:spcBef>
                <a:spcPts val="100"/>
              </a:spcBef>
            </a:pPr>
            <a:r>
              <a:rPr sz="1800" b="1" spc="-20" dirty="0">
                <a:solidFill>
                  <a:schemeClr val="bg1"/>
                </a:solidFill>
                <a:latin typeface="Segoe UI Black" panose="020B0A02040204020203" pitchFamily="34" charset="0"/>
                <a:ea typeface="Segoe UI Black" panose="020B0A02040204020203" pitchFamily="34" charset="0"/>
                <a:cs typeface="Calibri"/>
              </a:rPr>
              <a:t>Average</a:t>
            </a:r>
            <a:r>
              <a:rPr sz="1800" b="1" spc="-50" dirty="0">
                <a:solidFill>
                  <a:schemeClr val="bg1"/>
                </a:solidFill>
                <a:latin typeface="Segoe UI Black" panose="020B0A02040204020203" pitchFamily="34" charset="0"/>
                <a:ea typeface="Segoe UI Black" panose="020B0A02040204020203" pitchFamily="34" charset="0"/>
                <a:cs typeface="Calibri"/>
              </a:rPr>
              <a:t> </a:t>
            </a:r>
            <a:r>
              <a:rPr sz="1800" b="1" dirty="0">
                <a:solidFill>
                  <a:schemeClr val="bg1"/>
                </a:solidFill>
                <a:latin typeface="Segoe UI Black" panose="020B0A02040204020203" pitchFamily="34" charset="0"/>
                <a:ea typeface="Segoe UI Black" panose="020B0A02040204020203" pitchFamily="34" charset="0"/>
                <a:cs typeface="Calibri"/>
              </a:rPr>
              <a:t>cost</a:t>
            </a:r>
            <a:r>
              <a:rPr sz="1800" b="1" spc="-45" dirty="0">
                <a:solidFill>
                  <a:schemeClr val="bg1"/>
                </a:solidFill>
                <a:latin typeface="Segoe UI Black" panose="020B0A02040204020203" pitchFamily="34" charset="0"/>
                <a:ea typeface="Segoe UI Black" panose="020B0A02040204020203" pitchFamily="34" charset="0"/>
                <a:cs typeface="Calibri"/>
              </a:rPr>
              <a:t> </a:t>
            </a:r>
            <a:r>
              <a:rPr sz="1800" b="1" dirty="0">
                <a:solidFill>
                  <a:schemeClr val="bg1"/>
                </a:solidFill>
                <a:latin typeface="Segoe UI Black" panose="020B0A02040204020203" pitchFamily="34" charset="0"/>
                <a:ea typeface="Segoe UI Black" panose="020B0A02040204020203" pitchFamily="34" charset="0"/>
                <a:cs typeface="Calibri"/>
              </a:rPr>
              <a:t>for</a:t>
            </a:r>
            <a:r>
              <a:rPr sz="1800" b="1" spc="-40" dirty="0">
                <a:solidFill>
                  <a:schemeClr val="bg1"/>
                </a:solidFill>
                <a:latin typeface="Segoe UI Black" panose="020B0A02040204020203" pitchFamily="34" charset="0"/>
                <a:ea typeface="Segoe UI Black" panose="020B0A02040204020203" pitchFamily="34" charset="0"/>
                <a:cs typeface="Calibri"/>
              </a:rPr>
              <a:t> </a:t>
            </a:r>
            <a:r>
              <a:rPr sz="1800" b="1" spc="-25" dirty="0">
                <a:solidFill>
                  <a:schemeClr val="bg1"/>
                </a:solidFill>
                <a:latin typeface="Segoe UI Black" panose="020B0A02040204020203" pitchFamily="34" charset="0"/>
                <a:ea typeface="Segoe UI Black" panose="020B0A02040204020203" pitchFamily="34" charset="0"/>
                <a:cs typeface="Calibri"/>
              </a:rPr>
              <a:t>two</a:t>
            </a:r>
            <a:endParaRPr sz="1800" b="1" dirty="0">
              <a:solidFill>
                <a:schemeClr val="bg1"/>
              </a:solidFill>
              <a:latin typeface="Segoe UI Black" panose="020B0A02040204020203" pitchFamily="34" charset="0"/>
              <a:ea typeface="Segoe UI Black" panose="020B0A02040204020203" pitchFamily="34" charset="0"/>
              <a:cs typeface="Calibri"/>
            </a:endParaRPr>
          </a:p>
          <a:p>
            <a:pPr marL="297815" marR="5080" indent="-285750">
              <a:lnSpc>
                <a:spcPct val="100000"/>
              </a:lnSpc>
              <a:buFont typeface="Arial MT"/>
              <a:buChar char="•"/>
              <a:tabLst>
                <a:tab pos="297815" algn="l"/>
              </a:tabLst>
            </a:pPr>
            <a:r>
              <a:rPr sz="1800" spc="-20" dirty="0">
                <a:solidFill>
                  <a:schemeClr val="bg1"/>
                </a:solidFill>
                <a:latin typeface="Calibri"/>
                <a:cs typeface="Calibri"/>
              </a:rPr>
              <a:t>Restaurants</a:t>
            </a:r>
            <a:r>
              <a:rPr sz="1800" spc="-35" dirty="0">
                <a:solidFill>
                  <a:schemeClr val="bg1"/>
                </a:solidFill>
                <a:latin typeface="Calibri"/>
                <a:cs typeface="Calibri"/>
              </a:rPr>
              <a:t> </a:t>
            </a:r>
            <a:r>
              <a:rPr sz="1800" dirty="0">
                <a:solidFill>
                  <a:schemeClr val="bg1"/>
                </a:solidFill>
                <a:latin typeface="Calibri"/>
                <a:cs typeface="Calibri"/>
              </a:rPr>
              <a:t>with</a:t>
            </a:r>
            <a:r>
              <a:rPr sz="1800" spc="-35" dirty="0">
                <a:solidFill>
                  <a:schemeClr val="bg1"/>
                </a:solidFill>
                <a:latin typeface="Calibri"/>
                <a:cs typeface="Calibri"/>
              </a:rPr>
              <a:t> </a:t>
            </a:r>
            <a:r>
              <a:rPr sz="1800" spc="-20" dirty="0">
                <a:solidFill>
                  <a:schemeClr val="bg1"/>
                </a:solidFill>
                <a:latin typeface="Calibri"/>
                <a:cs typeface="Calibri"/>
              </a:rPr>
              <a:t>Average</a:t>
            </a:r>
            <a:r>
              <a:rPr sz="1800" spc="-40" dirty="0">
                <a:solidFill>
                  <a:schemeClr val="bg1"/>
                </a:solidFill>
                <a:latin typeface="Calibri"/>
                <a:cs typeface="Calibri"/>
              </a:rPr>
              <a:t> </a:t>
            </a:r>
            <a:r>
              <a:rPr sz="1800" dirty="0">
                <a:solidFill>
                  <a:schemeClr val="bg1"/>
                </a:solidFill>
                <a:latin typeface="Calibri"/>
                <a:cs typeface="Calibri"/>
              </a:rPr>
              <a:t>cost</a:t>
            </a:r>
            <a:r>
              <a:rPr sz="1800" spc="-40" dirty="0">
                <a:solidFill>
                  <a:schemeClr val="bg1"/>
                </a:solidFill>
                <a:latin typeface="Calibri"/>
                <a:cs typeface="Calibri"/>
              </a:rPr>
              <a:t> </a:t>
            </a:r>
            <a:r>
              <a:rPr sz="1800" dirty="0">
                <a:solidFill>
                  <a:schemeClr val="bg1"/>
                </a:solidFill>
                <a:latin typeface="Calibri"/>
                <a:cs typeface="Calibri"/>
              </a:rPr>
              <a:t>for</a:t>
            </a:r>
            <a:r>
              <a:rPr sz="1800" spc="-35" dirty="0">
                <a:solidFill>
                  <a:schemeClr val="bg1"/>
                </a:solidFill>
                <a:latin typeface="Calibri"/>
                <a:cs typeface="Calibri"/>
              </a:rPr>
              <a:t> </a:t>
            </a:r>
            <a:r>
              <a:rPr sz="1800" dirty="0">
                <a:solidFill>
                  <a:schemeClr val="bg1"/>
                </a:solidFill>
                <a:latin typeface="Calibri"/>
                <a:cs typeface="Calibri"/>
              </a:rPr>
              <a:t>2</a:t>
            </a:r>
            <a:r>
              <a:rPr sz="1800" spc="-45" dirty="0">
                <a:solidFill>
                  <a:schemeClr val="bg1"/>
                </a:solidFill>
                <a:latin typeface="Calibri"/>
                <a:cs typeface="Calibri"/>
              </a:rPr>
              <a:t> </a:t>
            </a:r>
            <a:r>
              <a:rPr sz="1800" dirty="0">
                <a:solidFill>
                  <a:schemeClr val="bg1"/>
                </a:solidFill>
                <a:latin typeface="Calibri"/>
                <a:cs typeface="Calibri"/>
              </a:rPr>
              <a:t>between</a:t>
            </a:r>
            <a:r>
              <a:rPr sz="1800" spc="-35" dirty="0">
                <a:solidFill>
                  <a:schemeClr val="bg1"/>
                </a:solidFill>
                <a:latin typeface="Calibri"/>
                <a:cs typeface="Calibri"/>
              </a:rPr>
              <a:t> </a:t>
            </a:r>
            <a:r>
              <a:rPr sz="1800" spc="-10" dirty="0">
                <a:solidFill>
                  <a:schemeClr val="bg1"/>
                </a:solidFill>
                <a:latin typeface="Calibri"/>
                <a:cs typeface="Calibri"/>
              </a:rPr>
              <a:t>0-</a:t>
            </a:r>
            <a:r>
              <a:rPr sz="1800" spc="-25" dirty="0">
                <a:solidFill>
                  <a:schemeClr val="bg1"/>
                </a:solidFill>
                <a:latin typeface="Calibri"/>
                <a:cs typeface="Calibri"/>
              </a:rPr>
              <a:t>100 </a:t>
            </a:r>
            <a:r>
              <a:rPr sz="1800" spc="-10" dirty="0">
                <a:solidFill>
                  <a:schemeClr val="bg1"/>
                </a:solidFill>
                <a:latin typeface="Calibri"/>
                <a:cs typeface="Calibri"/>
              </a:rPr>
              <a:t>bucket</a:t>
            </a:r>
            <a:r>
              <a:rPr sz="1800" spc="-60" dirty="0">
                <a:solidFill>
                  <a:schemeClr val="bg1"/>
                </a:solidFill>
                <a:latin typeface="Calibri"/>
                <a:cs typeface="Calibri"/>
              </a:rPr>
              <a:t> </a:t>
            </a:r>
            <a:r>
              <a:rPr sz="1800" dirty="0">
                <a:solidFill>
                  <a:schemeClr val="bg1"/>
                </a:solidFill>
                <a:latin typeface="Calibri"/>
                <a:cs typeface="Calibri"/>
              </a:rPr>
              <a:t>are</a:t>
            </a:r>
            <a:r>
              <a:rPr sz="1800" spc="-60" dirty="0">
                <a:solidFill>
                  <a:schemeClr val="bg1"/>
                </a:solidFill>
                <a:latin typeface="Calibri"/>
                <a:cs typeface="Calibri"/>
              </a:rPr>
              <a:t> </a:t>
            </a:r>
            <a:r>
              <a:rPr sz="1800" spc="-20" dirty="0">
                <a:solidFill>
                  <a:schemeClr val="bg1"/>
                </a:solidFill>
                <a:latin typeface="Calibri"/>
                <a:cs typeface="Calibri"/>
              </a:rPr>
              <a:t>0.4k</a:t>
            </a:r>
            <a:endParaRPr sz="1800" dirty="0">
              <a:solidFill>
                <a:schemeClr val="bg1"/>
              </a:solidFill>
              <a:latin typeface="Calibri"/>
              <a:cs typeface="Calibri"/>
            </a:endParaRPr>
          </a:p>
          <a:p>
            <a:pPr marL="297815" marR="684530" indent="-285750">
              <a:lnSpc>
                <a:spcPct val="100000"/>
              </a:lnSpc>
              <a:buFont typeface="Arial MT"/>
              <a:buChar char="•"/>
              <a:tabLst>
                <a:tab pos="297815" algn="l"/>
              </a:tabLst>
            </a:pPr>
            <a:r>
              <a:rPr sz="1800" dirty="0">
                <a:solidFill>
                  <a:schemeClr val="bg1"/>
                </a:solidFill>
                <a:latin typeface="Calibri"/>
                <a:cs typeface="Calibri"/>
              </a:rPr>
              <a:t>Highest</a:t>
            </a:r>
            <a:r>
              <a:rPr sz="1800" spc="-55" dirty="0">
                <a:solidFill>
                  <a:schemeClr val="bg1"/>
                </a:solidFill>
                <a:latin typeface="Calibri"/>
                <a:cs typeface="Calibri"/>
              </a:rPr>
              <a:t> </a:t>
            </a:r>
            <a:r>
              <a:rPr sz="1800" dirty="0">
                <a:solidFill>
                  <a:schemeClr val="bg1"/>
                </a:solidFill>
                <a:latin typeface="Calibri"/>
                <a:cs typeface="Calibri"/>
              </a:rPr>
              <a:t>i.e</a:t>
            </a:r>
            <a:r>
              <a:rPr sz="1800" spc="-55" dirty="0">
                <a:solidFill>
                  <a:schemeClr val="bg1"/>
                </a:solidFill>
                <a:latin typeface="Calibri"/>
                <a:cs typeface="Calibri"/>
              </a:rPr>
              <a:t> </a:t>
            </a:r>
            <a:r>
              <a:rPr sz="1800" dirty="0">
                <a:solidFill>
                  <a:schemeClr val="bg1"/>
                </a:solidFill>
                <a:latin typeface="Calibri"/>
                <a:cs typeface="Calibri"/>
              </a:rPr>
              <a:t>500+</a:t>
            </a:r>
            <a:r>
              <a:rPr sz="1800" spc="-50" dirty="0">
                <a:solidFill>
                  <a:schemeClr val="bg1"/>
                </a:solidFill>
                <a:latin typeface="Calibri"/>
                <a:cs typeface="Calibri"/>
              </a:rPr>
              <a:t> </a:t>
            </a:r>
            <a:r>
              <a:rPr sz="1800" spc="-20" dirty="0">
                <a:solidFill>
                  <a:schemeClr val="bg1"/>
                </a:solidFill>
                <a:latin typeface="Calibri"/>
                <a:cs typeface="Calibri"/>
              </a:rPr>
              <a:t>average</a:t>
            </a:r>
            <a:r>
              <a:rPr sz="1800" spc="-50" dirty="0">
                <a:solidFill>
                  <a:schemeClr val="bg1"/>
                </a:solidFill>
                <a:latin typeface="Calibri"/>
                <a:cs typeface="Calibri"/>
              </a:rPr>
              <a:t> </a:t>
            </a:r>
            <a:r>
              <a:rPr sz="1800" dirty="0">
                <a:solidFill>
                  <a:schemeClr val="bg1"/>
                </a:solidFill>
                <a:latin typeface="Calibri"/>
                <a:cs typeface="Calibri"/>
              </a:rPr>
              <a:t>cost</a:t>
            </a:r>
            <a:r>
              <a:rPr sz="1800" spc="-55" dirty="0">
                <a:solidFill>
                  <a:schemeClr val="bg1"/>
                </a:solidFill>
                <a:latin typeface="Calibri"/>
                <a:cs typeface="Calibri"/>
              </a:rPr>
              <a:t> </a:t>
            </a:r>
            <a:r>
              <a:rPr sz="1800" dirty="0">
                <a:solidFill>
                  <a:schemeClr val="bg1"/>
                </a:solidFill>
                <a:latin typeface="Calibri"/>
                <a:cs typeface="Calibri"/>
              </a:rPr>
              <a:t>there</a:t>
            </a:r>
            <a:r>
              <a:rPr sz="1800" spc="-50" dirty="0">
                <a:solidFill>
                  <a:schemeClr val="bg1"/>
                </a:solidFill>
                <a:latin typeface="Calibri"/>
                <a:cs typeface="Calibri"/>
              </a:rPr>
              <a:t> </a:t>
            </a:r>
            <a:r>
              <a:rPr sz="1800" dirty="0">
                <a:solidFill>
                  <a:schemeClr val="bg1"/>
                </a:solidFill>
                <a:latin typeface="Calibri"/>
                <a:cs typeface="Calibri"/>
              </a:rPr>
              <a:t>are</a:t>
            </a:r>
            <a:r>
              <a:rPr sz="1800" spc="-50" dirty="0">
                <a:solidFill>
                  <a:schemeClr val="bg1"/>
                </a:solidFill>
                <a:latin typeface="Calibri"/>
                <a:cs typeface="Calibri"/>
              </a:rPr>
              <a:t> </a:t>
            </a:r>
            <a:r>
              <a:rPr sz="1800" spc="-20" dirty="0">
                <a:solidFill>
                  <a:schemeClr val="bg1"/>
                </a:solidFill>
                <a:latin typeface="Calibri"/>
                <a:cs typeface="Calibri"/>
              </a:rPr>
              <a:t>3.4k </a:t>
            </a:r>
            <a:r>
              <a:rPr sz="1800" spc="-10" dirty="0">
                <a:solidFill>
                  <a:schemeClr val="bg1"/>
                </a:solidFill>
                <a:latin typeface="Calibri"/>
                <a:cs typeface="Calibri"/>
              </a:rPr>
              <a:t>restaurants.</a:t>
            </a:r>
            <a:endParaRPr sz="1800" dirty="0">
              <a:solidFill>
                <a:schemeClr val="bg1"/>
              </a:solidFill>
              <a:latin typeface="Calibri"/>
              <a:cs typeface="Calibri"/>
            </a:endParaRPr>
          </a:p>
        </p:txBody>
      </p:sp>
      <p:sp>
        <p:nvSpPr>
          <p:cNvPr id="3" name="object 3"/>
          <p:cNvSpPr txBox="1"/>
          <p:nvPr/>
        </p:nvSpPr>
        <p:spPr>
          <a:xfrm>
            <a:off x="1136777" y="3065665"/>
            <a:ext cx="10604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MT"/>
                <a:cs typeface="Arial MT"/>
              </a:rPr>
              <a:t>•</a:t>
            </a:r>
            <a:endParaRPr sz="1800">
              <a:latin typeface="Arial MT"/>
              <a:cs typeface="Arial MT"/>
            </a:endParaRPr>
          </a:p>
        </p:txBody>
      </p:sp>
      <p:sp>
        <p:nvSpPr>
          <p:cNvPr id="4" name="object 4"/>
          <p:cNvSpPr txBox="1"/>
          <p:nvPr/>
        </p:nvSpPr>
        <p:spPr>
          <a:xfrm>
            <a:off x="1136777" y="3614305"/>
            <a:ext cx="10604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MT"/>
                <a:cs typeface="Arial MT"/>
              </a:rPr>
              <a:t>•</a:t>
            </a:r>
            <a:endParaRPr sz="1800">
              <a:latin typeface="Arial MT"/>
              <a:cs typeface="Arial MT"/>
            </a:endParaRPr>
          </a:p>
        </p:txBody>
      </p:sp>
      <p:sp>
        <p:nvSpPr>
          <p:cNvPr id="5" name="object 5"/>
          <p:cNvSpPr txBox="1"/>
          <p:nvPr/>
        </p:nvSpPr>
        <p:spPr>
          <a:xfrm>
            <a:off x="0" y="2565330"/>
            <a:ext cx="12579223" cy="1133644"/>
          </a:xfrm>
          <a:prstGeom prst="rect">
            <a:avLst/>
          </a:prstGeom>
        </p:spPr>
        <p:txBody>
          <a:bodyPr vert="horz" wrap="square" lIns="0" tIns="12700" rIns="0" bIns="0" rtlCol="0">
            <a:spAutoFit/>
          </a:bodyPr>
          <a:lstStyle/>
          <a:p>
            <a:pPr marL="297815" marR="5080" indent="-285750">
              <a:lnSpc>
                <a:spcPct val="100000"/>
              </a:lnSpc>
              <a:spcBef>
                <a:spcPts val="100"/>
              </a:spcBef>
              <a:buFont typeface="Arial" panose="020B0604020202020204" pitchFamily="34" charset="0"/>
              <a:buChar char="•"/>
              <a:tabLst>
                <a:tab pos="297815" algn="l"/>
              </a:tabLst>
            </a:pPr>
            <a:r>
              <a:rPr sz="1800" b="1" dirty="0">
                <a:solidFill>
                  <a:schemeClr val="bg1"/>
                </a:solidFill>
                <a:latin typeface="Calibri"/>
                <a:cs typeface="Calibri"/>
              </a:rPr>
              <a:t>Most</a:t>
            </a:r>
            <a:r>
              <a:rPr sz="1800" b="1" spc="-70" dirty="0">
                <a:solidFill>
                  <a:schemeClr val="bg1"/>
                </a:solidFill>
                <a:latin typeface="Calibri"/>
                <a:cs typeface="Calibri"/>
              </a:rPr>
              <a:t> </a:t>
            </a:r>
            <a:r>
              <a:rPr sz="1800" b="1" spc="-10" dirty="0">
                <a:solidFill>
                  <a:schemeClr val="bg1"/>
                </a:solidFill>
                <a:latin typeface="Calibri"/>
                <a:cs typeface="Calibri"/>
              </a:rPr>
              <a:t>restaurants</a:t>
            </a:r>
            <a:r>
              <a:rPr sz="1800" b="1" spc="-55" dirty="0">
                <a:solidFill>
                  <a:schemeClr val="bg1"/>
                </a:solidFill>
                <a:latin typeface="Calibri"/>
                <a:cs typeface="Calibri"/>
              </a:rPr>
              <a:t> </a:t>
            </a:r>
            <a:r>
              <a:rPr sz="1800" b="1" dirty="0">
                <a:solidFill>
                  <a:schemeClr val="bg1"/>
                </a:solidFill>
                <a:latin typeface="Calibri"/>
                <a:cs typeface="Calibri"/>
              </a:rPr>
              <a:t>fall</a:t>
            </a:r>
            <a:r>
              <a:rPr sz="1800" b="1" spc="-60" dirty="0">
                <a:solidFill>
                  <a:schemeClr val="bg1"/>
                </a:solidFill>
                <a:latin typeface="Calibri"/>
                <a:cs typeface="Calibri"/>
              </a:rPr>
              <a:t> </a:t>
            </a:r>
            <a:r>
              <a:rPr sz="1800" b="1" dirty="0">
                <a:solidFill>
                  <a:schemeClr val="bg1"/>
                </a:solidFill>
                <a:latin typeface="Calibri"/>
                <a:cs typeface="Calibri"/>
              </a:rPr>
              <a:t>into</a:t>
            </a:r>
            <a:r>
              <a:rPr sz="1800" b="1" spc="-55" dirty="0">
                <a:solidFill>
                  <a:schemeClr val="bg1"/>
                </a:solidFill>
                <a:latin typeface="Calibri"/>
                <a:cs typeface="Calibri"/>
              </a:rPr>
              <a:t> </a:t>
            </a:r>
            <a:r>
              <a:rPr sz="1800" b="1" dirty="0">
                <a:solidFill>
                  <a:schemeClr val="bg1"/>
                </a:solidFill>
                <a:latin typeface="Calibri"/>
                <a:cs typeface="Calibri"/>
              </a:rPr>
              <a:t>the</a:t>
            </a:r>
            <a:r>
              <a:rPr sz="1800" b="1" spc="-25" dirty="0">
                <a:solidFill>
                  <a:schemeClr val="bg1"/>
                </a:solidFill>
                <a:latin typeface="Calibri"/>
                <a:cs typeface="Calibri"/>
              </a:rPr>
              <a:t> </a:t>
            </a:r>
            <a:r>
              <a:rPr sz="1800" b="1" dirty="0">
                <a:solidFill>
                  <a:schemeClr val="bg1"/>
                </a:solidFill>
                <a:latin typeface="Calibri"/>
                <a:cs typeface="Calibri"/>
              </a:rPr>
              <a:t>500+</a:t>
            </a:r>
            <a:r>
              <a:rPr sz="1800" b="1" spc="-50" dirty="0">
                <a:solidFill>
                  <a:schemeClr val="bg1"/>
                </a:solidFill>
                <a:latin typeface="Calibri"/>
                <a:cs typeface="Calibri"/>
              </a:rPr>
              <a:t> </a:t>
            </a:r>
            <a:r>
              <a:rPr sz="1800" b="1" spc="-10" dirty="0">
                <a:solidFill>
                  <a:schemeClr val="bg1"/>
                </a:solidFill>
                <a:latin typeface="Calibri"/>
                <a:cs typeface="Calibri"/>
              </a:rPr>
              <a:t>category, suggesting</a:t>
            </a:r>
            <a:r>
              <a:rPr sz="1800" b="1" spc="-35" dirty="0">
                <a:solidFill>
                  <a:schemeClr val="bg1"/>
                </a:solidFill>
                <a:latin typeface="Calibri"/>
                <a:cs typeface="Calibri"/>
              </a:rPr>
              <a:t> </a:t>
            </a:r>
            <a:r>
              <a:rPr sz="1800" b="1" dirty="0">
                <a:solidFill>
                  <a:schemeClr val="bg1"/>
                </a:solidFill>
                <a:latin typeface="Calibri"/>
                <a:cs typeface="Calibri"/>
              </a:rPr>
              <a:t>market</a:t>
            </a:r>
            <a:r>
              <a:rPr sz="1800" b="1" spc="-35" dirty="0">
                <a:solidFill>
                  <a:schemeClr val="bg1"/>
                </a:solidFill>
                <a:latin typeface="Calibri"/>
                <a:cs typeface="Calibri"/>
              </a:rPr>
              <a:t> </a:t>
            </a:r>
            <a:r>
              <a:rPr sz="1800" b="1" spc="-20" dirty="0">
                <a:solidFill>
                  <a:schemeClr val="bg1"/>
                </a:solidFill>
                <a:latin typeface="Calibri"/>
                <a:cs typeface="Calibri"/>
              </a:rPr>
              <a:t>concentration</a:t>
            </a:r>
            <a:r>
              <a:rPr sz="1800" b="1" spc="-30" dirty="0">
                <a:solidFill>
                  <a:schemeClr val="bg1"/>
                </a:solidFill>
                <a:latin typeface="Calibri"/>
                <a:cs typeface="Calibri"/>
              </a:rPr>
              <a:t> </a:t>
            </a:r>
            <a:r>
              <a:rPr sz="1800" b="1" dirty="0">
                <a:solidFill>
                  <a:schemeClr val="bg1"/>
                </a:solidFill>
                <a:latin typeface="Calibri"/>
                <a:cs typeface="Calibri"/>
              </a:rPr>
              <a:t>at</a:t>
            </a:r>
            <a:r>
              <a:rPr sz="1800" b="1" spc="-35" dirty="0">
                <a:solidFill>
                  <a:schemeClr val="bg1"/>
                </a:solidFill>
                <a:latin typeface="Calibri"/>
                <a:cs typeface="Calibri"/>
              </a:rPr>
              <a:t> </a:t>
            </a:r>
            <a:r>
              <a:rPr sz="1800" b="1" dirty="0">
                <a:solidFill>
                  <a:schemeClr val="bg1"/>
                </a:solidFill>
                <a:latin typeface="Calibri"/>
                <a:cs typeface="Calibri"/>
              </a:rPr>
              <a:t>the</a:t>
            </a:r>
            <a:r>
              <a:rPr sz="1800" b="1" spc="-30" dirty="0">
                <a:solidFill>
                  <a:schemeClr val="bg1"/>
                </a:solidFill>
                <a:latin typeface="Calibri"/>
                <a:cs typeface="Calibri"/>
              </a:rPr>
              <a:t> </a:t>
            </a:r>
            <a:r>
              <a:rPr sz="1800" b="1" dirty="0">
                <a:solidFill>
                  <a:schemeClr val="bg1"/>
                </a:solidFill>
                <a:latin typeface="Calibri"/>
                <a:cs typeface="Calibri"/>
              </a:rPr>
              <a:t>higher</a:t>
            </a:r>
            <a:r>
              <a:rPr sz="1800" b="1" spc="-35" dirty="0">
                <a:solidFill>
                  <a:schemeClr val="bg1"/>
                </a:solidFill>
                <a:latin typeface="Calibri"/>
                <a:cs typeface="Calibri"/>
              </a:rPr>
              <a:t> </a:t>
            </a:r>
            <a:r>
              <a:rPr sz="1800" b="1" spc="-20" dirty="0" err="1">
                <a:solidFill>
                  <a:schemeClr val="bg1"/>
                </a:solidFill>
                <a:latin typeface="Calibri"/>
                <a:cs typeface="Calibri"/>
              </a:rPr>
              <a:t>end.</a:t>
            </a:r>
            <a:r>
              <a:rPr sz="1800" b="1" dirty="0" err="1">
                <a:solidFill>
                  <a:schemeClr val="bg1"/>
                </a:solidFill>
                <a:latin typeface="Calibri"/>
                <a:cs typeface="Calibri"/>
              </a:rPr>
              <a:t>The</a:t>
            </a:r>
            <a:r>
              <a:rPr sz="1800" b="1" spc="-40" dirty="0">
                <a:solidFill>
                  <a:schemeClr val="bg1"/>
                </a:solidFill>
                <a:latin typeface="Calibri"/>
                <a:cs typeface="Calibri"/>
              </a:rPr>
              <a:t> </a:t>
            </a:r>
            <a:r>
              <a:rPr sz="1800" b="1" dirty="0">
                <a:solidFill>
                  <a:schemeClr val="bg1"/>
                </a:solidFill>
                <a:latin typeface="Calibri"/>
                <a:cs typeface="Calibri"/>
              </a:rPr>
              <a:t>middle</a:t>
            </a:r>
            <a:r>
              <a:rPr sz="1800" b="1" spc="-35" dirty="0">
                <a:solidFill>
                  <a:schemeClr val="bg1"/>
                </a:solidFill>
                <a:latin typeface="Calibri"/>
                <a:cs typeface="Calibri"/>
              </a:rPr>
              <a:t> </a:t>
            </a:r>
            <a:r>
              <a:rPr sz="1800" b="1" spc="-10" dirty="0">
                <a:solidFill>
                  <a:schemeClr val="bg1"/>
                </a:solidFill>
                <a:latin typeface="Calibri"/>
                <a:cs typeface="Calibri"/>
              </a:rPr>
              <a:t>categories</a:t>
            </a:r>
            <a:r>
              <a:rPr sz="1800" b="1" spc="-35" dirty="0">
                <a:solidFill>
                  <a:schemeClr val="bg1"/>
                </a:solidFill>
                <a:latin typeface="Calibri"/>
                <a:cs typeface="Calibri"/>
              </a:rPr>
              <a:t> </a:t>
            </a:r>
            <a:r>
              <a:rPr sz="1800" b="1" spc="-10" dirty="0">
                <a:solidFill>
                  <a:schemeClr val="bg1"/>
                </a:solidFill>
                <a:latin typeface="Calibri"/>
                <a:cs typeface="Calibri"/>
              </a:rPr>
              <a:t>(201-</a:t>
            </a:r>
            <a:r>
              <a:rPr sz="1800" b="1" dirty="0">
                <a:solidFill>
                  <a:schemeClr val="bg1"/>
                </a:solidFill>
                <a:latin typeface="Calibri"/>
                <a:cs typeface="Calibri"/>
              </a:rPr>
              <a:t>500)</a:t>
            </a:r>
            <a:r>
              <a:rPr sz="1800" b="1" spc="-40" dirty="0">
                <a:solidFill>
                  <a:schemeClr val="bg1"/>
                </a:solidFill>
                <a:latin typeface="Calibri"/>
                <a:cs typeface="Calibri"/>
              </a:rPr>
              <a:t> </a:t>
            </a:r>
            <a:r>
              <a:rPr sz="1800" b="1" dirty="0">
                <a:solidFill>
                  <a:schemeClr val="bg1"/>
                </a:solidFill>
                <a:latin typeface="Calibri"/>
                <a:cs typeface="Calibri"/>
              </a:rPr>
              <a:t>have</a:t>
            </a:r>
            <a:r>
              <a:rPr sz="1800" b="1" spc="-45" dirty="0">
                <a:solidFill>
                  <a:schemeClr val="bg1"/>
                </a:solidFill>
                <a:latin typeface="Calibri"/>
                <a:cs typeface="Calibri"/>
              </a:rPr>
              <a:t> </a:t>
            </a:r>
            <a:r>
              <a:rPr sz="1800" b="1" dirty="0">
                <a:solidFill>
                  <a:schemeClr val="bg1"/>
                </a:solidFill>
                <a:latin typeface="Calibri"/>
                <a:cs typeface="Calibri"/>
              </a:rPr>
              <a:t>a</a:t>
            </a:r>
            <a:r>
              <a:rPr sz="1800" b="1" spc="-30" dirty="0">
                <a:solidFill>
                  <a:schemeClr val="bg1"/>
                </a:solidFill>
                <a:latin typeface="Calibri"/>
                <a:cs typeface="Calibri"/>
              </a:rPr>
              <a:t> </a:t>
            </a:r>
            <a:r>
              <a:rPr sz="1800" b="1" spc="-10" dirty="0">
                <a:solidFill>
                  <a:schemeClr val="bg1"/>
                </a:solidFill>
                <a:latin typeface="Calibri"/>
                <a:cs typeface="Calibri"/>
              </a:rPr>
              <a:t>balanced distribution</a:t>
            </a:r>
            <a:endParaRPr lang="en-IN" b="1" spc="-10" dirty="0">
              <a:solidFill>
                <a:schemeClr val="bg1"/>
              </a:solidFill>
              <a:latin typeface="Calibri"/>
              <a:cs typeface="Calibri"/>
            </a:endParaRPr>
          </a:p>
          <a:p>
            <a:pPr marL="297815" marR="5080" indent="-285750">
              <a:lnSpc>
                <a:spcPct val="100000"/>
              </a:lnSpc>
              <a:spcBef>
                <a:spcPts val="100"/>
              </a:spcBef>
              <a:buFont typeface="Arial" panose="020B0604020202020204" pitchFamily="34" charset="0"/>
              <a:buChar char="•"/>
              <a:tabLst>
                <a:tab pos="297815" algn="l"/>
              </a:tabLst>
            </a:pPr>
            <a:r>
              <a:rPr sz="1800" b="1" dirty="0">
                <a:solidFill>
                  <a:schemeClr val="bg1"/>
                </a:solidFill>
                <a:latin typeface="Calibri"/>
                <a:cs typeface="Calibri"/>
              </a:rPr>
              <a:t>This</a:t>
            </a:r>
            <a:r>
              <a:rPr sz="1800" b="1" spc="-50" dirty="0">
                <a:solidFill>
                  <a:schemeClr val="bg1"/>
                </a:solidFill>
                <a:latin typeface="Calibri"/>
                <a:cs typeface="Calibri"/>
              </a:rPr>
              <a:t> </a:t>
            </a:r>
            <a:r>
              <a:rPr sz="1800" b="1" dirty="0">
                <a:solidFill>
                  <a:schemeClr val="bg1"/>
                </a:solidFill>
                <a:latin typeface="Calibri"/>
                <a:cs typeface="Calibri"/>
              </a:rPr>
              <a:t>analysis</a:t>
            </a:r>
            <a:r>
              <a:rPr sz="1800" b="1" spc="-45" dirty="0">
                <a:solidFill>
                  <a:schemeClr val="bg1"/>
                </a:solidFill>
                <a:latin typeface="Calibri"/>
                <a:cs typeface="Calibri"/>
              </a:rPr>
              <a:t> </a:t>
            </a:r>
            <a:r>
              <a:rPr sz="1800" b="1" dirty="0">
                <a:solidFill>
                  <a:schemeClr val="bg1"/>
                </a:solidFill>
                <a:latin typeface="Calibri"/>
                <a:cs typeface="Calibri"/>
              </a:rPr>
              <a:t>suggests</a:t>
            </a:r>
            <a:r>
              <a:rPr sz="1800" b="1" spc="-45" dirty="0">
                <a:solidFill>
                  <a:schemeClr val="bg1"/>
                </a:solidFill>
                <a:latin typeface="Calibri"/>
                <a:cs typeface="Calibri"/>
              </a:rPr>
              <a:t> </a:t>
            </a:r>
            <a:r>
              <a:rPr sz="1800" b="1" dirty="0">
                <a:solidFill>
                  <a:schemeClr val="bg1"/>
                </a:solidFill>
                <a:latin typeface="Calibri"/>
                <a:cs typeface="Calibri"/>
              </a:rPr>
              <a:t>that</a:t>
            </a:r>
            <a:r>
              <a:rPr sz="1800" b="1" spc="-45" dirty="0">
                <a:solidFill>
                  <a:schemeClr val="bg1"/>
                </a:solidFill>
                <a:latin typeface="Calibri"/>
                <a:cs typeface="Calibri"/>
              </a:rPr>
              <a:t> </a:t>
            </a:r>
            <a:r>
              <a:rPr sz="1800" b="1" dirty="0">
                <a:solidFill>
                  <a:schemeClr val="bg1"/>
                </a:solidFill>
                <a:latin typeface="Calibri"/>
                <a:cs typeface="Calibri"/>
              </a:rPr>
              <a:t>a</a:t>
            </a:r>
            <a:r>
              <a:rPr sz="1800" b="1" spc="-45" dirty="0">
                <a:solidFill>
                  <a:schemeClr val="bg1"/>
                </a:solidFill>
                <a:latin typeface="Calibri"/>
                <a:cs typeface="Calibri"/>
              </a:rPr>
              <a:t> </a:t>
            </a:r>
            <a:r>
              <a:rPr sz="1800" b="1" spc="-10" dirty="0">
                <a:solidFill>
                  <a:schemeClr val="bg1"/>
                </a:solidFill>
                <a:latin typeface="Calibri"/>
                <a:cs typeface="Calibri"/>
              </a:rPr>
              <a:t>significant</a:t>
            </a:r>
            <a:r>
              <a:rPr sz="1800" b="1" spc="-45" dirty="0">
                <a:solidFill>
                  <a:schemeClr val="bg1"/>
                </a:solidFill>
                <a:latin typeface="Calibri"/>
                <a:cs typeface="Calibri"/>
              </a:rPr>
              <a:t> </a:t>
            </a:r>
            <a:r>
              <a:rPr sz="1800" b="1" dirty="0">
                <a:solidFill>
                  <a:schemeClr val="bg1"/>
                </a:solidFill>
                <a:latin typeface="Calibri"/>
                <a:cs typeface="Calibri"/>
              </a:rPr>
              <a:t>portion</a:t>
            </a:r>
            <a:r>
              <a:rPr sz="1800" b="1" spc="-50" dirty="0">
                <a:solidFill>
                  <a:schemeClr val="bg1"/>
                </a:solidFill>
                <a:latin typeface="Calibri"/>
                <a:cs typeface="Calibri"/>
              </a:rPr>
              <a:t> </a:t>
            </a:r>
            <a:r>
              <a:rPr sz="1800" b="1" spc="-25" dirty="0">
                <a:solidFill>
                  <a:schemeClr val="bg1"/>
                </a:solidFill>
                <a:latin typeface="Calibri"/>
                <a:cs typeface="Calibri"/>
              </a:rPr>
              <a:t>of </a:t>
            </a:r>
            <a:r>
              <a:rPr sz="1800" b="1" spc="-20" dirty="0">
                <a:solidFill>
                  <a:schemeClr val="bg1"/>
                </a:solidFill>
                <a:latin typeface="Calibri"/>
                <a:cs typeface="Calibri"/>
              </a:rPr>
              <a:t>restaurants</a:t>
            </a:r>
            <a:r>
              <a:rPr sz="1800" b="1" spc="-25" dirty="0">
                <a:solidFill>
                  <a:schemeClr val="bg1"/>
                </a:solidFill>
                <a:latin typeface="Calibri"/>
                <a:cs typeface="Calibri"/>
              </a:rPr>
              <a:t> </a:t>
            </a:r>
            <a:r>
              <a:rPr sz="1800" b="1" dirty="0">
                <a:solidFill>
                  <a:schemeClr val="bg1"/>
                </a:solidFill>
                <a:latin typeface="Calibri"/>
                <a:cs typeface="Calibri"/>
              </a:rPr>
              <a:t>have</a:t>
            </a:r>
            <a:r>
              <a:rPr sz="1800" b="1" spc="-15" dirty="0">
                <a:solidFill>
                  <a:schemeClr val="bg1"/>
                </a:solidFill>
                <a:latin typeface="Calibri"/>
                <a:cs typeface="Calibri"/>
              </a:rPr>
              <a:t> </a:t>
            </a:r>
            <a:r>
              <a:rPr sz="1800" b="1" dirty="0">
                <a:solidFill>
                  <a:schemeClr val="bg1"/>
                </a:solidFill>
                <a:latin typeface="Calibri"/>
                <a:cs typeface="Calibri"/>
              </a:rPr>
              <a:t>a high</a:t>
            </a:r>
            <a:r>
              <a:rPr sz="1800" b="1" spc="-20" dirty="0">
                <a:solidFill>
                  <a:schemeClr val="bg1"/>
                </a:solidFill>
                <a:latin typeface="Calibri"/>
                <a:cs typeface="Calibri"/>
              </a:rPr>
              <a:t> </a:t>
            </a:r>
            <a:r>
              <a:rPr sz="1800" b="1" dirty="0">
                <a:solidFill>
                  <a:schemeClr val="bg1"/>
                </a:solidFill>
                <a:latin typeface="Calibri"/>
                <a:cs typeface="Calibri"/>
              </a:rPr>
              <a:t>volume</a:t>
            </a:r>
            <a:r>
              <a:rPr sz="1800" b="1" spc="-15" dirty="0">
                <a:solidFill>
                  <a:schemeClr val="bg1"/>
                </a:solidFill>
                <a:latin typeface="Calibri"/>
                <a:cs typeface="Calibri"/>
              </a:rPr>
              <a:t> </a:t>
            </a:r>
            <a:r>
              <a:rPr sz="1800" b="1" dirty="0">
                <a:solidFill>
                  <a:schemeClr val="bg1"/>
                </a:solidFill>
                <a:latin typeface="Calibri"/>
                <a:cs typeface="Calibri"/>
              </a:rPr>
              <a:t>of</a:t>
            </a:r>
            <a:r>
              <a:rPr sz="1800" b="1" spc="-30" dirty="0">
                <a:solidFill>
                  <a:schemeClr val="bg1"/>
                </a:solidFill>
                <a:latin typeface="Calibri"/>
                <a:cs typeface="Calibri"/>
              </a:rPr>
              <a:t> </a:t>
            </a:r>
            <a:r>
              <a:rPr sz="1800" b="1" dirty="0">
                <a:solidFill>
                  <a:schemeClr val="bg1"/>
                </a:solidFill>
                <a:latin typeface="Calibri"/>
                <a:cs typeface="Calibri"/>
              </a:rPr>
              <a:t>Price,</a:t>
            </a:r>
            <a:r>
              <a:rPr sz="1800" b="1" spc="-25" dirty="0">
                <a:solidFill>
                  <a:schemeClr val="bg1"/>
                </a:solidFill>
                <a:latin typeface="Calibri"/>
                <a:cs typeface="Calibri"/>
              </a:rPr>
              <a:t> </a:t>
            </a:r>
            <a:r>
              <a:rPr sz="1800" b="1" spc="-10" dirty="0">
                <a:solidFill>
                  <a:schemeClr val="bg1"/>
                </a:solidFill>
                <a:latin typeface="Calibri"/>
                <a:cs typeface="Calibri"/>
              </a:rPr>
              <a:t>possibly </a:t>
            </a:r>
            <a:r>
              <a:rPr sz="1800" b="1" dirty="0">
                <a:solidFill>
                  <a:schemeClr val="bg1"/>
                </a:solidFill>
                <a:latin typeface="Calibri"/>
                <a:cs typeface="Calibri"/>
              </a:rPr>
              <a:t>due</a:t>
            </a:r>
            <a:r>
              <a:rPr sz="1800" b="1" spc="-30" dirty="0">
                <a:solidFill>
                  <a:schemeClr val="bg1"/>
                </a:solidFill>
                <a:latin typeface="Calibri"/>
                <a:cs typeface="Calibri"/>
              </a:rPr>
              <a:t> </a:t>
            </a:r>
            <a:r>
              <a:rPr sz="1800" b="1" dirty="0">
                <a:solidFill>
                  <a:schemeClr val="bg1"/>
                </a:solidFill>
                <a:latin typeface="Calibri"/>
                <a:cs typeface="Calibri"/>
              </a:rPr>
              <a:t>to</a:t>
            </a:r>
            <a:r>
              <a:rPr sz="1800" b="1" spc="-35" dirty="0">
                <a:solidFill>
                  <a:schemeClr val="bg1"/>
                </a:solidFill>
                <a:latin typeface="Calibri"/>
                <a:cs typeface="Calibri"/>
              </a:rPr>
              <a:t> </a:t>
            </a:r>
            <a:r>
              <a:rPr sz="1800" b="1" dirty="0">
                <a:solidFill>
                  <a:schemeClr val="bg1"/>
                </a:solidFill>
                <a:latin typeface="Calibri"/>
                <a:cs typeface="Calibri"/>
              </a:rPr>
              <a:t>chain</a:t>
            </a:r>
            <a:r>
              <a:rPr sz="1800" b="1" spc="-25" dirty="0">
                <a:solidFill>
                  <a:schemeClr val="bg1"/>
                </a:solidFill>
                <a:latin typeface="Calibri"/>
                <a:cs typeface="Calibri"/>
              </a:rPr>
              <a:t> </a:t>
            </a:r>
            <a:r>
              <a:rPr sz="1800" b="1" spc="-20" dirty="0">
                <a:solidFill>
                  <a:schemeClr val="bg1"/>
                </a:solidFill>
                <a:latin typeface="Calibri"/>
                <a:cs typeface="Calibri"/>
              </a:rPr>
              <a:t>restaurants</a:t>
            </a:r>
            <a:r>
              <a:rPr sz="1800" b="1" spc="-25" dirty="0">
                <a:solidFill>
                  <a:schemeClr val="bg1"/>
                </a:solidFill>
                <a:latin typeface="Calibri"/>
                <a:cs typeface="Calibri"/>
              </a:rPr>
              <a:t> </a:t>
            </a:r>
            <a:r>
              <a:rPr sz="1800" b="1" dirty="0">
                <a:solidFill>
                  <a:schemeClr val="bg1"/>
                </a:solidFill>
                <a:latin typeface="Calibri"/>
                <a:cs typeface="Calibri"/>
              </a:rPr>
              <a:t>or</a:t>
            </a:r>
            <a:r>
              <a:rPr sz="1800" b="1" spc="-35" dirty="0">
                <a:solidFill>
                  <a:schemeClr val="bg1"/>
                </a:solidFill>
                <a:latin typeface="Calibri"/>
                <a:cs typeface="Calibri"/>
              </a:rPr>
              <a:t> </a:t>
            </a:r>
            <a:r>
              <a:rPr sz="1800" b="1" dirty="0">
                <a:solidFill>
                  <a:schemeClr val="bg1"/>
                </a:solidFill>
                <a:latin typeface="Calibri"/>
                <a:cs typeface="Calibri"/>
              </a:rPr>
              <a:t>high</a:t>
            </a:r>
            <a:r>
              <a:rPr sz="1800" b="1" spc="-25" dirty="0">
                <a:solidFill>
                  <a:schemeClr val="bg1"/>
                </a:solidFill>
                <a:latin typeface="Calibri"/>
                <a:cs typeface="Calibri"/>
              </a:rPr>
              <a:t> </a:t>
            </a:r>
            <a:r>
              <a:rPr sz="1800" b="1" spc="-10" dirty="0">
                <a:solidFill>
                  <a:schemeClr val="bg1"/>
                </a:solidFill>
                <a:latin typeface="Calibri"/>
                <a:cs typeface="Calibri"/>
              </a:rPr>
              <a:t>operational</a:t>
            </a:r>
            <a:r>
              <a:rPr sz="1800" b="1" spc="-35" dirty="0">
                <a:solidFill>
                  <a:schemeClr val="bg1"/>
                </a:solidFill>
                <a:latin typeface="Calibri"/>
                <a:cs typeface="Calibri"/>
              </a:rPr>
              <a:t> </a:t>
            </a:r>
            <a:r>
              <a:rPr sz="1800" b="1" spc="-10" dirty="0">
                <a:solidFill>
                  <a:schemeClr val="bg1"/>
                </a:solidFill>
                <a:latin typeface="Calibri"/>
                <a:cs typeface="Calibri"/>
              </a:rPr>
              <a:t>scale</a:t>
            </a:r>
            <a:endParaRPr sz="1800" b="1" dirty="0">
              <a:solidFill>
                <a:schemeClr val="bg1"/>
              </a:solidFill>
              <a:latin typeface="Calibri"/>
              <a:cs typeface="Calibri"/>
            </a:endParaRPr>
          </a:p>
        </p:txBody>
      </p:sp>
      <p:pic>
        <p:nvPicPr>
          <p:cNvPr id="6" name="object 6"/>
          <p:cNvPicPr/>
          <p:nvPr/>
        </p:nvPicPr>
        <p:blipFill>
          <a:blip r:embed="rId2" cstate="print"/>
          <a:stretch>
            <a:fillRect/>
          </a:stretch>
        </p:blipFill>
        <p:spPr>
          <a:xfrm>
            <a:off x="3048000" y="3518442"/>
            <a:ext cx="4869002" cy="33631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71158"/>
            <a:ext cx="13182600" cy="1719893"/>
          </a:xfrm>
          <a:prstGeom prst="rect">
            <a:avLst/>
          </a:prstGeom>
        </p:spPr>
        <p:txBody>
          <a:bodyPr vert="horz" wrap="square" lIns="0" tIns="423100" rIns="0" bIns="0" rtlCol="0">
            <a:spAutoFit/>
          </a:bodyPr>
          <a:lstStyle/>
          <a:p>
            <a:pPr marL="479425">
              <a:lnSpc>
                <a:spcPct val="100000"/>
              </a:lnSpc>
              <a:spcBef>
                <a:spcPts val="100"/>
              </a:spcBef>
              <a:tabLst>
                <a:tab pos="4431665" algn="l"/>
              </a:tabLst>
            </a:pPr>
            <a:r>
              <a:rPr b="1" spc="-10" dirty="0">
                <a:solidFill>
                  <a:srgbClr val="FF0000"/>
                </a:solidFill>
                <a:latin typeface="Segoe UI Black" panose="020B0A02040204020203" pitchFamily="34" charset="0"/>
                <a:ea typeface="Segoe UI Black" panose="020B0A02040204020203" pitchFamily="34" charset="0"/>
              </a:rPr>
              <a:t>Competitor</a:t>
            </a:r>
            <a:r>
              <a:rPr b="1" spc="-55" dirty="0">
                <a:solidFill>
                  <a:srgbClr val="FF0000"/>
                </a:solidFill>
                <a:latin typeface="Segoe UI Black" panose="020B0A02040204020203" pitchFamily="34" charset="0"/>
                <a:ea typeface="Segoe UI Black" panose="020B0A02040204020203" pitchFamily="34" charset="0"/>
              </a:rPr>
              <a:t> </a:t>
            </a:r>
            <a:r>
              <a:rPr b="1" dirty="0">
                <a:solidFill>
                  <a:srgbClr val="FF0000"/>
                </a:solidFill>
                <a:latin typeface="Segoe UI Black" panose="020B0A02040204020203" pitchFamily="34" charset="0"/>
                <a:ea typeface="Segoe UI Black" panose="020B0A02040204020203" pitchFamily="34" charset="0"/>
              </a:rPr>
              <a:t>&amp;</a:t>
            </a:r>
            <a:r>
              <a:rPr b="1" spc="-50" dirty="0">
                <a:solidFill>
                  <a:srgbClr val="FF0000"/>
                </a:solidFill>
                <a:latin typeface="Segoe UI Black" panose="020B0A02040204020203" pitchFamily="34" charset="0"/>
                <a:ea typeface="Segoe UI Black" panose="020B0A02040204020203" pitchFamily="34" charset="0"/>
              </a:rPr>
              <a:t> </a:t>
            </a:r>
            <a:r>
              <a:rPr b="1" spc="-10" dirty="0">
                <a:solidFill>
                  <a:srgbClr val="FF0000"/>
                </a:solidFill>
                <a:latin typeface="Segoe UI Black" panose="020B0A02040204020203" pitchFamily="34" charset="0"/>
                <a:ea typeface="Segoe UI Black" panose="020B0A02040204020203" pitchFamily="34" charset="0"/>
              </a:rPr>
              <a:t>Market</a:t>
            </a:r>
            <a:r>
              <a:rPr b="1" spc="-45" dirty="0">
                <a:solidFill>
                  <a:srgbClr val="FF0000"/>
                </a:solidFill>
                <a:latin typeface="Segoe UI Black" panose="020B0A02040204020203" pitchFamily="34" charset="0"/>
                <a:ea typeface="Segoe UI Black" panose="020B0A02040204020203" pitchFamily="34" charset="0"/>
              </a:rPr>
              <a:t> </a:t>
            </a:r>
            <a:r>
              <a:rPr b="1" spc="-10" dirty="0">
                <a:solidFill>
                  <a:srgbClr val="FF0000"/>
                </a:solidFill>
                <a:latin typeface="Segoe UI Black" panose="020B0A02040204020203" pitchFamily="34" charset="0"/>
                <a:ea typeface="Segoe UI Black" panose="020B0A02040204020203" pitchFamily="34" charset="0"/>
              </a:rPr>
              <a:t>Analysis</a:t>
            </a:r>
            <a:r>
              <a:rPr b="1" dirty="0">
                <a:solidFill>
                  <a:srgbClr val="FF0000"/>
                </a:solidFill>
                <a:latin typeface="Segoe UI Black" panose="020B0A02040204020203" pitchFamily="34" charset="0"/>
                <a:ea typeface="Segoe UI Black" panose="020B0A02040204020203" pitchFamily="34" charset="0"/>
              </a:rPr>
              <a:t>	for</a:t>
            </a:r>
            <a:r>
              <a:rPr b="1" spc="-70" dirty="0">
                <a:solidFill>
                  <a:srgbClr val="FF0000"/>
                </a:solidFill>
                <a:latin typeface="Segoe UI Black" panose="020B0A02040204020203" pitchFamily="34" charset="0"/>
                <a:ea typeface="Segoe UI Black" panose="020B0A02040204020203" pitchFamily="34" charset="0"/>
              </a:rPr>
              <a:t> </a:t>
            </a:r>
            <a:r>
              <a:rPr b="1" dirty="0">
                <a:solidFill>
                  <a:srgbClr val="FF0000"/>
                </a:solidFill>
                <a:latin typeface="Segoe UI Black" panose="020B0A02040204020203" pitchFamily="34" charset="0"/>
                <a:ea typeface="Segoe UI Black" panose="020B0A02040204020203" pitchFamily="34" charset="0"/>
              </a:rPr>
              <a:t>the</a:t>
            </a:r>
            <a:r>
              <a:rPr b="1" spc="-70" dirty="0">
                <a:solidFill>
                  <a:srgbClr val="FF0000"/>
                </a:solidFill>
                <a:latin typeface="Segoe UI Black" panose="020B0A02040204020203" pitchFamily="34" charset="0"/>
                <a:ea typeface="Segoe UI Black" panose="020B0A02040204020203" pitchFamily="34" charset="0"/>
              </a:rPr>
              <a:t> </a:t>
            </a:r>
            <a:r>
              <a:rPr b="1" dirty="0">
                <a:solidFill>
                  <a:srgbClr val="FF0000"/>
                </a:solidFill>
                <a:latin typeface="Segoe UI Black" panose="020B0A02040204020203" pitchFamily="34" charset="0"/>
                <a:ea typeface="Segoe UI Black" panose="020B0A02040204020203" pitchFamily="34" charset="0"/>
              </a:rPr>
              <a:t>Low</a:t>
            </a:r>
            <a:r>
              <a:rPr b="1" spc="-80" dirty="0">
                <a:solidFill>
                  <a:srgbClr val="FF0000"/>
                </a:solidFill>
                <a:latin typeface="Segoe UI Black" panose="020B0A02040204020203" pitchFamily="34" charset="0"/>
                <a:ea typeface="Segoe UI Black" panose="020B0A02040204020203" pitchFamily="34" charset="0"/>
              </a:rPr>
              <a:t> </a:t>
            </a:r>
            <a:r>
              <a:rPr b="1" dirty="0">
                <a:solidFill>
                  <a:srgbClr val="FF0000"/>
                </a:solidFill>
                <a:latin typeface="Segoe UI Black" panose="020B0A02040204020203" pitchFamily="34" charset="0"/>
                <a:ea typeface="Segoe UI Black" panose="020B0A02040204020203" pitchFamily="34" charset="0"/>
              </a:rPr>
              <a:t>rating</a:t>
            </a:r>
            <a:r>
              <a:rPr b="1" spc="-70" dirty="0">
                <a:solidFill>
                  <a:srgbClr val="FF0000"/>
                </a:solidFill>
                <a:latin typeface="Segoe UI Black" panose="020B0A02040204020203" pitchFamily="34" charset="0"/>
                <a:ea typeface="Segoe UI Black" panose="020B0A02040204020203" pitchFamily="34" charset="0"/>
              </a:rPr>
              <a:t> </a:t>
            </a:r>
            <a:r>
              <a:rPr b="1" spc="-10" dirty="0">
                <a:solidFill>
                  <a:srgbClr val="FF0000"/>
                </a:solidFill>
                <a:latin typeface="Segoe UI Black" panose="020B0A02040204020203" pitchFamily="34" charset="0"/>
                <a:ea typeface="Segoe UI Black" panose="020B0A02040204020203" pitchFamily="34" charset="0"/>
              </a:rPr>
              <a:t>Restaurants</a:t>
            </a:r>
          </a:p>
        </p:txBody>
      </p:sp>
      <p:sp>
        <p:nvSpPr>
          <p:cNvPr id="3" name="object 3"/>
          <p:cNvSpPr txBox="1"/>
          <p:nvPr/>
        </p:nvSpPr>
        <p:spPr>
          <a:xfrm>
            <a:off x="824336" y="1752600"/>
            <a:ext cx="9549765" cy="4324985"/>
          </a:xfrm>
          <a:prstGeom prst="rect">
            <a:avLst/>
          </a:prstGeom>
        </p:spPr>
        <p:txBody>
          <a:bodyPr vert="horz" wrap="square" lIns="0" tIns="11430" rIns="0" bIns="0" rtlCol="0">
            <a:spAutoFit/>
          </a:bodyPr>
          <a:lstStyle/>
          <a:p>
            <a:pPr marL="355600" marR="372745" indent="-342900">
              <a:lnSpc>
                <a:spcPct val="100499"/>
              </a:lnSpc>
              <a:spcBef>
                <a:spcPts val="90"/>
              </a:spcBef>
              <a:buFont typeface="Wingdings" panose="05000000000000000000" pitchFamily="2" charset="2"/>
              <a:buChar char="q"/>
            </a:pPr>
            <a:r>
              <a:rPr sz="2000" spc="-50" dirty="0">
                <a:solidFill>
                  <a:schemeClr val="bg1"/>
                </a:solidFill>
                <a:latin typeface="Calibri"/>
                <a:cs typeface="Calibri"/>
              </a:rPr>
              <a:t> </a:t>
            </a:r>
            <a:r>
              <a:rPr sz="2000" b="1" dirty="0">
                <a:solidFill>
                  <a:schemeClr val="bg1"/>
                </a:solidFill>
                <a:latin typeface="Calibri"/>
                <a:cs typeface="Calibri"/>
              </a:rPr>
              <a:t>Competitor</a:t>
            </a:r>
            <a:r>
              <a:rPr sz="2000" b="1" spc="-65" dirty="0">
                <a:solidFill>
                  <a:schemeClr val="bg1"/>
                </a:solidFill>
                <a:latin typeface="Calibri"/>
                <a:cs typeface="Calibri"/>
              </a:rPr>
              <a:t> </a:t>
            </a:r>
            <a:r>
              <a:rPr sz="2000" b="1" dirty="0">
                <a:solidFill>
                  <a:schemeClr val="bg1"/>
                </a:solidFill>
                <a:latin typeface="Calibri"/>
                <a:cs typeface="Calibri"/>
              </a:rPr>
              <a:t>Benchmarking:</a:t>
            </a:r>
            <a:r>
              <a:rPr sz="2000" b="1" spc="-35" dirty="0">
                <a:solidFill>
                  <a:schemeClr val="bg1"/>
                </a:solidFill>
                <a:latin typeface="Calibri"/>
                <a:cs typeface="Calibri"/>
              </a:rPr>
              <a:t> </a:t>
            </a:r>
            <a:r>
              <a:rPr sz="2000" dirty="0">
                <a:solidFill>
                  <a:schemeClr val="bg1"/>
                </a:solidFill>
                <a:latin typeface="Calibri"/>
                <a:cs typeface="Calibri"/>
              </a:rPr>
              <a:t>Compare</a:t>
            </a:r>
            <a:r>
              <a:rPr sz="2000" spc="-55" dirty="0">
                <a:solidFill>
                  <a:schemeClr val="bg1"/>
                </a:solidFill>
                <a:latin typeface="Calibri"/>
                <a:cs typeface="Calibri"/>
              </a:rPr>
              <a:t> </a:t>
            </a:r>
            <a:r>
              <a:rPr sz="2000" spc="-20" dirty="0">
                <a:solidFill>
                  <a:schemeClr val="bg1"/>
                </a:solidFill>
                <a:latin typeface="Calibri"/>
                <a:cs typeface="Calibri"/>
              </a:rPr>
              <a:t>restaurant</a:t>
            </a:r>
            <a:r>
              <a:rPr sz="2000" spc="-50" dirty="0">
                <a:solidFill>
                  <a:schemeClr val="bg1"/>
                </a:solidFill>
                <a:latin typeface="Calibri"/>
                <a:cs typeface="Calibri"/>
              </a:rPr>
              <a:t> </a:t>
            </a:r>
            <a:r>
              <a:rPr sz="2000" spc="-10" dirty="0">
                <a:solidFill>
                  <a:schemeClr val="bg1"/>
                </a:solidFill>
                <a:latin typeface="Calibri"/>
                <a:cs typeface="Calibri"/>
              </a:rPr>
              <a:t>performance</a:t>
            </a:r>
            <a:r>
              <a:rPr sz="2000" spc="-60" dirty="0">
                <a:solidFill>
                  <a:schemeClr val="bg1"/>
                </a:solidFill>
                <a:latin typeface="Calibri"/>
                <a:cs typeface="Calibri"/>
              </a:rPr>
              <a:t> </a:t>
            </a:r>
            <a:r>
              <a:rPr sz="2000" spc="-10" dirty="0">
                <a:solidFill>
                  <a:schemeClr val="bg1"/>
                </a:solidFill>
                <a:latin typeface="Calibri"/>
                <a:cs typeface="Calibri"/>
              </a:rPr>
              <a:t>(ratings,</a:t>
            </a:r>
            <a:r>
              <a:rPr sz="2000" spc="-55" dirty="0">
                <a:solidFill>
                  <a:schemeClr val="bg1"/>
                </a:solidFill>
                <a:latin typeface="Calibri"/>
                <a:cs typeface="Calibri"/>
              </a:rPr>
              <a:t> </a:t>
            </a:r>
            <a:r>
              <a:rPr sz="2000" spc="-10" dirty="0">
                <a:solidFill>
                  <a:schemeClr val="bg1"/>
                </a:solidFill>
                <a:latin typeface="Calibri"/>
                <a:cs typeface="Calibri"/>
              </a:rPr>
              <a:t>reviews,</a:t>
            </a:r>
            <a:r>
              <a:rPr sz="2000" spc="-50" dirty="0">
                <a:solidFill>
                  <a:schemeClr val="bg1"/>
                </a:solidFill>
                <a:latin typeface="Calibri"/>
                <a:cs typeface="Calibri"/>
              </a:rPr>
              <a:t> </a:t>
            </a:r>
            <a:r>
              <a:rPr sz="2000" spc="-85" dirty="0">
                <a:solidFill>
                  <a:schemeClr val="bg1"/>
                </a:solidFill>
                <a:latin typeface="Calibri"/>
                <a:cs typeface="Calibri"/>
              </a:rPr>
              <a:t>orders) </a:t>
            </a:r>
            <a:r>
              <a:rPr sz="2000" spc="-10" dirty="0">
                <a:solidFill>
                  <a:schemeClr val="bg1"/>
                </a:solidFill>
                <a:latin typeface="Calibri"/>
                <a:cs typeface="Calibri"/>
              </a:rPr>
              <a:t>against</a:t>
            </a:r>
            <a:r>
              <a:rPr sz="2000" spc="-50" dirty="0">
                <a:solidFill>
                  <a:schemeClr val="bg1"/>
                </a:solidFill>
                <a:latin typeface="Calibri"/>
                <a:cs typeface="Calibri"/>
              </a:rPr>
              <a:t> </a:t>
            </a:r>
            <a:r>
              <a:rPr sz="2000" spc="-10" dirty="0">
                <a:solidFill>
                  <a:schemeClr val="bg1"/>
                </a:solidFill>
                <a:latin typeface="Calibri"/>
                <a:cs typeface="Calibri"/>
              </a:rPr>
              <a:t>competitors.</a:t>
            </a:r>
            <a:endParaRPr sz="2000" dirty="0">
              <a:solidFill>
                <a:schemeClr val="bg1"/>
              </a:solidFill>
              <a:latin typeface="Calibri"/>
              <a:cs typeface="Calibri"/>
            </a:endParaRPr>
          </a:p>
          <a:p>
            <a:pPr marL="355600" marR="417195" indent="-342900">
              <a:lnSpc>
                <a:spcPts val="2400"/>
              </a:lnSpc>
              <a:spcBef>
                <a:spcPts val="75"/>
              </a:spcBef>
              <a:buFont typeface="Wingdings" panose="05000000000000000000" pitchFamily="2" charset="2"/>
              <a:buChar char="q"/>
            </a:pPr>
            <a:r>
              <a:rPr sz="2000" spc="-55" dirty="0">
                <a:solidFill>
                  <a:schemeClr val="bg1"/>
                </a:solidFill>
                <a:latin typeface="Calibri"/>
                <a:cs typeface="Calibri"/>
              </a:rPr>
              <a:t> </a:t>
            </a:r>
            <a:r>
              <a:rPr sz="2000" b="1" dirty="0">
                <a:solidFill>
                  <a:schemeClr val="bg1"/>
                </a:solidFill>
                <a:latin typeface="Calibri"/>
                <a:cs typeface="Calibri"/>
              </a:rPr>
              <a:t>Customer</a:t>
            </a:r>
            <a:r>
              <a:rPr sz="2000" b="1" spc="-55" dirty="0">
                <a:solidFill>
                  <a:schemeClr val="bg1"/>
                </a:solidFill>
                <a:latin typeface="Calibri"/>
                <a:cs typeface="Calibri"/>
              </a:rPr>
              <a:t> </a:t>
            </a:r>
            <a:r>
              <a:rPr sz="2000" b="1" spc="-10" dirty="0">
                <a:solidFill>
                  <a:schemeClr val="bg1"/>
                </a:solidFill>
                <a:latin typeface="Calibri"/>
                <a:cs typeface="Calibri"/>
              </a:rPr>
              <a:t>Segmentation:</a:t>
            </a:r>
            <a:r>
              <a:rPr sz="2000" b="1" spc="-60" dirty="0">
                <a:solidFill>
                  <a:schemeClr val="bg1"/>
                </a:solidFill>
                <a:latin typeface="Calibri"/>
                <a:cs typeface="Calibri"/>
              </a:rPr>
              <a:t> </a:t>
            </a:r>
            <a:r>
              <a:rPr sz="2000" dirty="0">
                <a:solidFill>
                  <a:schemeClr val="bg1"/>
                </a:solidFill>
                <a:latin typeface="Calibri"/>
                <a:cs typeface="Calibri"/>
              </a:rPr>
              <a:t>Identify</a:t>
            </a:r>
            <a:r>
              <a:rPr sz="2000" spc="-40" dirty="0">
                <a:solidFill>
                  <a:schemeClr val="bg1"/>
                </a:solidFill>
                <a:latin typeface="Calibri"/>
                <a:cs typeface="Calibri"/>
              </a:rPr>
              <a:t> </a:t>
            </a:r>
            <a:r>
              <a:rPr sz="2000" b="1" spc="-10" dirty="0">
                <a:solidFill>
                  <a:schemeClr val="bg1"/>
                </a:solidFill>
                <a:latin typeface="Calibri"/>
                <a:cs typeface="Calibri"/>
              </a:rPr>
              <a:t>high-</a:t>
            </a:r>
            <a:r>
              <a:rPr sz="2000" b="1" dirty="0">
                <a:solidFill>
                  <a:schemeClr val="bg1"/>
                </a:solidFill>
                <a:latin typeface="Calibri"/>
                <a:cs typeface="Calibri"/>
              </a:rPr>
              <a:t>value</a:t>
            </a:r>
            <a:r>
              <a:rPr sz="2000" b="1" spc="-65" dirty="0">
                <a:solidFill>
                  <a:schemeClr val="bg1"/>
                </a:solidFill>
                <a:latin typeface="Calibri"/>
                <a:cs typeface="Calibri"/>
              </a:rPr>
              <a:t> </a:t>
            </a:r>
            <a:r>
              <a:rPr sz="2000" b="1" dirty="0">
                <a:solidFill>
                  <a:schemeClr val="bg1"/>
                </a:solidFill>
                <a:latin typeface="Calibri"/>
                <a:cs typeface="Calibri"/>
              </a:rPr>
              <a:t>customers</a:t>
            </a:r>
            <a:r>
              <a:rPr sz="2000" b="1" spc="-45" dirty="0">
                <a:solidFill>
                  <a:schemeClr val="bg1"/>
                </a:solidFill>
                <a:latin typeface="Calibri"/>
                <a:cs typeface="Calibri"/>
              </a:rPr>
              <a:t> </a:t>
            </a:r>
            <a:r>
              <a:rPr sz="2000" dirty="0">
                <a:solidFill>
                  <a:schemeClr val="bg1"/>
                </a:solidFill>
                <a:latin typeface="Calibri"/>
                <a:cs typeface="Calibri"/>
              </a:rPr>
              <a:t>and</a:t>
            </a:r>
            <a:r>
              <a:rPr sz="2000" spc="-55" dirty="0">
                <a:solidFill>
                  <a:schemeClr val="bg1"/>
                </a:solidFill>
                <a:latin typeface="Calibri"/>
                <a:cs typeface="Calibri"/>
              </a:rPr>
              <a:t> </a:t>
            </a:r>
            <a:r>
              <a:rPr sz="2000" b="1" dirty="0">
                <a:solidFill>
                  <a:schemeClr val="bg1"/>
                </a:solidFill>
                <a:latin typeface="Calibri"/>
                <a:cs typeface="Calibri"/>
              </a:rPr>
              <a:t>repeat</a:t>
            </a:r>
            <a:r>
              <a:rPr sz="2000" b="1" spc="-60" dirty="0">
                <a:solidFill>
                  <a:schemeClr val="bg1"/>
                </a:solidFill>
                <a:latin typeface="Calibri"/>
                <a:cs typeface="Calibri"/>
              </a:rPr>
              <a:t> </a:t>
            </a:r>
            <a:r>
              <a:rPr sz="2000" b="1" dirty="0">
                <a:solidFill>
                  <a:schemeClr val="bg1"/>
                </a:solidFill>
                <a:latin typeface="Calibri"/>
                <a:cs typeface="Calibri"/>
              </a:rPr>
              <a:t>buyers</a:t>
            </a:r>
            <a:r>
              <a:rPr sz="2000" b="1" spc="-45" dirty="0">
                <a:solidFill>
                  <a:schemeClr val="bg1"/>
                </a:solidFill>
                <a:latin typeface="Calibri"/>
                <a:cs typeface="Calibri"/>
              </a:rPr>
              <a:t> </a:t>
            </a:r>
            <a:r>
              <a:rPr sz="2000" dirty="0">
                <a:solidFill>
                  <a:schemeClr val="bg1"/>
                </a:solidFill>
                <a:latin typeface="Calibri"/>
                <a:cs typeface="Calibri"/>
              </a:rPr>
              <a:t>to</a:t>
            </a:r>
            <a:r>
              <a:rPr sz="2000" spc="-55" dirty="0">
                <a:solidFill>
                  <a:schemeClr val="bg1"/>
                </a:solidFill>
                <a:latin typeface="Calibri"/>
                <a:cs typeface="Calibri"/>
              </a:rPr>
              <a:t> </a:t>
            </a:r>
            <a:r>
              <a:rPr sz="2000" spc="-85" dirty="0">
                <a:solidFill>
                  <a:schemeClr val="bg1"/>
                </a:solidFill>
                <a:latin typeface="Calibri"/>
                <a:cs typeface="Calibri"/>
              </a:rPr>
              <a:t>improve </a:t>
            </a:r>
            <a:r>
              <a:rPr sz="2000" dirty="0">
                <a:solidFill>
                  <a:schemeClr val="bg1"/>
                </a:solidFill>
                <a:latin typeface="Calibri"/>
                <a:cs typeface="Calibri"/>
              </a:rPr>
              <a:t>loyalty</a:t>
            </a:r>
            <a:r>
              <a:rPr sz="2000" spc="-75" dirty="0">
                <a:solidFill>
                  <a:schemeClr val="bg1"/>
                </a:solidFill>
                <a:latin typeface="Calibri"/>
                <a:cs typeface="Calibri"/>
              </a:rPr>
              <a:t> </a:t>
            </a:r>
            <a:r>
              <a:rPr sz="2000" spc="-10" dirty="0">
                <a:solidFill>
                  <a:schemeClr val="bg1"/>
                </a:solidFill>
                <a:latin typeface="Calibri"/>
                <a:cs typeface="Calibri"/>
              </a:rPr>
              <a:t>programs.</a:t>
            </a:r>
            <a:endParaRPr sz="2000" dirty="0">
              <a:solidFill>
                <a:schemeClr val="bg1"/>
              </a:solidFill>
              <a:latin typeface="Calibri"/>
              <a:cs typeface="Calibri"/>
            </a:endParaRPr>
          </a:p>
          <a:p>
            <a:pPr marL="355600" marR="342265" indent="-342900">
              <a:lnSpc>
                <a:spcPts val="2400"/>
              </a:lnSpc>
              <a:spcBef>
                <a:spcPts val="5"/>
              </a:spcBef>
              <a:buFont typeface="Wingdings" panose="05000000000000000000" pitchFamily="2" charset="2"/>
              <a:buChar char="q"/>
            </a:pPr>
            <a:r>
              <a:rPr sz="2000" spc="-35" dirty="0">
                <a:solidFill>
                  <a:schemeClr val="bg1"/>
                </a:solidFill>
                <a:latin typeface="Calibri"/>
                <a:cs typeface="Calibri"/>
              </a:rPr>
              <a:t> </a:t>
            </a:r>
            <a:r>
              <a:rPr sz="2000" b="1" dirty="0">
                <a:solidFill>
                  <a:schemeClr val="bg1"/>
                </a:solidFill>
                <a:latin typeface="Calibri"/>
                <a:cs typeface="Calibri"/>
              </a:rPr>
              <a:t>Regional</a:t>
            </a:r>
            <a:r>
              <a:rPr sz="2000" b="1" spc="-40" dirty="0">
                <a:solidFill>
                  <a:schemeClr val="bg1"/>
                </a:solidFill>
                <a:latin typeface="Calibri"/>
                <a:cs typeface="Calibri"/>
              </a:rPr>
              <a:t> </a:t>
            </a:r>
            <a:r>
              <a:rPr sz="2000" b="1" dirty="0">
                <a:solidFill>
                  <a:schemeClr val="bg1"/>
                </a:solidFill>
                <a:latin typeface="Calibri"/>
                <a:cs typeface="Calibri"/>
              </a:rPr>
              <a:t>Expansion</a:t>
            </a:r>
            <a:r>
              <a:rPr sz="2000" b="1" spc="-40" dirty="0">
                <a:solidFill>
                  <a:schemeClr val="bg1"/>
                </a:solidFill>
                <a:latin typeface="Calibri"/>
                <a:cs typeface="Calibri"/>
              </a:rPr>
              <a:t> </a:t>
            </a:r>
            <a:r>
              <a:rPr sz="2000" b="1" dirty="0">
                <a:solidFill>
                  <a:schemeClr val="bg1"/>
                </a:solidFill>
                <a:latin typeface="Calibri"/>
                <a:cs typeface="Calibri"/>
              </a:rPr>
              <a:t>Opportunities:</a:t>
            </a:r>
            <a:r>
              <a:rPr sz="2000" b="1" spc="-10" dirty="0">
                <a:solidFill>
                  <a:schemeClr val="bg1"/>
                </a:solidFill>
                <a:latin typeface="Calibri"/>
                <a:cs typeface="Calibri"/>
              </a:rPr>
              <a:t> </a:t>
            </a:r>
            <a:r>
              <a:rPr sz="2000" dirty="0">
                <a:solidFill>
                  <a:schemeClr val="bg1"/>
                </a:solidFill>
                <a:latin typeface="Calibri"/>
                <a:cs typeface="Calibri"/>
              </a:rPr>
              <a:t>Identify</a:t>
            </a:r>
            <a:r>
              <a:rPr sz="2000" spc="-35" dirty="0">
                <a:solidFill>
                  <a:schemeClr val="bg1"/>
                </a:solidFill>
                <a:latin typeface="Calibri"/>
                <a:cs typeface="Calibri"/>
              </a:rPr>
              <a:t> </a:t>
            </a:r>
            <a:r>
              <a:rPr sz="2000" spc="-10" dirty="0">
                <a:solidFill>
                  <a:schemeClr val="bg1"/>
                </a:solidFill>
                <a:latin typeface="Calibri"/>
                <a:cs typeface="Calibri"/>
              </a:rPr>
              <a:t>cities/countries</a:t>
            </a:r>
            <a:r>
              <a:rPr sz="2000" spc="-40" dirty="0">
                <a:solidFill>
                  <a:schemeClr val="bg1"/>
                </a:solidFill>
                <a:latin typeface="Calibri"/>
                <a:cs typeface="Calibri"/>
              </a:rPr>
              <a:t> </a:t>
            </a:r>
            <a:r>
              <a:rPr sz="2000" dirty="0">
                <a:solidFill>
                  <a:schemeClr val="bg1"/>
                </a:solidFill>
                <a:latin typeface="Calibri"/>
                <a:cs typeface="Calibri"/>
              </a:rPr>
              <a:t>with</a:t>
            </a:r>
            <a:r>
              <a:rPr sz="2000" spc="-35" dirty="0">
                <a:solidFill>
                  <a:schemeClr val="bg1"/>
                </a:solidFill>
                <a:latin typeface="Calibri"/>
                <a:cs typeface="Calibri"/>
              </a:rPr>
              <a:t> </a:t>
            </a:r>
            <a:r>
              <a:rPr sz="2000" dirty="0">
                <a:solidFill>
                  <a:schemeClr val="bg1"/>
                </a:solidFill>
                <a:latin typeface="Calibri"/>
                <a:cs typeface="Calibri"/>
              </a:rPr>
              <a:t>high</a:t>
            </a:r>
            <a:r>
              <a:rPr sz="2000" spc="-40" dirty="0">
                <a:solidFill>
                  <a:schemeClr val="bg1"/>
                </a:solidFill>
                <a:latin typeface="Calibri"/>
                <a:cs typeface="Calibri"/>
              </a:rPr>
              <a:t> </a:t>
            </a:r>
            <a:r>
              <a:rPr sz="2000" spc="-10" dirty="0">
                <a:solidFill>
                  <a:schemeClr val="bg1"/>
                </a:solidFill>
                <a:latin typeface="Calibri"/>
                <a:cs typeface="Calibri"/>
              </a:rPr>
              <a:t>potential</a:t>
            </a:r>
            <a:r>
              <a:rPr sz="2000" spc="-40" dirty="0">
                <a:solidFill>
                  <a:schemeClr val="bg1"/>
                </a:solidFill>
                <a:latin typeface="Calibri"/>
                <a:cs typeface="Calibri"/>
              </a:rPr>
              <a:t> </a:t>
            </a:r>
            <a:r>
              <a:rPr sz="2000" dirty="0">
                <a:solidFill>
                  <a:schemeClr val="bg1"/>
                </a:solidFill>
                <a:latin typeface="Calibri"/>
                <a:cs typeface="Calibri"/>
              </a:rPr>
              <a:t>but</a:t>
            </a:r>
            <a:r>
              <a:rPr sz="2000" spc="-45" dirty="0">
                <a:solidFill>
                  <a:schemeClr val="bg1"/>
                </a:solidFill>
                <a:latin typeface="Calibri"/>
                <a:cs typeface="Calibri"/>
              </a:rPr>
              <a:t> </a:t>
            </a:r>
            <a:r>
              <a:rPr sz="2000" spc="-300" dirty="0">
                <a:solidFill>
                  <a:schemeClr val="bg1"/>
                </a:solidFill>
                <a:latin typeface="Calibri"/>
                <a:cs typeface="Calibri"/>
              </a:rPr>
              <a:t>low</a:t>
            </a:r>
            <a:r>
              <a:rPr sz="2000" spc="-20" dirty="0">
                <a:solidFill>
                  <a:schemeClr val="bg1"/>
                </a:solidFill>
                <a:latin typeface="Calibri"/>
                <a:cs typeface="Calibri"/>
              </a:rPr>
              <a:t> restaurant</a:t>
            </a:r>
            <a:r>
              <a:rPr sz="2000" spc="-45" dirty="0">
                <a:solidFill>
                  <a:schemeClr val="bg1"/>
                </a:solidFill>
                <a:latin typeface="Calibri"/>
                <a:cs typeface="Calibri"/>
              </a:rPr>
              <a:t> </a:t>
            </a:r>
            <a:r>
              <a:rPr sz="2000" spc="-10" dirty="0">
                <a:solidFill>
                  <a:schemeClr val="bg1"/>
                </a:solidFill>
                <a:latin typeface="Calibri"/>
                <a:cs typeface="Calibri"/>
              </a:rPr>
              <a:t>penetration.</a:t>
            </a:r>
            <a:endParaRPr sz="2000" dirty="0">
              <a:solidFill>
                <a:schemeClr val="bg1"/>
              </a:solidFill>
              <a:latin typeface="Calibri"/>
              <a:cs typeface="Calibri"/>
            </a:endParaRPr>
          </a:p>
          <a:p>
            <a:pPr marL="12700">
              <a:lnSpc>
                <a:spcPct val="100000"/>
              </a:lnSpc>
              <a:spcBef>
                <a:spcPts val="2075"/>
              </a:spcBef>
            </a:pPr>
            <a:r>
              <a:rPr sz="2400" b="1" u="sng" spc="-10" dirty="0">
                <a:solidFill>
                  <a:srgbClr val="FF0000"/>
                </a:solidFill>
                <a:latin typeface="Segoe UI Black" panose="020B0A02040204020203" pitchFamily="34" charset="0"/>
                <a:ea typeface="Segoe UI Black" panose="020B0A02040204020203" pitchFamily="34" charset="0"/>
                <a:cs typeface="Calibri"/>
              </a:rPr>
              <a:t>Customer</a:t>
            </a:r>
            <a:r>
              <a:rPr sz="2400" b="1" u="sng" spc="-70" dirty="0">
                <a:solidFill>
                  <a:srgbClr val="FF0000"/>
                </a:solidFill>
                <a:latin typeface="Segoe UI Black" panose="020B0A02040204020203" pitchFamily="34" charset="0"/>
                <a:ea typeface="Segoe UI Black" panose="020B0A02040204020203" pitchFamily="34" charset="0"/>
                <a:cs typeface="Calibri"/>
              </a:rPr>
              <a:t> </a:t>
            </a:r>
            <a:r>
              <a:rPr sz="2400" b="1" u="sng" dirty="0">
                <a:solidFill>
                  <a:srgbClr val="FF0000"/>
                </a:solidFill>
                <a:latin typeface="Segoe UI Black" panose="020B0A02040204020203" pitchFamily="34" charset="0"/>
                <a:ea typeface="Segoe UI Black" panose="020B0A02040204020203" pitchFamily="34" charset="0"/>
                <a:cs typeface="Calibri"/>
              </a:rPr>
              <a:t>Behavior</a:t>
            </a:r>
            <a:r>
              <a:rPr sz="2400" b="1" u="sng" spc="-65" dirty="0">
                <a:solidFill>
                  <a:srgbClr val="FF0000"/>
                </a:solidFill>
                <a:latin typeface="Segoe UI Black" panose="020B0A02040204020203" pitchFamily="34" charset="0"/>
                <a:ea typeface="Segoe UI Black" panose="020B0A02040204020203" pitchFamily="34" charset="0"/>
                <a:cs typeface="Calibri"/>
              </a:rPr>
              <a:t> </a:t>
            </a:r>
            <a:r>
              <a:rPr sz="2400" b="1" u="sng" dirty="0">
                <a:solidFill>
                  <a:srgbClr val="FF0000"/>
                </a:solidFill>
                <a:latin typeface="Segoe UI Black" panose="020B0A02040204020203" pitchFamily="34" charset="0"/>
                <a:ea typeface="Segoe UI Black" panose="020B0A02040204020203" pitchFamily="34" charset="0"/>
                <a:cs typeface="Calibri"/>
              </a:rPr>
              <a:t>&amp;</a:t>
            </a:r>
            <a:r>
              <a:rPr sz="2400" b="1" u="sng" spc="-60" dirty="0">
                <a:solidFill>
                  <a:srgbClr val="FF0000"/>
                </a:solidFill>
                <a:latin typeface="Segoe UI Black" panose="020B0A02040204020203" pitchFamily="34" charset="0"/>
                <a:ea typeface="Segoe UI Black" panose="020B0A02040204020203" pitchFamily="34" charset="0"/>
                <a:cs typeface="Calibri"/>
              </a:rPr>
              <a:t> </a:t>
            </a:r>
            <a:r>
              <a:rPr sz="2400" b="1" u="sng" spc="-10" dirty="0">
                <a:solidFill>
                  <a:srgbClr val="FF0000"/>
                </a:solidFill>
                <a:latin typeface="Segoe UI Black" panose="020B0A02040204020203" pitchFamily="34" charset="0"/>
                <a:ea typeface="Segoe UI Black" panose="020B0A02040204020203" pitchFamily="34" charset="0"/>
                <a:cs typeface="Calibri"/>
              </a:rPr>
              <a:t>Satisfaction</a:t>
            </a:r>
            <a:endParaRPr sz="2400" b="1" u="sng" dirty="0">
              <a:solidFill>
                <a:srgbClr val="FF0000"/>
              </a:solidFill>
              <a:latin typeface="Segoe UI Black" panose="020B0A02040204020203" pitchFamily="34" charset="0"/>
              <a:ea typeface="Segoe UI Black" panose="020B0A02040204020203" pitchFamily="34" charset="0"/>
              <a:cs typeface="Calibri"/>
            </a:endParaRPr>
          </a:p>
          <a:p>
            <a:pPr marL="355600" marR="5080" indent="-342900">
              <a:lnSpc>
                <a:spcPct val="100000"/>
              </a:lnSpc>
              <a:spcBef>
                <a:spcPts val="2405"/>
              </a:spcBef>
              <a:buFont typeface="Wingdings" panose="05000000000000000000" pitchFamily="2" charset="2"/>
              <a:buChar char="q"/>
            </a:pPr>
            <a:r>
              <a:rPr sz="2000" b="1" dirty="0">
                <a:solidFill>
                  <a:schemeClr val="bg1"/>
                </a:solidFill>
                <a:latin typeface="Calibri"/>
                <a:cs typeface="Calibri"/>
              </a:rPr>
              <a:t>Customer</a:t>
            </a:r>
            <a:r>
              <a:rPr sz="2000" b="1" spc="-50" dirty="0">
                <a:solidFill>
                  <a:schemeClr val="bg1"/>
                </a:solidFill>
                <a:latin typeface="Calibri"/>
                <a:cs typeface="Calibri"/>
              </a:rPr>
              <a:t> </a:t>
            </a:r>
            <a:r>
              <a:rPr sz="2000" b="1" dirty="0">
                <a:solidFill>
                  <a:schemeClr val="bg1"/>
                </a:solidFill>
                <a:latin typeface="Calibri"/>
                <a:cs typeface="Calibri"/>
              </a:rPr>
              <a:t>Feedback</a:t>
            </a:r>
            <a:r>
              <a:rPr sz="2000" b="1" spc="-60" dirty="0">
                <a:solidFill>
                  <a:schemeClr val="bg1"/>
                </a:solidFill>
                <a:latin typeface="Calibri"/>
                <a:cs typeface="Calibri"/>
              </a:rPr>
              <a:t> </a:t>
            </a:r>
            <a:r>
              <a:rPr sz="2000" b="1" dirty="0">
                <a:solidFill>
                  <a:schemeClr val="bg1"/>
                </a:solidFill>
                <a:latin typeface="Calibri"/>
                <a:cs typeface="Calibri"/>
              </a:rPr>
              <a:t>Analysis:</a:t>
            </a:r>
            <a:r>
              <a:rPr sz="2000" b="1" spc="-45" dirty="0">
                <a:solidFill>
                  <a:schemeClr val="bg1"/>
                </a:solidFill>
                <a:latin typeface="Calibri"/>
                <a:cs typeface="Calibri"/>
              </a:rPr>
              <a:t> </a:t>
            </a:r>
            <a:r>
              <a:rPr sz="2000" dirty="0">
                <a:solidFill>
                  <a:schemeClr val="bg1"/>
                </a:solidFill>
                <a:latin typeface="Calibri"/>
                <a:cs typeface="Calibri"/>
              </a:rPr>
              <a:t>Identify</a:t>
            </a:r>
            <a:r>
              <a:rPr sz="2000" spc="-55" dirty="0">
                <a:solidFill>
                  <a:schemeClr val="bg1"/>
                </a:solidFill>
                <a:latin typeface="Calibri"/>
                <a:cs typeface="Calibri"/>
              </a:rPr>
              <a:t> </a:t>
            </a:r>
            <a:r>
              <a:rPr sz="2000" dirty="0">
                <a:solidFill>
                  <a:schemeClr val="bg1"/>
                </a:solidFill>
                <a:latin typeface="Calibri"/>
                <a:cs typeface="Calibri"/>
              </a:rPr>
              <a:t>common</a:t>
            </a:r>
            <a:r>
              <a:rPr sz="2000" spc="-35" dirty="0">
                <a:solidFill>
                  <a:schemeClr val="bg1"/>
                </a:solidFill>
                <a:latin typeface="Calibri"/>
                <a:cs typeface="Calibri"/>
              </a:rPr>
              <a:t> </a:t>
            </a:r>
            <a:r>
              <a:rPr sz="2000" b="1" dirty="0">
                <a:solidFill>
                  <a:schemeClr val="bg1"/>
                </a:solidFill>
                <a:latin typeface="Calibri"/>
                <a:cs typeface="Calibri"/>
              </a:rPr>
              <a:t>complaints</a:t>
            </a:r>
            <a:r>
              <a:rPr sz="2000" b="1" spc="-50" dirty="0">
                <a:solidFill>
                  <a:schemeClr val="bg1"/>
                </a:solidFill>
                <a:latin typeface="Calibri"/>
                <a:cs typeface="Calibri"/>
              </a:rPr>
              <a:t> </a:t>
            </a:r>
            <a:r>
              <a:rPr sz="2000" b="1" dirty="0">
                <a:solidFill>
                  <a:schemeClr val="bg1"/>
                </a:solidFill>
                <a:latin typeface="Calibri"/>
                <a:cs typeface="Calibri"/>
              </a:rPr>
              <a:t>or</a:t>
            </a:r>
            <a:r>
              <a:rPr sz="2000" b="1" spc="-60" dirty="0">
                <a:solidFill>
                  <a:schemeClr val="bg1"/>
                </a:solidFill>
                <a:latin typeface="Calibri"/>
                <a:cs typeface="Calibri"/>
              </a:rPr>
              <a:t> </a:t>
            </a:r>
            <a:r>
              <a:rPr sz="2000" b="1" dirty="0">
                <a:solidFill>
                  <a:schemeClr val="bg1"/>
                </a:solidFill>
                <a:latin typeface="Calibri"/>
                <a:cs typeface="Calibri"/>
              </a:rPr>
              <a:t>positive</a:t>
            </a:r>
            <a:r>
              <a:rPr sz="2000" b="1" spc="-60" dirty="0">
                <a:solidFill>
                  <a:schemeClr val="bg1"/>
                </a:solidFill>
                <a:latin typeface="Calibri"/>
                <a:cs typeface="Calibri"/>
              </a:rPr>
              <a:t> </a:t>
            </a:r>
            <a:r>
              <a:rPr sz="2000" b="1" spc="-10" dirty="0">
                <a:solidFill>
                  <a:schemeClr val="bg1"/>
                </a:solidFill>
                <a:latin typeface="Calibri"/>
                <a:cs typeface="Calibri"/>
              </a:rPr>
              <a:t>reviews</a:t>
            </a:r>
            <a:r>
              <a:rPr sz="2000" b="1" spc="-50" dirty="0">
                <a:solidFill>
                  <a:schemeClr val="bg1"/>
                </a:solidFill>
                <a:latin typeface="Calibri"/>
                <a:cs typeface="Calibri"/>
              </a:rPr>
              <a:t> </a:t>
            </a:r>
            <a:r>
              <a:rPr sz="2000" dirty="0">
                <a:solidFill>
                  <a:schemeClr val="bg1"/>
                </a:solidFill>
                <a:latin typeface="Calibri"/>
                <a:cs typeface="Calibri"/>
              </a:rPr>
              <a:t>to</a:t>
            </a:r>
            <a:r>
              <a:rPr sz="2000" spc="-50" dirty="0">
                <a:solidFill>
                  <a:schemeClr val="bg1"/>
                </a:solidFill>
                <a:latin typeface="Calibri"/>
                <a:cs typeface="Calibri"/>
              </a:rPr>
              <a:t> </a:t>
            </a:r>
            <a:r>
              <a:rPr sz="2000" spc="-85" dirty="0">
                <a:solidFill>
                  <a:schemeClr val="bg1"/>
                </a:solidFill>
                <a:latin typeface="Calibri"/>
                <a:cs typeface="Calibri"/>
              </a:rPr>
              <a:t>improve </a:t>
            </a:r>
            <a:r>
              <a:rPr sz="2000" spc="-10" dirty="0">
                <a:solidFill>
                  <a:schemeClr val="bg1"/>
                </a:solidFill>
                <a:latin typeface="Calibri"/>
                <a:cs typeface="Calibri"/>
              </a:rPr>
              <a:t>service.</a:t>
            </a:r>
            <a:endParaRPr sz="2000" dirty="0">
              <a:solidFill>
                <a:schemeClr val="bg1"/>
              </a:solidFill>
              <a:latin typeface="Calibri"/>
              <a:cs typeface="Calibri"/>
            </a:endParaRPr>
          </a:p>
          <a:p>
            <a:pPr marL="355600" marR="109220" indent="-342900">
              <a:lnSpc>
                <a:spcPct val="100000"/>
              </a:lnSpc>
              <a:buFont typeface="Wingdings" panose="05000000000000000000" pitchFamily="2" charset="2"/>
              <a:buChar char="q"/>
            </a:pPr>
            <a:r>
              <a:rPr sz="2000" spc="-45" dirty="0">
                <a:solidFill>
                  <a:schemeClr val="bg1"/>
                </a:solidFill>
                <a:latin typeface="Calibri"/>
                <a:cs typeface="Calibri"/>
              </a:rPr>
              <a:t> </a:t>
            </a:r>
            <a:r>
              <a:rPr sz="2000" b="1" spc="-10" dirty="0">
                <a:solidFill>
                  <a:schemeClr val="bg1"/>
                </a:solidFill>
                <a:latin typeface="Calibri"/>
                <a:cs typeface="Calibri"/>
              </a:rPr>
              <a:t>Loyalty</a:t>
            </a:r>
            <a:r>
              <a:rPr sz="2000" b="1" spc="-55" dirty="0">
                <a:solidFill>
                  <a:schemeClr val="bg1"/>
                </a:solidFill>
                <a:latin typeface="Calibri"/>
                <a:cs typeface="Calibri"/>
              </a:rPr>
              <a:t> </a:t>
            </a:r>
            <a:r>
              <a:rPr sz="2000" b="1" dirty="0">
                <a:solidFill>
                  <a:schemeClr val="bg1"/>
                </a:solidFill>
                <a:latin typeface="Calibri"/>
                <a:cs typeface="Calibri"/>
              </a:rPr>
              <a:t>&amp;</a:t>
            </a:r>
            <a:r>
              <a:rPr sz="2000" b="1" spc="-45" dirty="0">
                <a:solidFill>
                  <a:schemeClr val="bg1"/>
                </a:solidFill>
                <a:latin typeface="Calibri"/>
                <a:cs typeface="Calibri"/>
              </a:rPr>
              <a:t> </a:t>
            </a:r>
            <a:r>
              <a:rPr sz="2000" b="1" spc="-10" dirty="0">
                <a:solidFill>
                  <a:schemeClr val="bg1"/>
                </a:solidFill>
                <a:latin typeface="Calibri"/>
                <a:cs typeface="Calibri"/>
              </a:rPr>
              <a:t>Retention</a:t>
            </a:r>
            <a:r>
              <a:rPr sz="2000" b="1" spc="-40" dirty="0">
                <a:solidFill>
                  <a:schemeClr val="bg1"/>
                </a:solidFill>
                <a:latin typeface="Calibri"/>
                <a:cs typeface="Calibri"/>
              </a:rPr>
              <a:t> </a:t>
            </a:r>
            <a:r>
              <a:rPr sz="2000" b="1" dirty="0">
                <a:solidFill>
                  <a:schemeClr val="bg1"/>
                </a:solidFill>
                <a:latin typeface="Calibri"/>
                <a:cs typeface="Calibri"/>
              </a:rPr>
              <a:t>Metrics:</a:t>
            </a:r>
            <a:r>
              <a:rPr sz="2000" b="1" spc="-45" dirty="0">
                <a:solidFill>
                  <a:schemeClr val="bg1"/>
                </a:solidFill>
                <a:latin typeface="Calibri"/>
                <a:cs typeface="Calibri"/>
              </a:rPr>
              <a:t> </a:t>
            </a:r>
            <a:r>
              <a:rPr sz="2000" spc="-25" dirty="0">
                <a:solidFill>
                  <a:schemeClr val="bg1"/>
                </a:solidFill>
                <a:latin typeface="Calibri"/>
                <a:cs typeface="Calibri"/>
              </a:rPr>
              <a:t>Track</a:t>
            </a:r>
            <a:r>
              <a:rPr sz="2000" spc="-40" dirty="0">
                <a:solidFill>
                  <a:schemeClr val="bg1"/>
                </a:solidFill>
                <a:latin typeface="Calibri"/>
                <a:cs typeface="Calibri"/>
              </a:rPr>
              <a:t> </a:t>
            </a:r>
            <a:r>
              <a:rPr sz="2000" b="1" dirty="0">
                <a:solidFill>
                  <a:schemeClr val="bg1"/>
                </a:solidFill>
                <a:latin typeface="Calibri"/>
                <a:cs typeface="Calibri"/>
              </a:rPr>
              <a:t>repeat</a:t>
            </a:r>
            <a:r>
              <a:rPr sz="2000" b="1" spc="-50" dirty="0">
                <a:solidFill>
                  <a:schemeClr val="bg1"/>
                </a:solidFill>
                <a:latin typeface="Calibri"/>
                <a:cs typeface="Calibri"/>
              </a:rPr>
              <a:t> </a:t>
            </a:r>
            <a:r>
              <a:rPr sz="2000" b="1" dirty="0">
                <a:solidFill>
                  <a:schemeClr val="bg1"/>
                </a:solidFill>
                <a:latin typeface="Calibri"/>
                <a:cs typeface="Calibri"/>
              </a:rPr>
              <a:t>customers</a:t>
            </a:r>
            <a:r>
              <a:rPr sz="2000" b="1" spc="-40" dirty="0">
                <a:solidFill>
                  <a:schemeClr val="bg1"/>
                </a:solidFill>
                <a:latin typeface="Calibri"/>
                <a:cs typeface="Calibri"/>
              </a:rPr>
              <a:t> </a:t>
            </a:r>
            <a:r>
              <a:rPr sz="2000" dirty="0">
                <a:solidFill>
                  <a:schemeClr val="bg1"/>
                </a:solidFill>
                <a:latin typeface="Calibri"/>
                <a:cs typeface="Calibri"/>
              </a:rPr>
              <a:t>and</a:t>
            </a:r>
            <a:r>
              <a:rPr sz="2000" spc="-45" dirty="0">
                <a:solidFill>
                  <a:schemeClr val="bg1"/>
                </a:solidFill>
                <a:latin typeface="Calibri"/>
                <a:cs typeface="Calibri"/>
              </a:rPr>
              <a:t> </a:t>
            </a:r>
            <a:r>
              <a:rPr sz="2000" spc="-10" dirty="0">
                <a:solidFill>
                  <a:schemeClr val="bg1"/>
                </a:solidFill>
                <a:latin typeface="Calibri"/>
                <a:cs typeface="Calibri"/>
              </a:rPr>
              <a:t>analyze</a:t>
            </a:r>
            <a:r>
              <a:rPr sz="2000" spc="-50" dirty="0">
                <a:solidFill>
                  <a:schemeClr val="bg1"/>
                </a:solidFill>
                <a:latin typeface="Calibri"/>
                <a:cs typeface="Calibri"/>
              </a:rPr>
              <a:t> </a:t>
            </a:r>
            <a:r>
              <a:rPr sz="2000" dirty="0">
                <a:solidFill>
                  <a:schemeClr val="bg1"/>
                </a:solidFill>
                <a:latin typeface="Calibri"/>
                <a:cs typeface="Calibri"/>
              </a:rPr>
              <a:t>their</a:t>
            </a:r>
            <a:r>
              <a:rPr sz="2000" spc="-45" dirty="0">
                <a:solidFill>
                  <a:schemeClr val="bg1"/>
                </a:solidFill>
                <a:latin typeface="Calibri"/>
                <a:cs typeface="Calibri"/>
              </a:rPr>
              <a:t> </a:t>
            </a:r>
            <a:r>
              <a:rPr sz="2000" b="1" spc="-20" dirty="0">
                <a:solidFill>
                  <a:schemeClr val="bg1"/>
                </a:solidFill>
                <a:latin typeface="Calibri"/>
                <a:cs typeface="Calibri"/>
              </a:rPr>
              <a:t>average</a:t>
            </a:r>
            <a:r>
              <a:rPr sz="2000" b="1" spc="-55" dirty="0">
                <a:solidFill>
                  <a:schemeClr val="bg1"/>
                </a:solidFill>
                <a:latin typeface="Calibri"/>
                <a:cs typeface="Calibri"/>
              </a:rPr>
              <a:t> </a:t>
            </a:r>
            <a:r>
              <a:rPr sz="2000" b="1" spc="-65" dirty="0">
                <a:solidFill>
                  <a:schemeClr val="bg1"/>
                </a:solidFill>
                <a:latin typeface="Calibri"/>
                <a:cs typeface="Calibri"/>
              </a:rPr>
              <a:t>spending </a:t>
            </a:r>
            <a:r>
              <a:rPr sz="2000" b="1" spc="-10" dirty="0">
                <a:solidFill>
                  <a:schemeClr val="bg1"/>
                </a:solidFill>
                <a:latin typeface="Calibri"/>
                <a:cs typeface="Calibri"/>
              </a:rPr>
              <a:t>patterns</a:t>
            </a:r>
            <a:r>
              <a:rPr sz="2000" spc="-10" dirty="0">
                <a:solidFill>
                  <a:schemeClr val="bg1"/>
                </a:solidFill>
                <a:latin typeface="Calibri"/>
                <a:cs typeface="Calibri"/>
              </a:rPr>
              <a:t>.</a:t>
            </a:r>
            <a:endParaRPr sz="2000" dirty="0">
              <a:solidFill>
                <a:schemeClr val="bg1"/>
              </a:solidFill>
              <a:latin typeface="Calibri"/>
              <a:cs typeface="Calibri"/>
            </a:endParaRPr>
          </a:p>
          <a:p>
            <a:pPr marL="355600" indent="-342900">
              <a:lnSpc>
                <a:spcPct val="100000"/>
              </a:lnSpc>
              <a:buFont typeface="Wingdings" panose="05000000000000000000" pitchFamily="2" charset="2"/>
              <a:buChar char="q"/>
            </a:pPr>
            <a:r>
              <a:rPr sz="2000" spc="-35" dirty="0">
                <a:solidFill>
                  <a:schemeClr val="bg1"/>
                </a:solidFill>
                <a:latin typeface="Calibri"/>
                <a:cs typeface="Calibri"/>
              </a:rPr>
              <a:t> </a:t>
            </a:r>
            <a:r>
              <a:rPr sz="2000" b="1" dirty="0">
                <a:solidFill>
                  <a:schemeClr val="bg1"/>
                </a:solidFill>
                <a:latin typeface="Calibri"/>
                <a:cs typeface="Calibri"/>
              </a:rPr>
              <a:t>Order</a:t>
            </a:r>
            <a:r>
              <a:rPr sz="2000" b="1" spc="-35" dirty="0">
                <a:solidFill>
                  <a:schemeClr val="bg1"/>
                </a:solidFill>
                <a:latin typeface="Calibri"/>
                <a:cs typeface="Calibri"/>
              </a:rPr>
              <a:t> </a:t>
            </a:r>
            <a:r>
              <a:rPr sz="2000" b="1" spc="-20" dirty="0">
                <a:solidFill>
                  <a:schemeClr val="bg1"/>
                </a:solidFill>
                <a:latin typeface="Calibri"/>
                <a:cs typeface="Calibri"/>
              </a:rPr>
              <a:t>Trends</a:t>
            </a:r>
            <a:r>
              <a:rPr sz="2000" b="1" spc="-35" dirty="0">
                <a:solidFill>
                  <a:schemeClr val="bg1"/>
                </a:solidFill>
                <a:latin typeface="Calibri"/>
                <a:cs typeface="Calibri"/>
              </a:rPr>
              <a:t> </a:t>
            </a:r>
            <a:r>
              <a:rPr sz="2000" b="1" dirty="0">
                <a:solidFill>
                  <a:schemeClr val="bg1"/>
                </a:solidFill>
                <a:latin typeface="Calibri"/>
                <a:cs typeface="Calibri"/>
              </a:rPr>
              <a:t>by</a:t>
            </a:r>
            <a:r>
              <a:rPr sz="2000" b="1" spc="-50" dirty="0">
                <a:solidFill>
                  <a:schemeClr val="bg1"/>
                </a:solidFill>
                <a:latin typeface="Calibri"/>
                <a:cs typeface="Calibri"/>
              </a:rPr>
              <a:t> </a:t>
            </a:r>
            <a:r>
              <a:rPr sz="2000" b="1" dirty="0">
                <a:solidFill>
                  <a:schemeClr val="bg1"/>
                </a:solidFill>
                <a:latin typeface="Calibri"/>
                <a:cs typeface="Calibri"/>
              </a:rPr>
              <a:t>Time</a:t>
            </a:r>
            <a:r>
              <a:rPr sz="2000" b="1" spc="-35" dirty="0">
                <a:solidFill>
                  <a:schemeClr val="bg1"/>
                </a:solidFill>
                <a:latin typeface="Calibri"/>
                <a:cs typeface="Calibri"/>
              </a:rPr>
              <a:t> </a:t>
            </a:r>
            <a:r>
              <a:rPr sz="2000" b="1" dirty="0">
                <a:solidFill>
                  <a:schemeClr val="bg1"/>
                </a:solidFill>
                <a:latin typeface="Calibri"/>
                <a:cs typeface="Calibri"/>
              </a:rPr>
              <a:t>of</a:t>
            </a:r>
            <a:r>
              <a:rPr sz="2000" b="1" spc="-40" dirty="0">
                <a:solidFill>
                  <a:schemeClr val="bg1"/>
                </a:solidFill>
                <a:latin typeface="Calibri"/>
                <a:cs typeface="Calibri"/>
              </a:rPr>
              <a:t> </a:t>
            </a:r>
            <a:r>
              <a:rPr sz="2000" b="1" dirty="0">
                <a:solidFill>
                  <a:schemeClr val="bg1"/>
                </a:solidFill>
                <a:latin typeface="Calibri"/>
                <a:cs typeface="Calibri"/>
              </a:rPr>
              <a:t>Day:</a:t>
            </a:r>
            <a:r>
              <a:rPr sz="2000" b="1" spc="-20" dirty="0">
                <a:solidFill>
                  <a:schemeClr val="bg1"/>
                </a:solidFill>
                <a:latin typeface="Calibri"/>
                <a:cs typeface="Calibri"/>
              </a:rPr>
              <a:t> </a:t>
            </a:r>
            <a:r>
              <a:rPr sz="2000" dirty="0">
                <a:solidFill>
                  <a:schemeClr val="bg1"/>
                </a:solidFill>
                <a:latin typeface="Calibri"/>
                <a:cs typeface="Calibri"/>
              </a:rPr>
              <a:t>Identify</a:t>
            </a:r>
            <a:r>
              <a:rPr sz="2000" spc="-25" dirty="0">
                <a:solidFill>
                  <a:schemeClr val="bg1"/>
                </a:solidFill>
                <a:latin typeface="Calibri"/>
                <a:cs typeface="Calibri"/>
              </a:rPr>
              <a:t> </a:t>
            </a:r>
            <a:r>
              <a:rPr sz="2000" b="1" spc="-30" dirty="0">
                <a:solidFill>
                  <a:schemeClr val="bg1"/>
                </a:solidFill>
                <a:latin typeface="Calibri"/>
                <a:cs typeface="Calibri"/>
              </a:rPr>
              <a:t>best-</a:t>
            </a:r>
            <a:r>
              <a:rPr sz="2000" b="1" dirty="0">
                <a:solidFill>
                  <a:schemeClr val="bg1"/>
                </a:solidFill>
                <a:latin typeface="Calibri"/>
                <a:cs typeface="Calibri"/>
              </a:rPr>
              <a:t>selling</a:t>
            </a:r>
            <a:r>
              <a:rPr sz="2000" b="1" spc="-35" dirty="0">
                <a:solidFill>
                  <a:schemeClr val="bg1"/>
                </a:solidFill>
                <a:latin typeface="Calibri"/>
                <a:cs typeface="Calibri"/>
              </a:rPr>
              <a:t> </a:t>
            </a:r>
            <a:r>
              <a:rPr sz="2000" b="1" dirty="0">
                <a:solidFill>
                  <a:schemeClr val="bg1"/>
                </a:solidFill>
                <a:latin typeface="Calibri"/>
                <a:cs typeface="Calibri"/>
              </a:rPr>
              <a:t>dishes</a:t>
            </a:r>
            <a:r>
              <a:rPr sz="2000" b="1" spc="-40" dirty="0">
                <a:solidFill>
                  <a:schemeClr val="bg1"/>
                </a:solidFill>
                <a:latin typeface="Calibri"/>
                <a:cs typeface="Calibri"/>
              </a:rPr>
              <a:t> </a:t>
            </a:r>
            <a:r>
              <a:rPr sz="2000" b="1" dirty="0">
                <a:solidFill>
                  <a:schemeClr val="bg1"/>
                </a:solidFill>
                <a:latin typeface="Calibri"/>
                <a:cs typeface="Calibri"/>
              </a:rPr>
              <a:t>and</a:t>
            </a:r>
            <a:r>
              <a:rPr sz="2000" b="1" spc="-30" dirty="0">
                <a:solidFill>
                  <a:schemeClr val="bg1"/>
                </a:solidFill>
                <a:latin typeface="Calibri"/>
                <a:cs typeface="Calibri"/>
              </a:rPr>
              <a:t> </a:t>
            </a:r>
            <a:r>
              <a:rPr sz="2000" b="1" dirty="0">
                <a:solidFill>
                  <a:schemeClr val="bg1"/>
                </a:solidFill>
                <a:latin typeface="Calibri"/>
                <a:cs typeface="Calibri"/>
              </a:rPr>
              <a:t>peak</a:t>
            </a:r>
            <a:r>
              <a:rPr sz="2000" b="1" spc="-40" dirty="0">
                <a:solidFill>
                  <a:schemeClr val="bg1"/>
                </a:solidFill>
                <a:latin typeface="Calibri"/>
                <a:cs typeface="Calibri"/>
              </a:rPr>
              <a:t> </a:t>
            </a:r>
            <a:r>
              <a:rPr sz="2000" b="1" dirty="0">
                <a:solidFill>
                  <a:schemeClr val="bg1"/>
                </a:solidFill>
                <a:latin typeface="Calibri"/>
                <a:cs typeface="Calibri"/>
              </a:rPr>
              <a:t>ordering</a:t>
            </a:r>
            <a:r>
              <a:rPr sz="2000" b="1" spc="-40" dirty="0">
                <a:solidFill>
                  <a:schemeClr val="bg1"/>
                </a:solidFill>
                <a:latin typeface="Calibri"/>
                <a:cs typeface="Calibri"/>
              </a:rPr>
              <a:t> </a:t>
            </a:r>
            <a:r>
              <a:rPr sz="2000" b="1" spc="-10" dirty="0">
                <a:solidFill>
                  <a:schemeClr val="bg1"/>
                </a:solidFill>
                <a:latin typeface="Calibri"/>
                <a:cs typeface="Calibri"/>
              </a:rPr>
              <a:t>times</a:t>
            </a:r>
            <a:endParaRPr sz="2000" dirty="0">
              <a:solidFill>
                <a:schemeClr val="bg1"/>
              </a:solidFill>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457200"/>
            <a:ext cx="11353799" cy="1204073"/>
          </a:xfrm>
          <a:prstGeom prst="rect">
            <a:avLst/>
          </a:prstGeom>
        </p:spPr>
        <p:txBody>
          <a:bodyPr vert="horz" wrap="square" lIns="0" tIns="552348" rIns="0" bIns="0" rtlCol="0">
            <a:spAutoFit/>
          </a:bodyPr>
          <a:lstStyle/>
          <a:p>
            <a:pPr marL="438150" algn="ctr">
              <a:lnSpc>
                <a:spcPct val="100000"/>
              </a:lnSpc>
              <a:spcBef>
                <a:spcPts val="100"/>
              </a:spcBef>
            </a:pPr>
            <a:r>
              <a:rPr b="1" spc="-20" dirty="0">
                <a:solidFill>
                  <a:srgbClr val="FF0000"/>
                </a:solidFill>
                <a:latin typeface="Segoe UI Black" panose="020B0A02040204020203" pitchFamily="34" charset="0"/>
                <a:ea typeface="Segoe UI Black" panose="020B0A02040204020203" pitchFamily="34" charset="0"/>
              </a:rPr>
              <a:t>Restaurant</a:t>
            </a:r>
            <a:r>
              <a:rPr b="1" spc="-45" dirty="0">
                <a:solidFill>
                  <a:srgbClr val="FF0000"/>
                </a:solidFill>
                <a:latin typeface="Segoe UI Black" panose="020B0A02040204020203" pitchFamily="34" charset="0"/>
                <a:ea typeface="Segoe UI Black" panose="020B0A02040204020203" pitchFamily="34" charset="0"/>
              </a:rPr>
              <a:t> </a:t>
            </a:r>
            <a:r>
              <a:rPr b="1" spc="-10" dirty="0">
                <a:solidFill>
                  <a:srgbClr val="FF0000"/>
                </a:solidFill>
                <a:latin typeface="Segoe UI Black" panose="020B0A02040204020203" pitchFamily="34" charset="0"/>
                <a:ea typeface="Segoe UI Black" panose="020B0A02040204020203" pitchFamily="34" charset="0"/>
              </a:rPr>
              <a:t>Performance</a:t>
            </a:r>
            <a:r>
              <a:rPr b="1" spc="-40" dirty="0">
                <a:solidFill>
                  <a:srgbClr val="FF0000"/>
                </a:solidFill>
                <a:latin typeface="Segoe UI Black" panose="020B0A02040204020203" pitchFamily="34" charset="0"/>
                <a:ea typeface="Segoe UI Black" panose="020B0A02040204020203" pitchFamily="34" charset="0"/>
              </a:rPr>
              <a:t> </a:t>
            </a:r>
            <a:r>
              <a:rPr b="1" dirty="0">
                <a:solidFill>
                  <a:srgbClr val="FF0000"/>
                </a:solidFill>
                <a:latin typeface="Segoe UI Black" panose="020B0A02040204020203" pitchFamily="34" charset="0"/>
                <a:ea typeface="Segoe UI Black" panose="020B0A02040204020203" pitchFamily="34" charset="0"/>
              </a:rPr>
              <a:t>&amp;</a:t>
            </a:r>
            <a:r>
              <a:rPr b="1" spc="-40" dirty="0">
                <a:solidFill>
                  <a:srgbClr val="FF0000"/>
                </a:solidFill>
                <a:latin typeface="Segoe UI Black" panose="020B0A02040204020203" pitchFamily="34" charset="0"/>
                <a:ea typeface="Segoe UI Black" panose="020B0A02040204020203" pitchFamily="34" charset="0"/>
              </a:rPr>
              <a:t> </a:t>
            </a:r>
            <a:r>
              <a:rPr b="1" spc="-10" dirty="0">
                <a:solidFill>
                  <a:srgbClr val="FF0000"/>
                </a:solidFill>
                <a:latin typeface="Segoe UI Black" panose="020B0A02040204020203" pitchFamily="34" charset="0"/>
                <a:ea typeface="Segoe UI Black" panose="020B0A02040204020203" pitchFamily="34" charset="0"/>
              </a:rPr>
              <a:t>Profitability</a:t>
            </a:r>
          </a:p>
        </p:txBody>
      </p:sp>
      <p:sp>
        <p:nvSpPr>
          <p:cNvPr id="3" name="object 3"/>
          <p:cNvSpPr txBox="1">
            <a:spLocks noGrp="1"/>
          </p:cNvSpPr>
          <p:nvPr>
            <p:ph idx="1"/>
          </p:nvPr>
        </p:nvSpPr>
        <p:spPr>
          <a:xfrm>
            <a:off x="621563" y="2002804"/>
            <a:ext cx="11734800" cy="3898503"/>
          </a:xfrm>
          <a:prstGeom prst="rect">
            <a:avLst/>
          </a:prstGeom>
        </p:spPr>
        <p:txBody>
          <a:bodyPr vert="horz" wrap="square" lIns="0" tIns="12700" rIns="0" bIns="0" rtlCol="0">
            <a:spAutoFit/>
          </a:bodyPr>
          <a:lstStyle/>
          <a:p>
            <a:pPr marL="12700" marR="306070">
              <a:lnSpc>
                <a:spcPct val="100000"/>
              </a:lnSpc>
              <a:spcBef>
                <a:spcPts val="100"/>
              </a:spcBef>
              <a:buClrTx/>
            </a:pPr>
            <a:r>
              <a:rPr dirty="0">
                <a:solidFill>
                  <a:schemeClr val="bg1"/>
                </a:solidFill>
              </a:rPr>
              <a:t>Identify</a:t>
            </a:r>
            <a:r>
              <a:rPr spc="-45" dirty="0">
                <a:solidFill>
                  <a:schemeClr val="bg1"/>
                </a:solidFill>
              </a:rPr>
              <a:t> </a:t>
            </a:r>
            <a:r>
              <a:rPr spc="-10" dirty="0">
                <a:solidFill>
                  <a:schemeClr val="bg1"/>
                </a:solidFill>
              </a:rPr>
              <a:t>Underperforming</a:t>
            </a:r>
            <a:r>
              <a:rPr spc="-45" dirty="0">
                <a:solidFill>
                  <a:schemeClr val="bg1"/>
                </a:solidFill>
              </a:rPr>
              <a:t> </a:t>
            </a:r>
            <a:r>
              <a:rPr spc="-10" dirty="0">
                <a:solidFill>
                  <a:schemeClr val="bg1"/>
                </a:solidFill>
              </a:rPr>
              <a:t>Restaurants:</a:t>
            </a:r>
            <a:r>
              <a:rPr spc="-30" dirty="0">
                <a:solidFill>
                  <a:schemeClr val="bg1"/>
                </a:solidFill>
              </a:rPr>
              <a:t> </a:t>
            </a:r>
            <a:r>
              <a:rPr dirty="0">
                <a:solidFill>
                  <a:schemeClr val="bg1"/>
                </a:solidFill>
                <a:latin typeface="Calibri"/>
                <a:cs typeface="Calibri"/>
              </a:rPr>
              <a:t>Compare</a:t>
            </a:r>
            <a:r>
              <a:rPr spc="-45" dirty="0">
                <a:solidFill>
                  <a:schemeClr val="bg1"/>
                </a:solidFill>
                <a:latin typeface="Calibri"/>
                <a:cs typeface="Calibri"/>
              </a:rPr>
              <a:t> </a:t>
            </a:r>
            <a:r>
              <a:rPr dirty="0">
                <a:solidFill>
                  <a:schemeClr val="bg1"/>
                </a:solidFill>
              </a:rPr>
              <a:t>ratings,</a:t>
            </a:r>
            <a:r>
              <a:rPr spc="-50" dirty="0">
                <a:solidFill>
                  <a:schemeClr val="bg1"/>
                </a:solidFill>
              </a:rPr>
              <a:t> </a:t>
            </a:r>
            <a:r>
              <a:rPr spc="-10" dirty="0">
                <a:solidFill>
                  <a:schemeClr val="bg1"/>
                </a:solidFill>
              </a:rPr>
              <a:t>reviews,</a:t>
            </a:r>
            <a:r>
              <a:rPr spc="-50" dirty="0">
                <a:solidFill>
                  <a:schemeClr val="bg1"/>
                </a:solidFill>
              </a:rPr>
              <a:t> </a:t>
            </a:r>
            <a:r>
              <a:rPr dirty="0">
                <a:solidFill>
                  <a:schemeClr val="bg1"/>
                </a:solidFill>
              </a:rPr>
              <a:t>and</a:t>
            </a:r>
            <a:r>
              <a:rPr spc="-50" dirty="0">
                <a:solidFill>
                  <a:schemeClr val="bg1"/>
                </a:solidFill>
              </a:rPr>
              <a:t> </a:t>
            </a:r>
            <a:r>
              <a:rPr dirty="0">
                <a:solidFill>
                  <a:schemeClr val="bg1"/>
                </a:solidFill>
              </a:rPr>
              <a:t>sales</a:t>
            </a:r>
            <a:r>
              <a:rPr spc="-50" dirty="0">
                <a:solidFill>
                  <a:schemeClr val="bg1"/>
                </a:solidFill>
              </a:rPr>
              <a:t> </a:t>
            </a:r>
            <a:r>
              <a:rPr dirty="0">
                <a:solidFill>
                  <a:schemeClr val="bg1"/>
                </a:solidFill>
              </a:rPr>
              <a:t>data</a:t>
            </a:r>
            <a:r>
              <a:rPr spc="-30" dirty="0">
                <a:solidFill>
                  <a:schemeClr val="bg1"/>
                </a:solidFill>
              </a:rPr>
              <a:t> </a:t>
            </a:r>
            <a:r>
              <a:rPr dirty="0">
                <a:solidFill>
                  <a:schemeClr val="bg1"/>
                </a:solidFill>
                <a:latin typeface="Calibri"/>
                <a:cs typeface="Calibri"/>
              </a:rPr>
              <a:t>to</a:t>
            </a:r>
            <a:r>
              <a:rPr spc="-45" dirty="0">
                <a:solidFill>
                  <a:schemeClr val="bg1"/>
                </a:solidFill>
                <a:latin typeface="Calibri"/>
                <a:cs typeface="Calibri"/>
              </a:rPr>
              <a:t> </a:t>
            </a:r>
            <a:r>
              <a:rPr spc="-70" dirty="0">
                <a:solidFill>
                  <a:schemeClr val="bg1"/>
                </a:solidFill>
                <a:latin typeface="Calibri"/>
                <a:cs typeface="Calibri"/>
              </a:rPr>
              <a:t>detect </a:t>
            </a:r>
            <a:r>
              <a:rPr dirty="0">
                <a:solidFill>
                  <a:schemeClr val="bg1"/>
                </a:solidFill>
                <a:latin typeface="Calibri"/>
                <a:cs typeface="Calibri"/>
              </a:rPr>
              <a:t>struggling</a:t>
            </a:r>
            <a:r>
              <a:rPr spc="-55" dirty="0">
                <a:solidFill>
                  <a:schemeClr val="bg1"/>
                </a:solidFill>
                <a:latin typeface="Calibri"/>
                <a:cs typeface="Calibri"/>
              </a:rPr>
              <a:t> </a:t>
            </a:r>
            <a:r>
              <a:rPr spc="-10" dirty="0">
                <a:solidFill>
                  <a:schemeClr val="bg1"/>
                </a:solidFill>
                <a:latin typeface="Calibri"/>
                <a:cs typeface="Calibri"/>
              </a:rPr>
              <a:t>locations.</a:t>
            </a:r>
            <a:endParaRPr sz="1800" dirty="0">
              <a:solidFill>
                <a:schemeClr val="bg1"/>
              </a:solidFill>
              <a:latin typeface="Calibri"/>
              <a:cs typeface="Calibri"/>
            </a:endParaRPr>
          </a:p>
          <a:p>
            <a:pPr marL="12700" marR="281940">
              <a:lnSpc>
                <a:spcPct val="100000"/>
              </a:lnSpc>
              <a:spcBef>
                <a:spcPts val="10"/>
              </a:spcBef>
              <a:buClrTx/>
            </a:pPr>
            <a:r>
              <a:rPr spc="-50" dirty="0">
                <a:solidFill>
                  <a:schemeClr val="bg1"/>
                </a:solidFill>
                <a:latin typeface="Calibri"/>
                <a:cs typeface="Calibri"/>
              </a:rPr>
              <a:t> </a:t>
            </a:r>
            <a:r>
              <a:rPr dirty="0">
                <a:solidFill>
                  <a:schemeClr val="bg1"/>
                </a:solidFill>
              </a:rPr>
              <a:t>Cost</a:t>
            </a:r>
            <a:r>
              <a:rPr spc="-50" dirty="0">
                <a:solidFill>
                  <a:schemeClr val="bg1"/>
                </a:solidFill>
              </a:rPr>
              <a:t> </a:t>
            </a:r>
            <a:r>
              <a:rPr dirty="0">
                <a:solidFill>
                  <a:schemeClr val="bg1"/>
                </a:solidFill>
              </a:rPr>
              <a:t>&amp;</a:t>
            </a:r>
            <a:r>
              <a:rPr spc="-50" dirty="0">
                <a:solidFill>
                  <a:schemeClr val="bg1"/>
                </a:solidFill>
              </a:rPr>
              <a:t> </a:t>
            </a:r>
            <a:r>
              <a:rPr dirty="0">
                <a:solidFill>
                  <a:schemeClr val="bg1"/>
                </a:solidFill>
              </a:rPr>
              <a:t>Profit</a:t>
            </a:r>
            <a:r>
              <a:rPr spc="-55" dirty="0">
                <a:solidFill>
                  <a:schemeClr val="bg1"/>
                </a:solidFill>
              </a:rPr>
              <a:t> </a:t>
            </a:r>
            <a:r>
              <a:rPr dirty="0">
                <a:solidFill>
                  <a:schemeClr val="bg1"/>
                </a:solidFill>
              </a:rPr>
              <a:t>Analysis:</a:t>
            </a:r>
            <a:r>
              <a:rPr spc="-30" dirty="0">
                <a:solidFill>
                  <a:schemeClr val="bg1"/>
                </a:solidFill>
              </a:rPr>
              <a:t> </a:t>
            </a:r>
            <a:r>
              <a:rPr spc="-25" dirty="0">
                <a:solidFill>
                  <a:schemeClr val="bg1"/>
                </a:solidFill>
                <a:latin typeface="Calibri"/>
                <a:cs typeface="Calibri"/>
              </a:rPr>
              <a:t>Track</a:t>
            </a:r>
            <a:r>
              <a:rPr spc="-50" dirty="0">
                <a:solidFill>
                  <a:schemeClr val="bg1"/>
                </a:solidFill>
                <a:latin typeface="Calibri"/>
                <a:cs typeface="Calibri"/>
              </a:rPr>
              <a:t> </a:t>
            </a:r>
            <a:r>
              <a:rPr dirty="0">
                <a:solidFill>
                  <a:schemeClr val="bg1"/>
                </a:solidFill>
              </a:rPr>
              <a:t>expenses,</a:t>
            </a:r>
            <a:r>
              <a:rPr spc="-55" dirty="0">
                <a:solidFill>
                  <a:schemeClr val="bg1"/>
                </a:solidFill>
              </a:rPr>
              <a:t> </a:t>
            </a:r>
            <a:r>
              <a:rPr dirty="0">
                <a:solidFill>
                  <a:schemeClr val="bg1"/>
                </a:solidFill>
              </a:rPr>
              <a:t>food</a:t>
            </a:r>
            <a:r>
              <a:rPr spc="-50" dirty="0">
                <a:solidFill>
                  <a:schemeClr val="bg1"/>
                </a:solidFill>
              </a:rPr>
              <a:t> </a:t>
            </a:r>
            <a:r>
              <a:rPr dirty="0">
                <a:solidFill>
                  <a:schemeClr val="bg1"/>
                </a:solidFill>
              </a:rPr>
              <a:t>costs,</a:t>
            </a:r>
            <a:r>
              <a:rPr spc="-50" dirty="0">
                <a:solidFill>
                  <a:schemeClr val="bg1"/>
                </a:solidFill>
              </a:rPr>
              <a:t> </a:t>
            </a:r>
            <a:r>
              <a:rPr dirty="0">
                <a:solidFill>
                  <a:schemeClr val="bg1"/>
                </a:solidFill>
              </a:rPr>
              <a:t>and</a:t>
            </a:r>
            <a:r>
              <a:rPr spc="-50" dirty="0">
                <a:solidFill>
                  <a:schemeClr val="bg1"/>
                </a:solidFill>
              </a:rPr>
              <a:t> </a:t>
            </a:r>
            <a:r>
              <a:rPr dirty="0">
                <a:solidFill>
                  <a:schemeClr val="bg1"/>
                </a:solidFill>
              </a:rPr>
              <a:t>delivery</a:t>
            </a:r>
            <a:r>
              <a:rPr spc="-60" dirty="0">
                <a:solidFill>
                  <a:schemeClr val="bg1"/>
                </a:solidFill>
              </a:rPr>
              <a:t> </a:t>
            </a:r>
            <a:r>
              <a:rPr dirty="0">
                <a:solidFill>
                  <a:schemeClr val="bg1"/>
                </a:solidFill>
              </a:rPr>
              <a:t>charges</a:t>
            </a:r>
            <a:r>
              <a:rPr spc="-20" dirty="0">
                <a:solidFill>
                  <a:schemeClr val="bg1"/>
                </a:solidFill>
              </a:rPr>
              <a:t> </a:t>
            </a:r>
            <a:r>
              <a:rPr dirty="0">
                <a:solidFill>
                  <a:schemeClr val="bg1"/>
                </a:solidFill>
                <a:latin typeface="Calibri"/>
                <a:cs typeface="Calibri"/>
              </a:rPr>
              <a:t>to</a:t>
            </a:r>
            <a:r>
              <a:rPr spc="-55" dirty="0">
                <a:solidFill>
                  <a:schemeClr val="bg1"/>
                </a:solidFill>
                <a:latin typeface="Calibri"/>
                <a:cs typeface="Calibri"/>
              </a:rPr>
              <a:t> </a:t>
            </a:r>
            <a:r>
              <a:rPr spc="-10" dirty="0">
                <a:solidFill>
                  <a:schemeClr val="bg1"/>
                </a:solidFill>
                <a:latin typeface="Calibri"/>
                <a:cs typeface="Calibri"/>
              </a:rPr>
              <a:t>optimize</a:t>
            </a:r>
            <a:r>
              <a:rPr spc="-60" dirty="0">
                <a:solidFill>
                  <a:schemeClr val="bg1"/>
                </a:solidFill>
                <a:latin typeface="Calibri"/>
                <a:cs typeface="Calibri"/>
              </a:rPr>
              <a:t> </a:t>
            </a:r>
            <a:r>
              <a:rPr spc="-70" dirty="0">
                <a:solidFill>
                  <a:schemeClr val="bg1"/>
                </a:solidFill>
                <a:latin typeface="Calibri"/>
                <a:cs typeface="Calibri"/>
              </a:rPr>
              <a:t>pricing </a:t>
            </a:r>
            <a:r>
              <a:rPr spc="-10" dirty="0">
                <a:solidFill>
                  <a:schemeClr val="bg1"/>
                </a:solidFill>
                <a:latin typeface="Calibri"/>
                <a:cs typeface="Calibri"/>
              </a:rPr>
              <a:t>strategies.</a:t>
            </a:r>
          </a:p>
          <a:p>
            <a:pPr marL="12700" marR="1002665">
              <a:lnSpc>
                <a:spcPts val="2400"/>
              </a:lnSpc>
              <a:spcBef>
                <a:spcPts val="80"/>
              </a:spcBef>
              <a:buClrTx/>
            </a:pPr>
            <a:r>
              <a:rPr spc="-30" dirty="0">
                <a:solidFill>
                  <a:schemeClr val="bg1"/>
                </a:solidFill>
                <a:latin typeface="Calibri"/>
                <a:cs typeface="Calibri"/>
              </a:rPr>
              <a:t> </a:t>
            </a:r>
            <a:r>
              <a:rPr dirty="0">
                <a:solidFill>
                  <a:schemeClr val="bg1"/>
                </a:solidFill>
              </a:rPr>
              <a:t>Most</a:t>
            </a:r>
            <a:r>
              <a:rPr spc="-40" dirty="0">
                <a:solidFill>
                  <a:schemeClr val="bg1"/>
                </a:solidFill>
              </a:rPr>
              <a:t> </a:t>
            </a:r>
            <a:r>
              <a:rPr spc="-10" dirty="0">
                <a:solidFill>
                  <a:schemeClr val="bg1"/>
                </a:solidFill>
              </a:rPr>
              <a:t>Profitable</a:t>
            </a:r>
            <a:r>
              <a:rPr spc="-45" dirty="0">
                <a:solidFill>
                  <a:schemeClr val="bg1"/>
                </a:solidFill>
              </a:rPr>
              <a:t> </a:t>
            </a:r>
            <a:r>
              <a:rPr dirty="0">
                <a:solidFill>
                  <a:schemeClr val="bg1"/>
                </a:solidFill>
              </a:rPr>
              <a:t>Cuisines</a:t>
            </a:r>
            <a:r>
              <a:rPr spc="-45" dirty="0">
                <a:solidFill>
                  <a:schemeClr val="bg1"/>
                </a:solidFill>
              </a:rPr>
              <a:t> </a:t>
            </a:r>
            <a:r>
              <a:rPr dirty="0">
                <a:solidFill>
                  <a:schemeClr val="bg1"/>
                </a:solidFill>
              </a:rPr>
              <a:t>&amp;</a:t>
            </a:r>
            <a:r>
              <a:rPr spc="-35" dirty="0">
                <a:solidFill>
                  <a:schemeClr val="bg1"/>
                </a:solidFill>
              </a:rPr>
              <a:t> </a:t>
            </a:r>
            <a:r>
              <a:rPr dirty="0">
                <a:solidFill>
                  <a:schemeClr val="bg1"/>
                </a:solidFill>
              </a:rPr>
              <a:t>Dishes:</a:t>
            </a:r>
            <a:r>
              <a:rPr spc="-5" dirty="0">
                <a:solidFill>
                  <a:schemeClr val="bg1"/>
                </a:solidFill>
              </a:rPr>
              <a:t> </a:t>
            </a:r>
            <a:r>
              <a:rPr dirty="0">
                <a:solidFill>
                  <a:schemeClr val="bg1"/>
                </a:solidFill>
                <a:latin typeface="Calibri"/>
                <a:cs typeface="Calibri"/>
              </a:rPr>
              <a:t>Identify</a:t>
            </a:r>
            <a:r>
              <a:rPr spc="-30" dirty="0">
                <a:solidFill>
                  <a:schemeClr val="bg1"/>
                </a:solidFill>
                <a:latin typeface="Calibri"/>
                <a:cs typeface="Calibri"/>
              </a:rPr>
              <a:t> </a:t>
            </a:r>
            <a:r>
              <a:rPr spc="-10" dirty="0">
                <a:solidFill>
                  <a:schemeClr val="bg1"/>
                </a:solidFill>
              </a:rPr>
              <a:t>high-</a:t>
            </a:r>
            <a:r>
              <a:rPr dirty="0">
                <a:solidFill>
                  <a:schemeClr val="bg1"/>
                </a:solidFill>
              </a:rPr>
              <a:t>margin</a:t>
            </a:r>
            <a:r>
              <a:rPr spc="-30" dirty="0">
                <a:solidFill>
                  <a:schemeClr val="bg1"/>
                </a:solidFill>
              </a:rPr>
              <a:t> </a:t>
            </a:r>
            <a:r>
              <a:rPr dirty="0">
                <a:solidFill>
                  <a:schemeClr val="bg1"/>
                </a:solidFill>
              </a:rPr>
              <a:t>cuisines</a:t>
            </a:r>
            <a:r>
              <a:rPr spc="-10" dirty="0">
                <a:solidFill>
                  <a:schemeClr val="bg1"/>
                </a:solidFill>
              </a:rPr>
              <a:t> </a:t>
            </a:r>
            <a:r>
              <a:rPr dirty="0">
                <a:solidFill>
                  <a:schemeClr val="bg1"/>
                </a:solidFill>
                <a:latin typeface="Calibri"/>
                <a:cs typeface="Calibri"/>
              </a:rPr>
              <a:t>and</a:t>
            </a:r>
            <a:r>
              <a:rPr spc="-30" dirty="0">
                <a:solidFill>
                  <a:schemeClr val="bg1"/>
                </a:solidFill>
                <a:latin typeface="Calibri"/>
                <a:cs typeface="Calibri"/>
              </a:rPr>
              <a:t> </a:t>
            </a:r>
            <a:r>
              <a:rPr dirty="0">
                <a:solidFill>
                  <a:schemeClr val="bg1"/>
                </a:solidFill>
                <a:latin typeface="Calibri"/>
                <a:cs typeface="Calibri"/>
              </a:rPr>
              <a:t>promote</a:t>
            </a:r>
            <a:r>
              <a:rPr spc="-40" dirty="0">
                <a:solidFill>
                  <a:schemeClr val="bg1"/>
                </a:solidFill>
                <a:latin typeface="Calibri"/>
                <a:cs typeface="Calibri"/>
              </a:rPr>
              <a:t> </a:t>
            </a:r>
            <a:r>
              <a:rPr spc="-135" dirty="0">
                <a:solidFill>
                  <a:schemeClr val="bg1"/>
                </a:solidFill>
                <a:latin typeface="Calibri"/>
                <a:cs typeface="Calibri"/>
              </a:rPr>
              <a:t>them </a:t>
            </a:r>
            <a:r>
              <a:rPr spc="-10" dirty="0">
                <a:solidFill>
                  <a:schemeClr val="bg1"/>
                </a:solidFill>
                <a:latin typeface="Calibri"/>
                <a:cs typeface="Calibri"/>
              </a:rPr>
              <a:t>accordingly.</a:t>
            </a:r>
          </a:p>
          <a:p>
            <a:pPr marL="0" indent="0">
              <a:lnSpc>
                <a:spcPts val="2880"/>
              </a:lnSpc>
              <a:spcBef>
                <a:spcPts val="2320"/>
              </a:spcBef>
              <a:buNone/>
            </a:pPr>
            <a:r>
              <a:rPr sz="2400" b="1" dirty="0">
                <a:solidFill>
                  <a:srgbClr val="FF0000"/>
                </a:solidFill>
                <a:latin typeface="Segoe UI Black" panose="020B0A02040204020203" pitchFamily="34" charset="0"/>
                <a:ea typeface="Segoe UI Black" panose="020B0A02040204020203" pitchFamily="34" charset="0"/>
              </a:rPr>
              <a:t>Business</a:t>
            </a:r>
            <a:r>
              <a:rPr sz="2400" b="1" spc="-90" dirty="0">
                <a:solidFill>
                  <a:srgbClr val="FF0000"/>
                </a:solidFill>
                <a:latin typeface="Segoe UI Black" panose="020B0A02040204020203" pitchFamily="34" charset="0"/>
                <a:ea typeface="Segoe UI Black" panose="020B0A02040204020203" pitchFamily="34" charset="0"/>
              </a:rPr>
              <a:t> </a:t>
            </a:r>
            <a:r>
              <a:rPr sz="2400" b="1" dirty="0">
                <a:solidFill>
                  <a:srgbClr val="FF0000"/>
                </a:solidFill>
                <a:latin typeface="Segoe UI Black" panose="020B0A02040204020203" pitchFamily="34" charset="0"/>
                <a:ea typeface="Segoe UI Black" panose="020B0A02040204020203" pitchFamily="34" charset="0"/>
              </a:rPr>
              <a:t>Growth</a:t>
            </a:r>
            <a:r>
              <a:rPr sz="2400" b="1" spc="-85" dirty="0">
                <a:solidFill>
                  <a:srgbClr val="FF0000"/>
                </a:solidFill>
                <a:latin typeface="Segoe UI Black" panose="020B0A02040204020203" pitchFamily="34" charset="0"/>
                <a:ea typeface="Segoe UI Black" panose="020B0A02040204020203" pitchFamily="34" charset="0"/>
              </a:rPr>
              <a:t> </a:t>
            </a:r>
            <a:r>
              <a:rPr sz="2400" b="1" spc="-10" dirty="0">
                <a:solidFill>
                  <a:srgbClr val="FF0000"/>
                </a:solidFill>
                <a:latin typeface="Segoe UI Black" panose="020B0A02040204020203" pitchFamily="34" charset="0"/>
                <a:ea typeface="Segoe UI Black" panose="020B0A02040204020203" pitchFamily="34" charset="0"/>
              </a:rPr>
              <a:t>Strategy</a:t>
            </a:r>
            <a:endParaRPr sz="2400" b="1" dirty="0">
              <a:solidFill>
                <a:srgbClr val="FF0000"/>
              </a:solidFill>
              <a:latin typeface="Segoe UI Black" panose="020B0A02040204020203" pitchFamily="34" charset="0"/>
              <a:ea typeface="Segoe UI Black" panose="020B0A02040204020203" pitchFamily="34" charset="0"/>
            </a:endParaRPr>
          </a:p>
          <a:p>
            <a:pPr marR="334645">
              <a:lnSpc>
                <a:spcPts val="2400"/>
              </a:lnSpc>
              <a:spcBef>
                <a:spcPts val="80"/>
              </a:spcBef>
              <a:buClr>
                <a:schemeClr val="bg1"/>
              </a:buClr>
            </a:pPr>
            <a:r>
              <a:rPr dirty="0">
                <a:solidFill>
                  <a:schemeClr val="bg1"/>
                </a:solidFill>
              </a:rPr>
              <a:t>Franchise</a:t>
            </a:r>
            <a:r>
              <a:rPr spc="-50" dirty="0">
                <a:solidFill>
                  <a:schemeClr val="bg1"/>
                </a:solidFill>
              </a:rPr>
              <a:t> </a:t>
            </a:r>
            <a:r>
              <a:rPr dirty="0">
                <a:solidFill>
                  <a:schemeClr val="bg1"/>
                </a:solidFill>
              </a:rPr>
              <a:t>&amp;</a:t>
            </a:r>
            <a:r>
              <a:rPr spc="-45" dirty="0">
                <a:solidFill>
                  <a:schemeClr val="bg1"/>
                </a:solidFill>
              </a:rPr>
              <a:t> </a:t>
            </a:r>
            <a:r>
              <a:rPr dirty="0">
                <a:solidFill>
                  <a:schemeClr val="bg1"/>
                </a:solidFill>
              </a:rPr>
              <a:t>Expansion</a:t>
            </a:r>
            <a:r>
              <a:rPr spc="-55" dirty="0">
                <a:solidFill>
                  <a:schemeClr val="bg1"/>
                </a:solidFill>
              </a:rPr>
              <a:t> </a:t>
            </a:r>
            <a:r>
              <a:rPr spc="-10" dirty="0">
                <a:solidFill>
                  <a:schemeClr val="bg1"/>
                </a:solidFill>
              </a:rPr>
              <a:t>Strategy:</a:t>
            </a:r>
            <a:r>
              <a:rPr spc="-30" dirty="0">
                <a:solidFill>
                  <a:schemeClr val="bg1"/>
                </a:solidFill>
              </a:rPr>
              <a:t> </a:t>
            </a:r>
            <a:r>
              <a:rPr dirty="0">
                <a:solidFill>
                  <a:schemeClr val="bg1"/>
                </a:solidFill>
                <a:latin typeface="Calibri"/>
                <a:cs typeface="Calibri"/>
              </a:rPr>
              <a:t>Identify</a:t>
            </a:r>
            <a:r>
              <a:rPr spc="-40" dirty="0">
                <a:solidFill>
                  <a:schemeClr val="bg1"/>
                </a:solidFill>
                <a:latin typeface="Calibri"/>
                <a:cs typeface="Calibri"/>
              </a:rPr>
              <a:t> </a:t>
            </a:r>
            <a:r>
              <a:rPr spc="-10" dirty="0">
                <a:solidFill>
                  <a:schemeClr val="bg1"/>
                </a:solidFill>
              </a:rPr>
              <a:t>high-</a:t>
            </a:r>
            <a:r>
              <a:rPr dirty="0">
                <a:solidFill>
                  <a:schemeClr val="bg1"/>
                </a:solidFill>
              </a:rPr>
              <a:t>potential</a:t>
            </a:r>
            <a:r>
              <a:rPr spc="-50" dirty="0">
                <a:solidFill>
                  <a:schemeClr val="bg1"/>
                </a:solidFill>
              </a:rPr>
              <a:t> </a:t>
            </a:r>
            <a:r>
              <a:rPr spc="-10" dirty="0">
                <a:solidFill>
                  <a:schemeClr val="bg1"/>
                </a:solidFill>
              </a:rPr>
              <a:t>cities/countries</a:t>
            </a:r>
            <a:r>
              <a:rPr spc="-20" dirty="0">
                <a:solidFill>
                  <a:schemeClr val="bg1"/>
                </a:solidFill>
              </a:rPr>
              <a:t> </a:t>
            </a:r>
            <a:r>
              <a:rPr dirty="0">
                <a:solidFill>
                  <a:schemeClr val="bg1"/>
                </a:solidFill>
                <a:latin typeface="Calibri"/>
                <a:cs typeface="Calibri"/>
              </a:rPr>
              <a:t>for</a:t>
            </a:r>
            <a:r>
              <a:rPr spc="-50" dirty="0">
                <a:solidFill>
                  <a:schemeClr val="bg1"/>
                </a:solidFill>
                <a:latin typeface="Calibri"/>
                <a:cs typeface="Calibri"/>
              </a:rPr>
              <a:t> </a:t>
            </a:r>
            <a:r>
              <a:rPr dirty="0">
                <a:solidFill>
                  <a:schemeClr val="bg1"/>
                </a:solidFill>
                <a:latin typeface="Calibri"/>
                <a:cs typeface="Calibri"/>
              </a:rPr>
              <a:t>launching</a:t>
            </a:r>
            <a:r>
              <a:rPr spc="-50" dirty="0">
                <a:solidFill>
                  <a:schemeClr val="bg1"/>
                </a:solidFill>
                <a:latin typeface="Calibri"/>
                <a:cs typeface="Calibri"/>
              </a:rPr>
              <a:t> </a:t>
            </a:r>
            <a:r>
              <a:rPr spc="-300" dirty="0">
                <a:solidFill>
                  <a:schemeClr val="bg1"/>
                </a:solidFill>
                <a:latin typeface="Calibri"/>
                <a:cs typeface="Calibri"/>
              </a:rPr>
              <a:t>new</a:t>
            </a:r>
            <a:r>
              <a:rPr spc="-10" dirty="0">
                <a:solidFill>
                  <a:schemeClr val="bg1"/>
                </a:solidFill>
                <a:latin typeface="Calibri"/>
                <a:cs typeface="Calibri"/>
              </a:rPr>
              <a:t> branches.</a:t>
            </a:r>
          </a:p>
          <a:p>
            <a:pPr>
              <a:lnSpc>
                <a:spcPts val="2320"/>
              </a:lnSpc>
              <a:buClr>
                <a:schemeClr val="bg1"/>
              </a:buClr>
            </a:pPr>
            <a:r>
              <a:rPr spc="-10" dirty="0">
                <a:solidFill>
                  <a:schemeClr val="bg1"/>
                </a:solidFill>
              </a:rPr>
              <a:t>Strategic</a:t>
            </a:r>
            <a:r>
              <a:rPr spc="-70" dirty="0">
                <a:solidFill>
                  <a:schemeClr val="bg1"/>
                </a:solidFill>
              </a:rPr>
              <a:t> </a:t>
            </a:r>
            <a:r>
              <a:rPr spc="-10" dirty="0">
                <a:solidFill>
                  <a:schemeClr val="bg1"/>
                </a:solidFill>
              </a:rPr>
              <a:t>Marketing</a:t>
            </a:r>
            <a:r>
              <a:rPr spc="-60" dirty="0">
                <a:solidFill>
                  <a:schemeClr val="bg1"/>
                </a:solidFill>
              </a:rPr>
              <a:t> </a:t>
            </a:r>
            <a:r>
              <a:rPr dirty="0">
                <a:solidFill>
                  <a:schemeClr val="bg1"/>
                </a:solidFill>
              </a:rPr>
              <a:t>Plan:</a:t>
            </a:r>
            <a:r>
              <a:rPr spc="-45" dirty="0">
                <a:solidFill>
                  <a:schemeClr val="bg1"/>
                </a:solidFill>
              </a:rPr>
              <a:t> </a:t>
            </a:r>
            <a:r>
              <a:rPr dirty="0">
                <a:solidFill>
                  <a:schemeClr val="bg1"/>
                </a:solidFill>
                <a:latin typeface="Calibri"/>
                <a:cs typeface="Calibri"/>
              </a:rPr>
              <a:t>Use</a:t>
            </a:r>
            <a:r>
              <a:rPr spc="-60" dirty="0">
                <a:solidFill>
                  <a:schemeClr val="bg1"/>
                </a:solidFill>
                <a:latin typeface="Calibri"/>
                <a:cs typeface="Calibri"/>
              </a:rPr>
              <a:t> </a:t>
            </a:r>
            <a:r>
              <a:rPr dirty="0">
                <a:solidFill>
                  <a:schemeClr val="bg1"/>
                </a:solidFill>
              </a:rPr>
              <a:t>historical</a:t>
            </a:r>
            <a:r>
              <a:rPr spc="-55" dirty="0">
                <a:solidFill>
                  <a:schemeClr val="bg1"/>
                </a:solidFill>
              </a:rPr>
              <a:t> </a:t>
            </a:r>
            <a:r>
              <a:rPr dirty="0">
                <a:solidFill>
                  <a:schemeClr val="bg1"/>
                </a:solidFill>
              </a:rPr>
              <a:t>trends</a:t>
            </a:r>
            <a:r>
              <a:rPr spc="-50" dirty="0">
                <a:solidFill>
                  <a:schemeClr val="bg1"/>
                </a:solidFill>
              </a:rPr>
              <a:t> </a:t>
            </a:r>
            <a:r>
              <a:rPr dirty="0">
                <a:solidFill>
                  <a:schemeClr val="bg1"/>
                </a:solidFill>
                <a:latin typeface="Calibri"/>
                <a:cs typeface="Calibri"/>
              </a:rPr>
              <a:t>to</a:t>
            </a:r>
            <a:r>
              <a:rPr spc="-60" dirty="0">
                <a:solidFill>
                  <a:schemeClr val="bg1"/>
                </a:solidFill>
                <a:latin typeface="Calibri"/>
                <a:cs typeface="Calibri"/>
              </a:rPr>
              <a:t> </a:t>
            </a:r>
            <a:r>
              <a:rPr spc="-10" dirty="0">
                <a:solidFill>
                  <a:schemeClr val="bg1"/>
                </a:solidFill>
                <a:latin typeface="Calibri"/>
                <a:cs typeface="Calibri"/>
              </a:rPr>
              <a:t>optimize</a:t>
            </a:r>
            <a:r>
              <a:rPr spc="-55" dirty="0">
                <a:solidFill>
                  <a:schemeClr val="bg1"/>
                </a:solidFill>
                <a:latin typeface="Calibri"/>
                <a:cs typeface="Calibri"/>
              </a:rPr>
              <a:t> </a:t>
            </a:r>
            <a:r>
              <a:rPr dirty="0">
                <a:solidFill>
                  <a:schemeClr val="bg1"/>
                </a:solidFill>
              </a:rPr>
              <a:t>advertising</a:t>
            </a:r>
            <a:r>
              <a:rPr spc="-55" dirty="0">
                <a:solidFill>
                  <a:schemeClr val="bg1"/>
                </a:solidFill>
              </a:rPr>
              <a:t> </a:t>
            </a:r>
            <a:r>
              <a:rPr dirty="0">
                <a:solidFill>
                  <a:schemeClr val="bg1"/>
                </a:solidFill>
              </a:rPr>
              <a:t>budgets</a:t>
            </a:r>
            <a:r>
              <a:rPr spc="-40" dirty="0">
                <a:solidFill>
                  <a:schemeClr val="bg1"/>
                </a:solidFill>
              </a:rPr>
              <a:t> </a:t>
            </a:r>
            <a:r>
              <a:rPr spc="-25" dirty="0">
                <a:solidFill>
                  <a:schemeClr val="bg1"/>
                </a:solidFill>
                <a:latin typeface="Calibri"/>
                <a:cs typeface="Calibri"/>
              </a:rPr>
              <a:t>and</a:t>
            </a:r>
            <a:r>
              <a:rPr lang="en-IN" spc="-25" dirty="0">
                <a:solidFill>
                  <a:schemeClr val="bg1"/>
                </a:solidFill>
                <a:latin typeface="Calibri"/>
                <a:cs typeface="Calibri"/>
              </a:rPr>
              <a:t> </a:t>
            </a:r>
            <a:r>
              <a:rPr spc="-10" dirty="0">
                <a:solidFill>
                  <a:schemeClr val="bg1"/>
                </a:solidFill>
              </a:rPr>
              <a:t>promotions</a:t>
            </a:r>
            <a:r>
              <a:rPr spc="-10" dirty="0">
                <a:solidFill>
                  <a:schemeClr val="bg1"/>
                </a:solidFill>
                <a:latin typeface="Calibri"/>
                <a:cs typeface="Calibri"/>
              </a:rPr>
              <a:t>.</a:t>
            </a:r>
          </a:p>
          <a:p>
            <a:pPr marR="5080">
              <a:spcBef>
                <a:spcPts val="10"/>
              </a:spcBef>
              <a:buClr>
                <a:schemeClr val="bg1"/>
              </a:buClr>
            </a:pPr>
            <a:r>
              <a:rPr spc="-55" dirty="0">
                <a:solidFill>
                  <a:schemeClr val="bg1"/>
                </a:solidFill>
                <a:latin typeface="Calibri"/>
                <a:cs typeface="Calibri"/>
              </a:rPr>
              <a:t> </a:t>
            </a:r>
            <a:r>
              <a:rPr dirty="0">
                <a:solidFill>
                  <a:schemeClr val="bg1"/>
                </a:solidFill>
              </a:rPr>
              <a:t>Delivery</a:t>
            </a:r>
            <a:r>
              <a:rPr spc="-60" dirty="0">
                <a:solidFill>
                  <a:schemeClr val="bg1"/>
                </a:solidFill>
              </a:rPr>
              <a:t> </a:t>
            </a:r>
            <a:r>
              <a:rPr dirty="0">
                <a:solidFill>
                  <a:schemeClr val="bg1"/>
                </a:solidFill>
              </a:rPr>
              <a:t>&amp;</a:t>
            </a:r>
            <a:r>
              <a:rPr spc="-55" dirty="0">
                <a:solidFill>
                  <a:schemeClr val="bg1"/>
                </a:solidFill>
              </a:rPr>
              <a:t> </a:t>
            </a:r>
            <a:r>
              <a:rPr dirty="0">
                <a:solidFill>
                  <a:schemeClr val="bg1"/>
                </a:solidFill>
              </a:rPr>
              <a:t>Logistics</a:t>
            </a:r>
            <a:r>
              <a:rPr spc="-60" dirty="0">
                <a:solidFill>
                  <a:schemeClr val="bg1"/>
                </a:solidFill>
              </a:rPr>
              <a:t> </a:t>
            </a:r>
            <a:r>
              <a:rPr dirty="0">
                <a:solidFill>
                  <a:schemeClr val="bg1"/>
                </a:solidFill>
              </a:rPr>
              <a:t>Optimization:</a:t>
            </a:r>
            <a:r>
              <a:rPr spc="-50" dirty="0">
                <a:solidFill>
                  <a:schemeClr val="bg1"/>
                </a:solidFill>
              </a:rPr>
              <a:t> </a:t>
            </a:r>
            <a:r>
              <a:rPr dirty="0">
                <a:solidFill>
                  <a:schemeClr val="bg1"/>
                </a:solidFill>
                <a:latin typeface="Calibri"/>
                <a:cs typeface="Calibri"/>
              </a:rPr>
              <a:t>Improve</a:t>
            </a:r>
            <a:r>
              <a:rPr spc="-60" dirty="0">
                <a:solidFill>
                  <a:schemeClr val="bg1"/>
                </a:solidFill>
                <a:latin typeface="Calibri"/>
                <a:cs typeface="Calibri"/>
              </a:rPr>
              <a:t> </a:t>
            </a:r>
            <a:r>
              <a:rPr dirty="0">
                <a:solidFill>
                  <a:schemeClr val="bg1"/>
                </a:solidFill>
                <a:latin typeface="Calibri"/>
                <a:cs typeface="Calibri"/>
              </a:rPr>
              <a:t>delivery</a:t>
            </a:r>
            <a:r>
              <a:rPr spc="-60" dirty="0">
                <a:solidFill>
                  <a:schemeClr val="bg1"/>
                </a:solidFill>
                <a:latin typeface="Calibri"/>
                <a:cs typeface="Calibri"/>
              </a:rPr>
              <a:t> </a:t>
            </a:r>
            <a:r>
              <a:rPr spc="-10" dirty="0">
                <a:solidFill>
                  <a:schemeClr val="bg1"/>
                </a:solidFill>
                <a:latin typeface="Calibri"/>
                <a:cs typeface="Calibri"/>
              </a:rPr>
              <a:t>efficiency</a:t>
            </a:r>
            <a:r>
              <a:rPr spc="-55" dirty="0">
                <a:solidFill>
                  <a:schemeClr val="bg1"/>
                </a:solidFill>
                <a:latin typeface="Calibri"/>
                <a:cs typeface="Calibri"/>
              </a:rPr>
              <a:t> </a:t>
            </a:r>
            <a:r>
              <a:rPr dirty="0">
                <a:solidFill>
                  <a:schemeClr val="bg1"/>
                </a:solidFill>
                <a:latin typeface="Calibri"/>
                <a:cs typeface="Calibri"/>
              </a:rPr>
              <a:t>by</a:t>
            </a:r>
            <a:r>
              <a:rPr spc="-55" dirty="0">
                <a:solidFill>
                  <a:schemeClr val="bg1"/>
                </a:solidFill>
                <a:latin typeface="Calibri"/>
                <a:cs typeface="Calibri"/>
              </a:rPr>
              <a:t> </a:t>
            </a:r>
            <a:r>
              <a:rPr dirty="0">
                <a:solidFill>
                  <a:schemeClr val="bg1"/>
                </a:solidFill>
                <a:latin typeface="Calibri"/>
                <a:cs typeface="Calibri"/>
              </a:rPr>
              <a:t>analyzing</a:t>
            </a:r>
            <a:r>
              <a:rPr spc="-30" dirty="0">
                <a:solidFill>
                  <a:schemeClr val="bg1"/>
                </a:solidFill>
                <a:latin typeface="Calibri"/>
                <a:cs typeface="Calibri"/>
              </a:rPr>
              <a:t> </a:t>
            </a:r>
            <a:r>
              <a:rPr dirty="0">
                <a:solidFill>
                  <a:schemeClr val="bg1"/>
                </a:solidFill>
              </a:rPr>
              <a:t>delivery</a:t>
            </a:r>
            <a:r>
              <a:rPr spc="-60" dirty="0">
                <a:solidFill>
                  <a:schemeClr val="bg1"/>
                </a:solidFill>
              </a:rPr>
              <a:t> </a:t>
            </a:r>
            <a:r>
              <a:rPr dirty="0">
                <a:solidFill>
                  <a:schemeClr val="bg1"/>
                </a:solidFill>
              </a:rPr>
              <a:t>times</a:t>
            </a:r>
            <a:r>
              <a:rPr spc="-55" dirty="0">
                <a:solidFill>
                  <a:schemeClr val="bg1"/>
                </a:solidFill>
              </a:rPr>
              <a:t> </a:t>
            </a:r>
            <a:r>
              <a:rPr spc="-305" dirty="0">
                <a:solidFill>
                  <a:schemeClr val="bg1"/>
                </a:solidFill>
              </a:rPr>
              <a:t>and</a:t>
            </a:r>
            <a:r>
              <a:rPr spc="-10" dirty="0">
                <a:solidFill>
                  <a:schemeClr val="bg1"/>
                </a:solidFill>
              </a:rPr>
              <a:t> costs</a:t>
            </a:r>
            <a:r>
              <a:rPr spc="-10" dirty="0">
                <a:solidFill>
                  <a:schemeClr val="bg1"/>
                </a:solidFill>
                <a:latin typeface="Calibri"/>
                <a:cs typeface="Calibri"/>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180071"/>
            <a:ext cx="12191758" cy="5677204"/>
          </a:xfrm>
          <a:prstGeom prst="rect">
            <a:avLst/>
          </a:prstGeom>
        </p:spPr>
      </p:pic>
      <p:sp>
        <p:nvSpPr>
          <p:cNvPr id="3" name="object 3"/>
          <p:cNvSpPr txBox="1">
            <a:spLocks noGrp="1"/>
          </p:cNvSpPr>
          <p:nvPr>
            <p:ph type="title"/>
          </p:nvPr>
        </p:nvSpPr>
        <p:spPr>
          <a:xfrm>
            <a:off x="646111" y="452718"/>
            <a:ext cx="9404723" cy="566822"/>
          </a:xfrm>
          <a:prstGeom prst="rect">
            <a:avLst/>
          </a:prstGeom>
        </p:spPr>
        <p:txBody>
          <a:bodyPr vert="horz" wrap="square" lIns="0" tIns="12700" rIns="0" bIns="0" rtlCol="0">
            <a:spAutoFit/>
          </a:bodyPr>
          <a:lstStyle/>
          <a:p>
            <a:pPr marL="12700" algn="ctr">
              <a:lnSpc>
                <a:spcPct val="100000"/>
              </a:lnSpc>
              <a:spcBef>
                <a:spcPts val="100"/>
              </a:spcBef>
            </a:pPr>
            <a:r>
              <a:rPr sz="3600" b="1" dirty="0">
                <a:solidFill>
                  <a:srgbClr val="FF0000"/>
                </a:solidFill>
                <a:latin typeface="Segoe UI Black" panose="020B0A02040204020203" pitchFamily="34" charset="0"/>
                <a:ea typeface="Segoe UI Black" panose="020B0A02040204020203" pitchFamily="34" charset="0"/>
                <a:cs typeface="Calibri"/>
              </a:rPr>
              <a:t>Excel</a:t>
            </a:r>
            <a:r>
              <a:rPr sz="3600" b="1" spc="-165" dirty="0">
                <a:solidFill>
                  <a:srgbClr val="FF0000"/>
                </a:solidFill>
                <a:latin typeface="Segoe UI Black" panose="020B0A02040204020203" pitchFamily="34" charset="0"/>
                <a:ea typeface="Segoe UI Black" panose="020B0A02040204020203" pitchFamily="34" charset="0"/>
                <a:cs typeface="Calibri"/>
              </a:rPr>
              <a:t> </a:t>
            </a:r>
            <a:r>
              <a:rPr sz="3600" b="1" spc="-10" dirty="0">
                <a:solidFill>
                  <a:srgbClr val="FF0000"/>
                </a:solidFill>
                <a:latin typeface="Segoe UI Black" panose="020B0A02040204020203" pitchFamily="34" charset="0"/>
                <a:ea typeface="Segoe UI Black" panose="020B0A02040204020203" pitchFamily="34" charset="0"/>
                <a:cs typeface="Calibri"/>
              </a:rPr>
              <a:t>Dashbaord</a:t>
            </a:r>
            <a:endParaRPr sz="3600" b="1" dirty="0">
              <a:solidFill>
                <a:srgbClr val="FF0000"/>
              </a:solidFill>
              <a:latin typeface="Segoe UI Black" panose="020B0A02040204020203" pitchFamily="34" charset="0"/>
              <a:ea typeface="Segoe UI Black" panose="020B0A02040204020203" pitchFamily="34" charset="0"/>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2B001703-6B42-98C7-63D3-3BA354788A98}"/>
              </a:ext>
            </a:extLst>
          </p:cNvPr>
          <p:cNvSpPr txBox="1">
            <a:spLocks/>
          </p:cNvSpPr>
          <p:nvPr/>
        </p:nvSpPr>
        <p:spPr>
          <a:xfrm>
            <a:off x="228600" y="457200"/>
            <a:ext cx="11353799" cy="1204073"/>
          </a:xfrm>
          <a:prstGeom prst="rect">
            <a:avLst/>
          </a:prstGeom>
        </p:spPr>
        <p:txBody>
          <a:bodyPr vert="horz" wrap="square" lIns="0" tIns="552348" rIns="0" bIns="0" rtlCol="0">
            <a:sp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38150" algn="ctr">
              <a:spcBef>
                <a:spcPts val="100"/>
              </a:spcBef>
            </a:pPr>
            <a:r>
              <a:rPr lang="en-IN" b="1" u="sng" spc="-20" dirty="0">
                <a:solidFill>
                  <a:srgbClr val="FF0000"/>
                </a:solidFill>
                <a:latin typeface="Segoe UI Black" panose="020B0A02040204020203" pitchFamily="34" charset="0"/>
                <a:ea typeface="Segoe UI Black" panose="020B0A02040204020203" pitchFamily="34" charset="0"/>
              </a:rPr>
              <a:t>Conclusion</a:t>
            </a:r>
            <a:endParaRPr lang="en-IN" b="1" u="sng" spc="-10" dirty="0">
              <a:solidFill>
                <a:srgbClr val="FF0000"/>
              </a:solidFill>
              <a:latin typeface="Segoe UI Black" panose="020B0A02040204020203" pitchFamily="34" charset="0"/>
              <a:ea typeface="Segoe UI Black" panose="020B0A02040204020203" pitchFamily="34" charset="0"/>
            </a:endParaRPr>
          </a:p>
        </p:txBody>
      </p:sp>
      <p:sp>
        <p:nvSpPr>
          <p:cNvPr id="8" name="Rectangle 2">
            <a:extLst>
              <a:ext uri="{FF2B5EF4-FFF2-40B4-BE49-F238E27FC236}">
                <a16:creationId xmlns:a16="http://schemas.microsoft.com/office/drawing/2014/main" id="{F2D7C1A2-BF1F-DAE5-4C48-B89F9EE7A082}"/>
              </a:ext>
            </a:extLst>
          </p:cNvPr>
          <p:cNvSpPr>
            <a:spLocks noChangeArrowheads="1"/>
          </p:cNvSpPr>
          <p:nvPr/>
        </p:nvSpPr>
        <p:spPr bwMode="auto">
          <a:xfrm>
            <a:off x="-76199" y="2085707"/>
            <a:ext cx="122682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rPr>
              <a:t>India has the highest number of restaurants listed in the dataset, highlighting its strong presence on the Zomato platform.</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rPr>
              <a:t>Most restaurants do not provide online delivery or table booking, indicating untapped opportunities for service expansion.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rPr>
              <a:t>North Indian cuisine emerges as the most popular choice among customers.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rPr>
              <a:t>Restaurant openings show a steady trend over the years, with noticeable peaks in 2011 and 2018.</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rPr>
              <a:t>The overall average rating of 2.89 suggests significant scope for improving customer experience and service quality.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2547618"/>
            <a:ext cx="9220199" cy="1243930"/>
          </a:xfrm>
          <a:prstGeom prst="rect">
            <a:avLst/>
          </a:prstGeom>
        </p:spPr>
        <p:txBody>
          <a:bodyPr vert="horz" wrap="square" lIns="0" tIns="12700" rIns="0" bIns="0" rtlCol="0">
            <a:spAutoFit/>
          </a:bodyPr>
          <a:lstStyle/>
          <a:p>
            <a:pPr marL="12700" algn="ctr">
              <a:lnSpc>
                <a:spcPct val="100000"/>
              </a:lnSpc>
              <a:spcBef>
                <a:spcPts val="100"/>
              </a:spcBef>
            </a:pPr>
            <a:r>
              <a:rPr sz="8000" dirty="0">
                <a:solidFill>
                  <a:schemeClr val="bg1"/>
                </a:solidFill>
                <a:latin typeface="Segoe UI Black" panose="020B0A02040204020203" pitchFamily="34" charset="0"/>
                <a:ea typeface="Segoe UI Black" panose="020B0A02040204020203" pitchFamily="34" charset="0"/>
              </a:rPr>
              <a:t>Thank</a:t>
            </a:r>
            <a:r>
              <a:rPr sz="8000" spc="-25" dirty="0">
                <a:solidFill>
                  <a:schemeClr val="bg1"/>
                </a:solidFill>
                <a:latin typeface="Segoe UI Black" panose="020B0A02040204020203" pitchFamily="34" charset="0"/>
                <a:ea typeface="Segoe UI Black" panose="020B0A02040204020203" pitchFamily="34" charset="0"/>
              </a:rPr>
              <a:t> </a:t>
            </a:r>
            <a:r>
              <a:rPr sz="8000" spc="-635" dirty="0">
                <a:solidFill>
                  <a:schemeClr val="bg1"/>
                </a:solidFill>
                <a:latin typeface="Segoe UI Black" panose="020B0A02040204020203" pitchFamily="34" charset="0"/>
                <a:ea typeface="Segoe UI Black" panose="020B0A02040204020203" pitchFamily="34" charset="0"/>
              </a:rPr>
              <a:t>Y</a:t>
            </a:r>
            <a:r>
              <a:rPr sz="8000" spc="20" dirty="0">
                <a:solidFill>
                  <a:schemeClr val="bg1"/>
                </a:solidFill>
                <a:latin typeface="Segoe UI Black" panose="020B0A02040204020203" pitchFamily="34" charset="0"/>
                <a:ea typeface="Segoe UI Black" panose="020B0A02040204020203" pitchFamily="34" charset="0"/>
              </a:rPr>
              <a:t>ou</a:t>
            </a:r>
            <a:r>
              <a:rPr lang="en-IN" sz="8000" spc="20" dirty="0">
                <a:solidFill>
                  <a:schemeClr val="bg1"/>
                </a:solidFill>
                <a:latin typeface="Segoe UI Black" panose="020B0A02040204020203" pitchFamily="34" charset="0"/>
                <a:ea typeface="Segoe UI Black" panose="020B0A02040204020203" pitchFamily="34" charset="0"/>
              </a:rPr>
              <a:t>!</a:t>
            </a:r>
            <a:endParaRPr sz="8000" dirty="0">
              <a:solidFill>
                <a:schemeClr val="bg1"/>
              </a:solidFill>
              <a:latin typeface="Segoe UI Black" panose="020B0A02040204020203" pitchFamily="34" charset="0"/>
              <a:ea typeface="Segoe UI Black" panose="020B0A02040204020203"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50</TotalTime>
  <Words>906</Words>
  <Application>Microsoft Office PowerPoint</Application>
  <PresentationFormat>Widescreen</PresentationFormat>
  <Paragraphs>87</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Arial MT</vt:lpstr>
      <vt:lpstr>Calibri</vt:lpstr>
      <vt:lpstr>Century Gothic</vt:lpstr>
      <vt:lpstr>Segoe UI Black</vt:lpstr>
      <vt:lpstr>Wingdings</vt:lpstr>
      <vt:lpstr>Wingdings 3</vt:lpstr>
      <vt:lpstr>Ion</vt:lpstr>
      <vt:lpstr>PowerPoint Presentation</vt:lpstr>
      <vt:lpstr>Agenda:</vt:lpstr>
      <vt:lpstr>Introduction</vt:lpstr>
      <vt:lpstr>DATA CLEANING &amp; PREPROCESSING</vt:lpstr>
      <vt:lpstr>OVERVIEW :</vt:lpstr>
      <vt:lpstr>OBSERVATIONS</vt:lpstr>
      <vt:lpstr>PowerPoint Presentation</vt:lpstr>
      <vt:lpstr>PowerPoint Presentation</vt:lpstr>
      <vt:lpstr>PowerPoint Presentation</vt:lpstr>
      <vt:lpstr>Competitor &amp; Market Analysis for the Low rating Restaurants</vt:lpstr>
      <vt:lpstr>Restaurant Performance &amp; Profitability</vt:lpstr>
      <vt:lpstr>Excel Dashbaord</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Akash N</dc:creator>
  <cp:lastModifiedBy>Mrinmayee Sahu</cp:lastModifiedBy>
  <cp:revision>1</cp:revision>
  <dcterms:created xsi:type="dcterms:W3CDTF">2026-01-08T05:06:35Z</dcterms:created>
  <dcterms:modified xsi:type="dcterms:W3CDTF">2026-01-09T08:31:59Z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2025-05-15T00:00:00Z</vt:filetime>
  </property>
  <property fmtid="{D5CDD505-2E9C-101B-9397-08002B2CF9AE}" pid="3" name="Creator">
    <vt:lpwstr>ONLYOFFICE/8.3.3.21</vt:lpwstr>
  </property>
  <property fmtid="{D5CDD505-2E9C-101B-9397-08002B2CF9AE}" pid="4" name="LastSaved">
    <vt:filetime>2026-01-08T00:00:00Z</vt:filetime>
  </property>
  <property fmtid="{D5CDD505-2E9C-101B-9397-08002B2CF9AE}" pid="5" name="Producer">
    <vt:lpwstr>ONLYOFFICE/8.3.3.21</vt:lpwstr>
  </property>
</Properties>
</file>